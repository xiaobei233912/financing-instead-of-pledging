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2.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3.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4.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db746c25d914ea8" /><Relationship Type="http://schemas.openxmlformats.org/officeDocument/2006/relationships/extended-properties" Target="/docProps/app.xml" Id="R504a09f7f4394373" /><Relationship Type="http://schemas.openxmlformats.org/officeDocument/2006/relationships/officeDocument" Target="/ppt/presentation.xml" Id="R1a863f44373a492e" /></Relationships>
</file>

<file path=ppt/presentation.xml><?xml version="1.0" encoding="utf-8"?>
<p:presentation xmlns:p="http://schemas.openxmlformats.org/presentationml/2006/main">
  <p:sldMasterIdLst>
    <p:sldMasterId xmlns:r="http://schemas.openxmlformats.org/officeDocument/2006/relationships" id="2147483648" r:id="Rda88bf49373b48a2"/>
  </p:sldMasterIdLst>
  <p:notesMasterIdLst>
    <p:notesMasterId xmlns:r="http://schemas.openxmlformats.org/officeDocument/2006/relationships" r:id="Rb1e38d1b44094213"/>
  </p:notesMasterIdLst>
  <p:sldIdLst>
    <p:sldId xmlns:r="http://schemas.openxmlformats.org/officeDocument/2006/relationships" id="256" r:id="Ra2e3396d83f9485d"/>
    <p:sldId xmlns:r="http://schemas.openxmlformats.org/officeDocument/2006/relationships" id="257" r:id="R3be38cef507d49e8"/>
    <p:sldId xmlns:r="http://schemas.openxmlformats.org/officeDocument/2006/relationships" id="258" r:id="R7bee1784a5a94b82"/>
    <p:sldId xmlns:r="http://schemas.openxmlformats.org/officeDocument/2006/relationships" id="259" r:id="R8fc478b2fdf14abf"/>
    <p:sldId xmlns:r="http://schemas.openxmlformats.org/officeDocument/2006/relationships" id="260" r:id="Rf8300d87ff7e43f5"/>
    <p:sldId xmlns:r="http://schemas.openxmlformats.org/officeDocument/2006/relationships" id="261" r:id="R0bc49f4985a4438a"/>
    <p:sldId xmlns:r="http://schemas.openxmlformats.org/officeDocument/2006/relationships" id="262" r:id="Rcee3cbededfa4b89"/>
    <p:sldId xmlns:r="http://schemas.openxmlformats.org/officeDocument/2006/relationships" id="263" r:id="Rc517bb1abd0042b9"/>
    <p:sldId xmlns:r="http://schemas.openxmlformats.org/officeDocument/2006/relationships" id="264" r:id="Re05efd60f9544126"/>
    <p:sldId xmlns:r="http://schemas.openxmlformats.org/officeDocument/2006/relationships" id="265" r:id="Rfa884844674c4eb8"/>
    <p:sldId xmlns:r="http://schemas.openxmlformats.org/officeDocument/2006/relationships" id="266" r:id="R4fcb8488440c449c"/>
    <p:sldId xmlns:r="http://schemas.openxmlformats.org/officeDocument/2006/relationships" id="267" r:id="R77d37c55c92d4e40"/>
    <p:sldId xmlns:r="http://schemas.openxmlformats.org/officeDocument/2006/relationships" id="268" r:id="Raec728bebfca4c73"/>
    <p:sldId xmlns:r="http://schemas.openxmlformats.org/officeDocument/2006/relationships" id="269" r:id="R4b805081ae4e440a"/>
    <p:sldId xmlns:r="http://schemas.openxmlformats.org/officeDocument/2006/relationships" id="270" r:id="R511fcd58a2d94462"/>
    <p:sldId xmlns:r="http://schemas.openxmlformats.org/officeDocument/2006/relationships" id="271" r:id="Rcf4038f770c448b2"/>
    <p:sldId xmlns:r="http://schemas.openxmlformats.org/officeDocument/2006/relationships" id="272" r:id="R1a5a1187af0e4b22"/>
    <p:sldId xmlns:r="http://schemas.openxmlformats.org/officeDocument/2006/relationships" id="273" r:id="R0c4ee3e690b546a4"/>
    <p:sldId xmlns:r="http://schemas.openxmlformats.org/officeDocument/2006/relationships" id="274" r:id="Rb855261e67134517"/>
    <p:sldId xmlns:r="http://schemas.openxmlformats.org/officeDocument/2006/relationships" id="275" r:id="R21196d0b8062411c"/>
    <p:sldId xmlns:r="http://schemas.openxmlformats.org/officeDocument/2006/relationships" id="276" r:id="R08e4563c098f4e6d"/>
    <p:sldId xmlns:r="http://schemas.openxmlformats.org/officeDocument/2006/relationships" id="277" r:id="Rabb004386fa04282"/>
    <p:sldId xmlns:r="http://schemas.openxmlformats.org/officeDocument/2006/relationships" id="278" r:id="R82950afc923e4df4"/>
    <p:sldId xmlns:r="http://schemas.openxmlformats.org/officeDocument/2006/relationships" id="279" r:id="R94d00f5ced1f471b"/>
    <p:sldId xmlns:r="http://schemas.openxmlformats.org/officeDocument/2006/relationships" id="280" r:id="R4aadac2200254cb0"/>
    <p:sldId xmlns:r="http://schemas.openxmlformats.org/officeDocument/2006/relationships" id="281" r:id="Rb1716e75d1334a98"/>
    <p:sldId xmlns:r="http://schemas.openxmlformats.org/officeDocument/2006/relationships" id="282" r:id="R48b1d96a6ca740bb"/>
    <p:sldId xmlns:r="http://schemas.openxmlformats.org/officeDocument/2006/relationships" id="283" r:id="R3a2435192d6b4f88"/>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84c375492634c9a" /><Relationship Type="http://schemas.openxmlformats.org/officeDocument/2006/relationships/slideMaster" Target="/ppt/slideMasters/slideMaster1.xml" Id="Rda88bf49373b48a2" /><Relationship Type="http://schemas.openxmlformats.org/officeDocument/2006/relationships/notesMaster" Target="/ppt/notesMasters/notesMaster1.xml" Id="Rb1e38d1b44094213" /><Relationship Type="http://schemas.openxmlformats.org/officeDocument/2006/relationships/presProps" Target="/ppt/presProps.xml" Id="R7bbf6467856f456e" /><Relationship Type="http://schemas.openxmlformats.org/officeDocument/2006/relationships/tableStyles" Target="/ppt/tableStyles.xml" Id="Rd766e0dfeb454ca3" /><Relationship Type="http://schemas.openxmlformats.org/officeDocument/2006/relationships/slide" Target="/ppt/slides/slide1.xml" Id="Ra2e3396d83f9485d" /><Relationship Type="http://schemas.openxmlformats.org/officeDocument/2006/relationships/slide" Target="/ppt/slides/slide2.xml" Id="R3be38cef507d49e8" /><Relationship Type="http://schemas.openxmlformats.org/officeDocument/2006/relationships/slide" Target="/ppt/slides/slide3.xml" Id="R7bee1784a5a94b82" /><Relationship Type="http://schemas.openxmlformats.org/officeDocument/2006/relationships/slide" Target="/ppt/slides/slide4.xml" Id="R8fc478b2fdf14abf" /><Relationship Type="http://schemas.openxmlformats.org/officeDocument/2006/relationships/slide" Target="/ppt/slides/slide5.xml" Id="Rf8300d87ff7e43f5" /><Relationship Type="http://schemas.openxmlformats.org/officeDocument/2006/relationships/slide" Target="/ppt/slides/slide6.xml" Id="R0bc49f4985a4438a" /><Relationship Type="http://schemas.openxmlformats.org/officeDocument/2006/relationships/slide" Target="/ppt/slides/slide7.xml" Id="Rcee3cbededfa4b89" /><Relationship Type="http://schemas.openxmlformats.org/officeDocument/2006/relationships/slide" Target="/ppt/slides/slide8.xml" Id="Rc517bb1abd0042b9" /><Relationship Type="http://schemas.openxmlformats.org/officeDocument/2006/relationships/slide" Target="/ppt/slides/slide9.xml" Id="Re05efd60f9544126" /><Relationship Type="http://schemas.openxmlformats.org/officeDocument/2006/relationships/slide" Target="/ppt/slides/slide10.xml" Id="Rfa884844674c4eb8" /><Relationship Type="http://schemas.openxmlformats.org/officeDocument/2006/relationships/slide" Target="/ppt/slides/slide11.xml" Id="R4fcb8488440c449c" /><Relationship Type="http://schemas.openxmlformats.org/officeDocument/2006/relationships/slide" Target="/ppt/slides/slide12.xml" Id="R77d37c55c92d4e40" /><Relationship Type="http://schemas.openxmlformats.org/officeDocument/2006/relationships/slide" Target="/ppt/slides/slide13.xml" Id="Raec728bebfca4c73" /><Relationship Type="http://schemas.openxmlformats.org/officeDocument/2006/relationships/slide" Target="/ppt/slides/slide14.xml" Id="R4b805081ae4e440a" /><Relationship Type="http://schemas.openxmlformats.org/officeDocument/2006/relationships/slide" Target="/ppt/slides/slide15.xml" Id="R511fcd58a2d94462" /><Relationship Type="http://schemas.openxmlformats.org/officeDocument/2006/relationships/slide" Target="/ppt/slides/slide16.xml" Id="Rcf4038f770c448b2" /><Relationship Type="http://schemas.openxmlformats.org/officeDocument/2006/relationships/slide" Target="/ppt/slides/slide17.xml" Id="R1a5a1187af0e4b22" /><Relationship Type="http://schemas.openxmlformats.org/officeDocument/2006/relationships/slide" Target="/ppt/slides/slide18.xml" Id="R0c4ee3e690b546a4" /><Relationship Type="http://schemas.openxmlformats.org/officeDocument/2006/relationships/slide" Target="/ppt/slides/slide19.xml" Id="Rb855261e67134517" /><Relationship Type="http://schemas.openxmlformats.org/officeDocument/2006/relationships/slide" Target="/ppt/slides/slide20.xml" Id="R21196d0b8062411c" /><Relationship Type="http://schemas.openxmlformats.org/officeDocument/2006/relationships/slide" Target="/ppt/slides/slide21.xml" Id="R08e4563c098f4e6d" /><Relationship Type="http://schemas.openxmlformats.org/officeDocument/2006/relationships/slide" Target="/ppt/slides/slide22.xml" Id="Rabb004386fa04282" /><Relationship Type="http://schemas.openxmlformats.org/officeDocument/2006/relationships/slide" Target="/ppt/slides/slide23.xml" Id="R82950afc923e4df4" /><Relationship Type="http://schemas.openxmlformats.org/officeDocument/2006/relationships/slide" Target="/ppt/slides/slide24.xml" Id="R94d00f5ced1f471b" /><Relationship Type="http://schemas.openxmlformats.org/officeDocument/2006/relationships/slide" Target="/ppt/slides/slide25.xml" Id="R4aadac2200254cb0" /><Relationship Type="http://schemas.openxmlformats.org/officeDocument/2006/relationships/slide" Target="/ppt/slides/slide26.xml" Id="Rb1716e75d1334a98" /><Relationship Type="http://schemas.openxmlformats.org/officeDocument/2006/relationships/slide" Target="/ppt/slides/slide27.xml" Id="R48b1d96a6ca740bb" /><Relationship Type="http://schemas.openxmlformats.org/officeDocument/2006/relationships/slide" Target="/ppt/slides/slide28.xml" Id="R3a2435192d6b4f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fcebfb94a94e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c2203645ab4658" /><Relationship Type="http://schemas.openxmlformats.org/officeDocument/2006/relationships/notesMaster" Target="/ppt/notesMasters/notesMaster1.xml" Id="R692d8b9e5b1b43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7a1afda83a4bf5" /><Relationship Type="http://schemas.openxmlformats.org/officeDocument/2006/relationships/notesMaster" Target="/ppt/notesMasters/notesMaster1.xml" Id="R64e85848eb2e46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813ab76ec649c1" /><Relationship Type="http://schemas.openxmlformats.org/officeDocument/2006/relationships/notesMaster" Target="/ppt/notesMasters/notesMaster1.xml" Id="Rbd431f4048ed41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a17526a0a54f96" /><Relationship Type="http://schemas.openxmlformats.org/officeDocument/2006/relationships/notesMaster" Target="/ppt/notesMasters/notesMaster1.xml" Id="R393d91a5b5704e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3eb70adecd41c3" /><Relationship Type="http://schemas.openxmlformats.org/officeDocument/2006/relationships/notesMaster" Target="/ppt/notesMasters/notesMaster1.xml" Id="Ra7f1500944034d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c5a6b73a734668" /><Relationship Type="http://schemas.openxmlformats.org/officeDocument/2006/relationships/notesMaster" Target="/ppt/notesMasters/notesMaster1.xml" Id="Rc323d9de76cb44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78aea7aef0491f" /><Relationship Type="http://schemas.openxmlformats.org/officeDocument/2006/relationships/notesMaster" Target="/ppt/notesMasters/notesMaster1.xml" Id="R3935bfcf8a8a40e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4601cfb0174f02" /><Relationship Type="http://schemas.openxmlformats.org/officeDocument/2006/relationships/notesMaster" Target="/ppt/notesMasters/notesMaster1.xml" Id="Ree422cbf4af449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8e8ec1f12e46ba" /><Relationship Type="http://schemas.openxmlformats.org/officeDocument/2006/relationships/notesMaster" Target="/ppt/notesMasters/notesMaster1.xml" Id="Rcd56d6a3410b44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f4788d418a34d0e" /><Relationship Type="http://schemas.openxmlformats.org/officeDocument/2006/relationships/notesMaster" Target="/ppt/notesMasters/notesMaster1.xml" Id="Rf2ecd26faf614ba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b72018924e4517" /><Relationship Type="http://schemas.openxmlformats.org/officeDocument/2006/relationships/notesMaster" Target="/ppt/notesMasters/notesMaster1.xml" Id="R4722eb3e0d95480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b06cf3474746d1" /><Relationship Type="http://schemas.openxmlformats.org/officeDocument/2006/relationships/notesMaster" Target="/ppt/notesMasters/notesMaster1.xml" Id="R79eaef0a00fa4e9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d83b37e1a2247f8" /><Relationship Type="http://schemas.openxmlformats.org/officeDocument/2006/relationships/notesMaster" Target="/ppt/notesMasters/notesMaster1.xml" Id="Rfa8c0139255e4c7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067d462e6194880" /><Relationship Type="http://schemas.openxmlformats.org/officeDocument/2006/relationships/notesMaster" Target="/ppt/notesMasters/notesMaster1.xml" Id="R128da539fcd14da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574cf68b98c484b" /><Relationship Type="http://schemas.openxmlformats.org/officeDocument/2006/relationships/notesMaster" Target="/ppt/notesMasters/notesMaster1.xml" Id="R5f15c3e953c2491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3296554936f4bbb" /><Relationship Type="http://schemas.openxmlformats.org/officeDocument/2006/relationships/notesMaster" Target="/ppt/notesMasters/notesMaster1.xml" Id="R847e2573dd294c0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c744ed5ce524f9c" /><Relationship Type="http://schemas.openxmlformats.org/officeDocument/2006/relationships/notesMaster" Target="/ppt/notesMasters/notesMaster1.xml" Id="Rd96bdf486b9a4a8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f6146f92b404032" /><Relationship Type="http://schemas.openxmlformats.org/officeDocument/2006/relationships/notesMaster" Target="/ppt/notesMasters/notesMaster1.xml" Id="R5f1fbdcec0ba40e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21a98bc29064e34" /><Relationship Type="http://schemas.openxmlformats.org/officeDocument/2006/relationships/notesMaster" Target="/ppt/notesMasters/notesMaster1.xml" Id="Rd429dead1055468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2c35e6af2cf45f8" /><Relationship Type="http://schemas.openxmlformats.org/officeDocument/2006/relationships/notesMaster" Target="/ppt/notesMasters/notesMaster1.xml" Id="Rd30111972835407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57280c6f19942a0" /><Relationship Type="http://schemas.openxmlformats.org/officeDocument/2006/relationships/notesMaster" Target="/ppt/notesMasters/notesMaster1.xml" Id="Rc6596b426589426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7541d9a20104fbb" /><Relationship Type="http://schemas.openxmlformats.org/officeDocument/2006/relationships/notesMaster" Target="/ppt/notesMasters/notesMaster1.xml" Id="R20325e82cef14ec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46a0903f2d54c9f" /><Relationship Type="http://schemas.openxmlformats.org/officeDocument/2006/relationships/notesMaster" Target="/ppt/notesMasters/notesMaster1.xml" Id="Rc6e5bc9c86604aa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3da083dd15d4963" /><Relationship Type="http://schemas.openxmlformats.org/officeDocument/2006/relationships/notesMaster" Target="/ppt/notesMasters/notesMaster1.xml" Id="R4ffd013377dc424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2fa6d65e852416f" /><Relationship Type="http://schemas.openxmlformats.org/officeDocument/2006/relationships/notesMaster" Target="/ppt/notesMasters/notesMaster1.xml" Id="R6b16b47ec218406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c2265e167a94c74" /><Relationship Type="http://schemas.openxmlformats.org/officeDocument/2006/relationships/notesMaster" Target="/ppt/notesMasters/notesMaster1.xml" Id="R9e6866cf7b7a40c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527a67448294008" /><Relationship Type="http://schemas.openxmlformats.org/officeDocument/2006/relationships/notesMaster" Target="/ppt/notesMasters/notesMaster1.xml" Id="Rc0d7a8a7a1d940d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1ffcbfd82f8447f" /><Relationship Type="http://schemas.openxmlformats.org/officeDocument/2006/relationships/notesMaster" Target="/ppt/notesMasters/notesMaster1.xml" Id="Rb3dc485939c641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页面补充说明：阶段性研究 · 历史数据截至2026-09-08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U: 用户于本任务提供的CLEC方法、券商条件与早期模拟文稿；未独立逐条核验CLEC节目原文。</a:t>
            </a:r>
          </a:p>
          <a:p xmlns:a="http://schemas.openxmlformats.org/drawingml/2006/main">
            <a:r>
              <a:t/>
            </a:r>
          </a:p>
          <a:p xmlns:a="http://schemas.openxmlformats.org/drawingml/2006/main">
            <a:r>
              <a:t>S5: FINRA Securities-Backed Lines of Credit Explained：https://www.finra.org/investors/insights/securities-backed-lines-credit。</a:t>
            </a:r>
          </a:p>
          <a:p xmlns:a="http://schemas.openxmlformats.org/drawingml/2006/main">
            <a:r>
              <a:t/>
            </a:r>
          </a:p>
          <a:p xmlns:a="http://schemas.openxmlformats.org/drawingml/2006/main">
            <a:r>
              <a:t>页面补充说明：CLEC方法按项目所用文稿整理，未作频道逐字引述；FINRA介绍的常见SBLOC通常要求按月付息。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U: 用户于本任务提供的CLEC方法、券商条件与早期模拟文稿；未独立逐条核验CLEC节目原文。</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页面补充说明：CLEC的2%/3%来自项目整理，基数与调整方式待对应节目核验；不将本次结果外推为3%提款安全。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U: 用户于本任务提供的CLEC方法、券商条件与早期模拟文稿；未独立逐条核验CLEC节目原文。</a:t>
            </a:r>
          </a:p>
          <a:p xmlns:a="http://schemas.openxmlformats.org/drawingml/2006/main">
            <a:r>
              <a:t/>
            </a:r>
          </a:p>
          <a:p xmlns:a="http://schemas.openxmlformats.org/drawingml/2006/main">
            <a:r>
              <a:t>R4: D:/codex/融资/data/audit.json；D:/codex/融资/data/qqq_daily.json。</a:t>
            </a:r>
          </a:p>
          <a:p xmlns:a="http://schemas.openxmlformats.org/drawingml/2006/main">
            <a:r>
              <a:t/>
            </a:r>
          </a:p>
          <a:p xmlns:a="http://schemas.openxmlformats.org/drawingml/2006/main">
            <a:r>
              <a:t>页面补充说明：图示为2000—2010年QQQ月末复权收盘回撤；精确最大回撤数字取日频审计。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S1: 上交所股票质押业务2025年3月修订附件：https://www.sse.com.cn/services/tradingservice/stockrepo/business/c/10776162/files/79039339404c4b15b55a80a3d8c01b70.docx；公开规则核对2026-09-14。</a:t>
            </a:r>
          </a:p>
          <a:p xmlns:a="http://schemas.openxmlformats.org/drawingml/2006/main">
            <a:r>
              <a:t/>
            </a:r>
          </a:p>
          <a:p xmlns:a="http://schemas.openxmlformats.org/drawingml/2006/main">
            <a:r>
              <a:t>S2: 上交所约定购回业务办法2025年3月修订：https://www.sse.com.cn/lawandrules/sselawsrules2025/trade/specific/promise/c/c_20250617_10782130.shtml；第2、20、30条。</a:t>
            </a:r>
          </a:p>
          <a:p xmlns:a="http://schemas.openxmlformats.org/drawingml/2006/main">
            <a:r>
              <a:t/>
            </a:r>
          </a:p>
          <a:p xmlns:a="http://schemas.openxmlformats.org/drawingml/2006/main">
            <a:r>
              <a:t>页面补充说明：特指交易所业务，非所有证券质押贷款；最低金额存在认可例外。约定购回延期后总期限一般不超过一年。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S3: 上交所融资融券交易实施细则2023年修订：https://www.sse.com.cn/lawandrules/sselawsrules2025/trade/specific/margin/c/10782015/files/697f11edc6e74e6d8cc7263dac1021e5.docx；维持率第43条、约定最低值第44条、300%转出第45条。</a:t>
            </a:r>
          </a:p>
          <a:p xmlns:a="http://schemas.openxmlformats.org/drawingml/2006/main">
            <a:r>
              <a:t/>
            </a:r>
          </a:p>
          <a:p xmlns:a="http://schemas.openxmlformats.org/drawingml/2006/main">
            <a:r>
              <a:t>页面补充说明：组合操作是否符合具体账户合同，仍需券商确认全流程。本研究建立操作模型，未取得全面书面合规结论。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页面补充说明：为解释资金守恒，忽略两天交收期间价差、交易费用和微量利息；实际交易必须通过转出检查。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S3: 上交所融资融券交易实施细则2023年修订：https://www.sse.com.cn/lawandrules/sselawsrules2025/trade/specific/margin/c/10782015/files/697f11edc6e74e6d8cc7263dac1021e5.docx；维持率第43条、约定最低值第44条、300%转出第45条。</a:t>
            </a:r>
          </a:p>
          <a:p xmlns:a="http://schemas.openxmlformats.org/drawingml/2006/main">
            <a:r>
              <a:t/>
            </a:r>
          </a:p>
          <a:p xmlns:a="http://schemas.openxmlformats.org/drawingml/2006/main">
            <a:r>
              <a:t>页面补充说明：长期单利挂息及当前展期条件来自研究者向国信经理确认的项目输入；真实执行以生效合同为准。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S3: 上交所融资融券交易实施细则2023年修订：https://www.sse.com.cn/lawandrules/sselawsrules2025/trade/specific/margin/c/10782015/files/697f11edc6e74e6d8cc7263dac1021e5.docx；维持率第43条、约定最低值第44条、300%转出第45条。</a:t>
            </a:r>
          </a:p>
          <a:p xmlns:a="http://schemas.openxmlformats.org/drawingml/2006/main">
            <a:r>
              <a:t/>
            </a:r>
          </a:p>
          <a:p xmlns:a="http://schemas.openxmlformats.org/drawingml/2006/main">
            <a:r>
              <a:t>S4: 上交所2026年融资保证金通知：https://www.sse.com.cn/lawandrules/sselawsrules2025/trade/specific/margin/c/c_20260114_10805174.shtml。</a:t>
            </a:r>
          </a:p>
          <a:p xmlns:a="http://schemas.openxmlformats.org/drawingml/2006/main">
            <a:r>
              <a:t/>
            </a:r>
          </a:p>
          <a:p xmlns:a="http://schemas.openxmlformats.org/drawingml/2006/main">
            <a:r>
              <a:t>页面补充说明：2026-01-19起新融资最低保证金比例100%，券商可更严格；现金类证券90%是模型参数，不等于现金本身的规则。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S3: 上交所融资融券交易实施细则2023年修订：https://www.sse.com.cn/lawandrules/sselawsrules2025/trade/specific/margin/c/10782015/files/697f11edc6e74e6d8cc7263dac1021e5.docx；维持率第43条、约定最低值第44条、300%转出第45条。</a:t>
            </a:r>
          </a:p>
          <a:p xmlns:a="http://schemas.openxmlformats.org/drawingml/2006/main">
            <a:r>
              <a:t/>
            </a:r>
          </a:p>
          <a:p xmlns:a="http://schemas.openxmlformats.org/drawingml/2006/main">
            <a:r>
              <a:t>页面补充说明：最低维持担保要求由券商按合同约定；本页采用纯融资、无融券和无其他担保物的简化公式。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U: 用户于本任务提供的CLEC方法、券商条件与早期模拟文稿；未独立逐条核验CLEC节目原文。</a:t>
            </a:r>
          </a:p>
          <a:p xmlns:a="http://schemas.openxmlformats.org/drawingml/2006/main">
            <a:r>
              <a:t/>
            </a:r>
          </a:p>
          <a:p xmlns:a="http://schemas.openxmlformats.org/drawingml/2006/main">
            <a:r>
              <a:t>页面补充说明：卖券偿债再融资是另一个可研究分支，不能将其记作本息零偿还。具体现金扣息顺序以券商系统与合同为准。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U: 用户于本任务提供的CLEC方法、券商条件与早期模拟文稿；未独立逐条核验CLEC节目原文。</a:t>
            </a:r>
          </a:p>
          <a:p xmlns:a="http://schemas.openxmlformats.org/drawingml/2006/main">
            <a:r>
              <a:t/>
            </a:r>
          </a:p>
          <a:p xmlns:a="http://schemas.openxmlformats.org/drawingml/2006/main">
            <a:r>
              <a:t>页面补充说明：1,100万/1,000万为机制示意，已低于本研究停止线，不是允许策略运行到该状态；不预设固定复借额。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U: 用户于本任务提供的CLEC方法、券商条件与早期模拟文稿；未独立逐条核验CLEC节目原文。</a:t>
            </a:r>
          </a:p>
          <a:p xmlns:a="http://schemas.openxmlformats.org/drawingml/2006/main">
            <a:r>
              <a:t/>
            </a:r>
          </a:p>
          <a:p xmlns:a="http://schemas.openxmlformats.org/drawingml/2006/main">
            <a:r>
              <a:t>页面补充说明：融资被拒本身不记生活失败；只有允许的资金来源不足以支付当年预算时，才记生活流动性失败。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U: 用户于本任务提供的CLEC方法、券商条件与早期模拟文稿；未独立逐条核验CLEC节目原文。</a:t>
            </a:r>
          </a:p>
          <a:p xmlns:a="http://schemas.openxmlformats.org/drawingml/2006/main">
            <a:r>
              <a:t/>
            </a:r>
          </a:p>
          <a:p xmlns:a="http://schemas.openxmlformats.org/drawingml/2006/main">
            <a:r>
              <a:t>页面补充说明：这是前期机制示例，非正式现金接力逐日账。20万按总债务近似，若仅为本金，需另计利息。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页面补充说明：主版本不主动还本付息，但并非从不卖股票、从不动用自有资产，也不能保证现金永远足够。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页面补充说明：15年和10年是按固定预算换算的初始储备，不是保证的最低余额，也未自动覆盖通胀或大额临时开销。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页面补充说明：同一证券的自有份额识别和划转应以券商实际系统为准；不能直接假定融资买入证券可自由转出。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页面补充说明：示例以总资产配比计算；卖股需可转自有库存、转出后300%维持率和保证金条件同时满足。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页面补充说明：纯股票信用账户从160%跌到140%，静态仅需再跌12.5%；实际有现金类担保品时须按股票占比分开计算。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R2: D:/codex/融资/results/cash_relay_stage/report_main.json，及同目录relay70/relay80对应annual.json、daily.json。</a:t>
            </a:r>
          </a:p>
          <a:p xmlns:a="http://schemas.openxmlformats.org/drawingml/2006/main">
            <a:r>
              <a:t/>
            </a:r>
          </a:p>
          <a:p xmlns:a="http://schemas.openxmlformats.org/drawingml/2006/main">
            <a:r>
              <a:t>R4: D:/codex/融资/data/audit.json；D:/codex/融资/data/qqq_daily.json。</a:t>
            </a:r>
          </a:p>
          <a:p xmlns:a="http://schemas.openxmlformats.org/drawingml/2006/main">
            <a:r>
              <a:t/>
            </a:r>
          </a:p>
          <a:p xmlns:a="http://schemas.openxmlformats.org/drawingml/2006/main">
            <a:r>
              <a:t>页面补充说明：万元按初始100万归一化；尚未模拟人民币汇率、境内ETF真实成交、溢折价、跟踪误差、税费和授信变化。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R2: D:/codex/融资/results/cash_relay_stage/report_main.json，及同目录relay70/relay80对应annual.json、daily.json。</a:t>
            </a:r>
          </a:p>
          <a:p xmlns:a="http://schemas.openxmlformats.org/drawingml/2006/main">
            <a:r>
              <a:t/>
            </a:r>
          </a:p>
          <a:p xmlns:a="http://schemas.openxmlformats.org/drawingml/2006/main">
            <a:r>
              <a:t>页面补充说明：“完成”指预算支付完整且未触发模型停止线；不代表实盘不会发生追保、强制付息或合同变化。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R2: D:/codex/融资/results/cash_relay_stage/report_main.json，及同目录relay70/relay80对应annual.json、daily.json。</a:t>
            </a:r>
          </a:p>
          <a:p xmlns:a="http://schemas.openxmlformats.org/drawingml/2006/main">
            <a:r>
              <a:t/>
            </a:r>
          </a:p>
          <a:p xmlns:a="http://schemas.openxmlformats.org/drawingml/2006/main">
            <a:r>
              <a:t>页面补充说明：图为年末普通现金，精确最低余额取逐日账，年末曲线未必触及该最低值；现金支付年数为累计数。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R2: D:/codex/融资/results/cash_relay_stage/report_main.json，及同目录relay70/relay80对应annual.json、daily.json。</a:t>
            </a:r>
          </a:p>
          <a:p xmlns:a="http://schemas.openxmlformats.org/drawingml/2006/main">
            <a:r>
              <a:t/>
            </a:r>
          </a:p>
          <a:p xmlns:a="http://schemas.openxmlformats.org/drawingml/2006/main">
            <a:r>
              <a:t>页面补充说明：PAL无大陆300%划转限制，假设140%研究停止线；现金接力2.8%单利。条形数值为已扣债务的净资产，单位万元。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R2: D:/codex/融资/results/cash_relay_stage/report_main.json，及同目录relay70/relay80对应annual.json、daily.json。</a:t>
            </a:r>
          </a:p>
          <a:p xmlns:a="http://schemas.openxmlformats.org/drawingml/2006/main">
            <a:r>
              <a:t/>
            </a:r>
          </a:p>
          <a:p xmlns:a="http://schemas.openxmlformats.org/drawingml/2006/main">
            <a:r>
              <a:t>页面补充说明：图为年末净资产，含2026-09-08期末记录；不同起点持有期不同，不能与2000起点期末金额直接比较。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R3: D:/codex/融资/results/cash_relay_stage/report_rolling.json；D:/codex/融资/results/cash_relay_stage/stress.json。</a:t>
            </a:r>
          </a:p>
          <a:p xmlns:a="http://schemas.openxmlformats.org/drawingml/2006/main">
            <a:r>
              <a:t/>
            </a:r>
          </a:p>
          <a:p xmlns:a="http://schemas.openxmlformats.org/drawingml/2006/main">
            <a:r>
              <a:t>页面补充说明：窗口高度重叠，非独立随机样本；历史0次失败不能解释为未来失败概率0。失败案例不作完整期末收益排名。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R3: D:/codex/融资/results/cash_relay_stage/report_rolling.json；D:/codex/融资/results/cash_relay_stage/stress.json。</a:t>
            </a:r>
          </a:p>
          <a:p xmlns:a="http://schemas.openxmlformats.org/drawingml/2006/main">
            <a:r>
              <a:t/>
            </a:r>
          </a:p>
          <a:p xmlns:a="http://schemas.openxmlformats.org/drawingml/2006/main">
            <a:r>
              <a:t>页面补充说明：后两项为人工反例，非历史事实或预测；20%冲击自2008-11-20起永久作用于后续价格。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S3: 上交所融资融券交易实施细则2023年修订：https://www.sse.com.cn/lawandrules/sselawsrules2025/trade/specific/margin/c/10782015/files/697f11edc6e74e6d8cc7263dac1021e5.docx；维持率第43条、约定最低值第44条、300%转出第45条。</a:t>
            </a:r>
          </a:p>
          <a:p xmlns:a="http://schemas.openxmlformats.org/drawingml/2006/main">
            <a:r>
              <a:t/>
            </a:r>
          </a:p>
          <a:p xmlns:a="http://schemas.openxmlformats.org/drawingml/2006/main">
            <a:r>
              <a:t>页面补充说明：本页聚焦影响零还款目标和生活现金流的实际条件，不改变当前主回测参数。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来源与口径（不含口播稿）</a:t>
            </a:r>
          </a:p>
          <a:p xmlns:a="http://schemas.openxmlformats.org/drawingml/2006/main">
            <a:r>
              <a:t/>
            </a:r>
          </a:p>
          <a:p xmlns:a="http://schemas.openxmlformats.org/drawingml/2006/main">
            <a:r>
              <a:t>R1: D:/codex/融资/reports/现金接力策略_阶段性研究报告.md，v1.0，2026-09-12。</a:t>
            </a:r>
          </a:p>
          <a:p xmlns:a="http://schemas.openxmlformats.org/drawingml/2006/main">
            <a:r>
              <a:t/>
            </a:r>
          </a:p>
          <a:p xmlns:a="http://schemas.openxmlformats.org/drawingml/2006/main">
            <a:r>
              <a:t>R2: D:/codex/融资/results/cash_relay_stage/report_main.json，及同目录relay70/relay80对应annual.json、daily.json。</a:t>
            </a:r>
          </a:p>
          <a:p xmlns:a="http://schemas.openxmlformats.org/drawingml/2006/main">
            <a:r>
              <a:t/>
            </a:r>
          </a:p>
          <a:p xmlns:a="http://schemas.openxmlformats.org/drawingml/2006/main">
            <a:r>
              <a:t>R3: D:/codex/融资/results/cash_relay_stage/report_rolling.json；D:/codex/融资/results/cash_relay_stage/stress.json。</a:t>
            </a:r>
          </a:p>
          <a:p xmlns:a="http://schemas.openxmlformats.org/drawingml/2006/main">
            <a:r>
              <a:t/>
            </a:r>
          </a:p>
          <a:p xmlns:a="http://schemas.openxmlformats.org/drawingml/2006/main">
            <a:r>
              <a:t>页面补充说明：历史研究，非终身退休保障。主版本：初始资产2%固定年支出、2.8%单利、300%转出、160%/200%补担保、140%停止线。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524c60dd3e45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edcf72049e4ab8" /><Relationship Type="http://schemas.openxmlformats.org/officeDocument/2006/relationships/slideLayout" Target="/ppt/slideLayouts/slideLayout1.xml" Id="Rb2128fa5d5fe44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128fa5d5fe44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11697bb89949ed" /><Relationship Type="http://schemas.openxmlformats.org/officeDocument/2006/relationships/notesSlide" Target="/ppt/notesSlides/notesSlide1.xml" Id="Rf5a5270ccd2e46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600dcbf831a47e5" /><Relationship Type="http://schemas.openxmlformats.org/officeDocument/2006/relationships/notesSlide" Target="/ppt/notesSlides/notesSlide2.xml" Id="Re0dd063443d94f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8ebcadbab9949bf" /><Relationship Type="http://schemas.openxmlformats.org/officeDocument/2006/relationships/notesSlide" Target="/ppt/notesSlides/notesSlide3.xml" Id="R2a9d4b048d6742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2d0ef53cf6437b" /><Relationship Type="http://schemas.openxmlformats.org/officeDocument/2006/relationships/chart" Target="/ppt/slides/charts/chart1.xml" Id="R1a5f4b3138e34915" /><Relationship Type="http://schemas.openxmlformats.org/officeDocument/2006/relationships/notesSlide" Target="/ppt/notesSlides/notesSlide4.xml" Id="R6e5dc782e10748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be7078fb6634877" /><Relationship Type="http://schemas.openxmlformats.org/officeDocument/2006/relationships/notesSlide" Target="/ppt/notesSlides/notesSlide5.xml" Id="R47748d92e89447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fb9c93ad9a493a" /><Relationship Type="http://schemas.openxmlformats.org/officeDocument/2006/relationships/notesSlide" Target="/ppt/notesSlides/notesSlide6.xml" Id="R001f4229fa3242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f611236d4d14973" /><Relationship Type="http://schemas.openxmlformats.org/officeDocument/2006/relationships/notesSlide" Target="/ppt/notesSlides/notesSlide7.xml" Id="Rca8cdf48836a46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131ce0ee2a24244" /><Relationship Type="http://schemas.openxmlformats.org/officeDocument/2006/relationships/notesSlide" Target="/ppt/notesSlides/notesSlide8.xml" Id="Rc772593a668a47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8ecdaa09aaa40af" /><Relationship Type="http://schemas.openxmlformats.org/officeDocument/2006/relationships/notesSlide" Target="/ppt/notesSlides/notesSlide9.xml" Id="R054b62550d734c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ee0c0881cd146ef" /><Relationship Type="http://schemas.openxmlformats.org/officeDocument/2006/relationships/notesSlide" Target="/ppt/notesSlides/notesSlide10.xml" Id="Rf82cd91178c94bd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052797ff61541f7" /><Relationship Type="http://schemas.openxmlformats.org/officeDocument/2006/relationships/notesSlide" Target="/ppt/notesSlides/notesSlide11.xml" Id="Rbf575247303049e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2f1916973b740af" /><Relationship Type="http://schemas.openxmlformats.org/officeDocument/2006/relationships/notesSlide" Target="/ppt/notesSlides/notesSlide12.xml" Id="Rc9f91abb3ae549c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d05d8272d5c4e29" /><Relationship Type="http://schemas.openxmlformats.org/officeDocument/2006/relationships/notesSlide" Target="/ppt/notesSlides/notesSlide13.xml" Id="Re7f3c064a252443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baeb27a330b4706" /><Relationship Type="http://schemas.openxmlformats.org/officeDocument/2006/relationships/notesSlide" Target="/ppt/notesSlides/notesSlide14.xml" Id="R93f2f4c2647e42a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2b65969187e436c" /><Relationship Type="http://schemas.openxmlformats.org/officeDocument/2006/relationships/notesSlide" Target="/ppt/notesSlides/notesSlide15.xml" Id="R0059c3d644824aa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0a4a4c31e5d4d7c" /><Relationship Type="http://schemas.openxmlformats.org/officeDocument/2006/relationships/notesSlide" Target="/ppt/notesSlides/notesSlide16.xml" Id="R9fca37ee87b44b8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0b54f46785148b1" /><Relationship Type="http://schemas.openxmlformats.org/officeDocument/2006/relationships/notesSlide" Target="/ppt/notesSlides/notesSlide17.xml" Id="Re5d798dfb9344a2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120ff55d87f4a8c" /><Relationship Type="http://schemas.openxmlformats.org/officeDocument/2006/relationships/notesSlide" Target="/ppt/notesSlides/notesSlide18.xml" Id="R56f59422e34e4b3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f299ee8ba9e4708" /><Relationship Type="http://schemas.openxmlformats.org/officeDocument/2006/relationships/notesSlide" Target="/ppt/notesSlides/notesSlide19.xml" Id="R1740bbcb3c544bb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04435e99a284398" /><Relationship Type="http://schemas.openxmlformats.org/officeDocument/2006/relationships/notesSlide" Target="/ppt/notesSlides/notesSlide20.xml" Id="Rfaab4a7095d0458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af77f845b1d4123" /><Relationship Type="http://schemas.openxmlformats.org/officeDocument/2006/relationships/notesSlide" Target="/ppt/notesSlides/notesSlide21.xml" Id="R7e3180f249d7474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bbb1e4dfa9f46a0" /><Relationship Type="http://schemas.openxmlformats.org/officeDocument/2006/relationships/chart" Target="/ppt/slides/charts/chart2.xml" Id="Rdc29cbd3e74d4767" /><Relationship Type="http://schemas.openxmlformats.org/officeDocument/2006/relationships/notesSlide" Target="/ppt/notesSlides/notesSlide22.xml" Id="R514aeffcfda8478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c19c3060f474adc" /><Relationship Type="http://schemas.openxmlformats.org/officeDocument/2006/relationships/chart" Target="/ppt/slides/charts/chart3.xml" Id="R77b927e77d374eba" /><Relationship Type="http://schemas.openxmlformats.org/officeDocument/2006/relationships/notesSlide" Target="/ppt/notesSlides/notesSlide23.xml" Id="R30f3a8e1d84d4c6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ab3b6926d5a4c9f" /><Relationship Type="http://schemas.openxmlformats.org/officeDocument/2006/relationships/chart" Target="/ppt/slides/charts/chart4.xml" Id="Rc0f66e7582f64805" /><Relationship Type="http://schemas.openxmlformats.org/officeDocument/2006/relationships/notesSlide" Target="/ppt/notesSlides/notesSlide24.xml" Id="R44611e8a7c7d459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a268ecb46bc4e37" /><Relationship Type="http://schemas.openxmlformats.org/officeDocument/2006/relationships/notesSlide" Target="/ppt/notesSlides/notesSlide25.xml" Id="Rc16675dcca3c468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df3022a6f874386" /><Relationship Type="http://schemas.openxmlformats.org/officeDocument/2006/relationships/notesSlide" Target="/ppt/notesSlides/notesSlide26.xml" Id="R441178a1bf3c430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95075f02a854ce7" /><Relationship Type="http://schemas.openxmlformats.org/officeDocument/2006/relationships/notesSlide" Target="/ppt/notesSlides/notesSlide27.xml" Id="R2cf86f3ef8b2401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53aeb4ffcd247d7" /><Relationship Type="http://schemas.openxmlformats.org/officeDocument/2006/relationships/notesSlide" Target="/ppt/notesSlides/notesSlide28.xml" Id="R0b3977f580c6432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QQQ回撤</c:v>
          </c:tx>
          <c:spPr>
            <a:ln xmlns:a="http://schemas.openxmlformats.org/drawingml/2006/main" w="28575">
              <a:solidFill>
                <a:srgbClr val="357C79"/>
              </a:solidFill>
            </a:ln>
          </c:spPr>
          <c:marker>
            <c:symbol val="none"/>
          </c:marker>
          <c:xVal>
            <c:numRef>
              <c:f>'Chart Data'!$A$2:$A$133</c:f>
              <c:numCache>
                <c:formatCode>General</c:formatCode>
                <c:ptCount val="132"/>
                <c:pt idx="0">
                  <c:v>2000.041667</c:v>
                </c:pt>
                <c:pt idx="1">
                  <c:v>2000.125</c:v>
                </c:pt>
                <c:pt idx="2">
                  <c:v>2000.208333</c:v>
                </c:pt>
                <c:pt idx="3">
                  <c:v>2000.291667</c:v>
                </c:pt>
                <c:pt idx="4">
                  <c:v>2000.375</c:v>
                </c:pt>
                <c:pt idx="5">
                  <c:v>2000.458333</c:v>
                </c:pt>
                <c:pt idx="6">
                  <c:v>2000.541667</c:v>
                </c:pt>
                <c:pt idx="7">
                  <c:v>2000.625</c:v>
                </c:pt>
                <c:pt idx="8">
                  <c:v>2000.708333</c:v>
                </c:pt>
                <c:pt idx="9">
                  <c:v>2000.791667</c:v>
                </c:pt>
                <c:pt idx="10">
                  <c:v>2000.875</c:v>
                </c:pt>
                <c:pt idx="11">
                  <c:v>2000.958333</c:v>
                </c:pt>
                <c:pt idx="12">
                  <c:v>2001.041667</c:v>
                </c:pt>
                <c:pt idx="13">
                  <c:v>2001.125</c:v>
                </c:pt>
                <c:pt idx="14">
                  <c:v>2001.208333</c:v>
                </c:pt>
                <c:pt idx="15">
                  <c:v>2001.291667</c:v>
                </c:pt>
                <c:pt idx="16">
                  <c:v>2001.375</c:v>
                </c:pt>
                <c:pt idx="17">
                  <c:v>2001.458333</c:v>
                </c:pt>
                <c:pt idx="18">
                  <c:v>2001.541667</c:v>
                </c:pt>
                <c:pt idx="19">
                  <c:v>2001.625</c:v>
                </c:pt>
                <c:pt idx="20">
                  <c:v>2001.708333</c:v>
                </c:pt>
                <c:pt idx="21">
                  <c:v>2001.791667</c:v>
                </c:pt>
                <c:pt idx="22">
                  <c:v>2001.875</c:v>
                </c:pt>
                <c:pt idx="23">
                  <c:v>2001.958333</c:v>
                </c:pt>
                <c:pt idx="24">
                  <c:v>2002.041667</c:v>
                </c:pt>
                <c:pt idx="25">
                  <c:v>2002.125</c:v>
                </c:pt>
                <c:pt idx="26">
                  <c:v>2002.208333</c:v>
                </c:pt>
                <c:pt idx="27">
                  <c:v>2002.291667</c:v>
                </c:pt>
                <c:pt idx="28">
                  <c:v>2002.375</c:v>
                </c:pt>
                <c:pt idx="29">
                  <c:v>2002.458333</c:v>
                </c:pt>
                <c:pt idx="30">
                  <c:v>2002.541667</c:v>
                </c:pt>
                <c:pt idx="31">
                  <c:v>2002.625</c:v>
                </c:pt>
                <c:pt idx="32">
                  <c:v>2002.708333</c:v>
                </c:pt>
                <c:pt idx="33">
                  <c:v>2002.791667</c:v>
                </c:pt>
                <c:pt idx="34">
                  <c:v>2002.875</c:v>
                </c:pt>
                <c:pt idx="35">
                  <c:v>2002.958333</c:v>
                </c:pt>
                <c:pt idx="36">
                  <c:v>2003.041667</c:v>
                </c:pt>
                <c:pt idx="37">
                  <c:v>2003.125</c:v>
                </c:pt>
                <c:pt idx="38">
                  <c:v>2003.208333</c:v>
                </c:pt>
                <c:pt idx="39">
                  <c:v>2003.291667</c:v>
                </c:pt>
                <c:pt idx="40">
                  <c:v>2003.375</c:v>
                </c:pt>
                <c:pt idx="41">
                  <c:v>2003.458333</c:v>
                </c:pt>
                <c:pt idx="42">
                  <c:v>2003.541667</c:v>
                </c:pt>
                <c:pt idx="43">
                  <c:v>2003.625</c:v>
                </c:pt>
                <c:pt idx="44">
                  <c:v>2003.708333</c:v>
                </c:pt>
                <c:pt idx="45">
                  <c:v>2003.791667</c:v>
                </c:pt>
                <c:pt idx="46">
                  <c:v>2003.875</c:v>
                </c:pt>
                <c:pt idx="47">
                  <c:v>2003.958333</c:v>
                </c:pt>
                <c:pt idx="48">
                  <c:v>2004.041667</c:v>
                </c:pt>
                <c:pt idx="49">
                  <c:v>2004.125</c:v>
                </c:pt>
                <c:pt idx="50">
                  <c:v>2004.208333</c:v>
                </c:pt>
                <c:pt idx="51">
                  <c:v>2004.291667</c:v>
                </c:pt>
                <c:pt idx="52">
                  <c:v>2004.375</c:v>
                </c:pt>
                <c:pt idx="53">
                  <c:v>2004.458333</c:v>
                </c:pt>
                <c:pt idx="54">
                  <c:v>2004.541667</c:v>
                </c:pt>
                <c:pt idx="55">
                  <c:v>2004.625</c:v>
                </c:pt>
                <c:pt idx="56">
                  <c:v>2004.708333</c:v>
                </c:pt>
                <c:pt idx="57">
                  <c:v>2004.791667</c:v>
                </c:pt>
                <c:pt idx="58">
                  <c:v>2004.875</c:v>
                </c:pt>
                <c:pt idx="59">
                  <c:v>2004.958333</c:v>
                </c:pt>
                <c:pt idx="60">
                  <c:v>2005.041667</c:v>
                </c:pt>
                <c:pt idx="61">
                  <c:v>2005.125</c:v>
                </c:pt>
                <c:pt idx="62">
                  <c:v>2005.208333</c:v>
                </c:pt>
                <c:pt idx="63">
                  <c:v>2005.291667</c:v>
                </c:pt>
                <c:pt idx="64">
                  <c:v>2005.375</c:v>
                </c:pt>
                <c:pt idx="65">
                  <c:v>2005.458333</c:v>
                </c:pt>
                <c:pt idx="66">
                  <c:v>2005.541667</c:v>
                </c:pt>
                <c:pt idx="67">
                  <c:v>2005.625</c:v>
                </c:pt>
                <c:pt idx="68">
                  <c:v>2005.708333</c:v>
                </c:pt>
                <c:pt idx="69">
                  <c:v>2005.791667</c:v>
                </c:pt>
                <c:pt idx="70">
                  <c:v>2005.875</c:v>
                </c:pt>
                <c:pt idx="71">
                  <c:v>2005.958333</c:v>
                </c:pt>
                <c:pt idx="72">
                  <c:v>2006.041667</c:v>
                </c:pt>
                <c:pt idx="73">
                  <c:v>2006.125</c:v>
                </c:pt>
                <c:pt idx="74">
                  <c:v>2006.208333</c:v>
                </c:pt>
                <c:pt idx="75">
                  <c:v>2006.291667</c:v>
                </c:pt>
                <c:pt idx="76">
                  <c:v>2006.375</c:v>
                </c:pt>
                <c:pt idx="77">
                  <c:v>2006.458333</c:v>
                </c:pt>
                <c:pt idx="78">
                  <c:v>2006.541667</c:v>
                </c:pt>
                <c:pt idx="79">
                  <c:v>2006.625</c:v>
                </c:pt>
                <c:pt idx="80">
                  <c:v>2006.708333</c:v>
                </c:pt>
                <c:pt idx="81">
                  <c:v>2006.791667</c:v>
                </c:pt>
                <c:pt idx="82">
                  <c:v>2006.875</c:v>
                </c:pt>
                <c:pt idx="83">
                  <c:v>2006.958333</c:v>
                </c:pt>
                <c:pt idx="84">
                  <c:v>2007.041667</c:v>
                </c:pt>
                <c:pt idx="85">
                  <c:v>2007.125</c:v>
                </c:pt>
                <c:pt idx="86">
                  <c:v>2007.208333</c:v>
                </c:pt>
                <c:pt idx="87">
                  <c:v>2007.291667</c:v>
                </c:pt>
                <c:pt idx="88">
                  <c:v>2007.375</c:v>
                </c:pt>
                <c:pt idx="89">
                  <c:v>2007.458333</c:v>
                </c:pt>
                <c:pt idx="90">
                  <c:v>2007.541667</c:v>
                </c:pt>
                <c:pt idx="91">
                  <c:v>2007.625</c:v>
                </c:pt>
                <c:pt idx="92">
                  <c:v>2007.708333</c:v>
                </c:pt>
                <c:pt idx="93">
                  <c:v>2007.791667</c:v>
                </c:pt>
                <c:pt idx="94">
                  <c:v>2007.875</c:v>
                </c:pt>
                <c:pt idx="95">
                  <c:v>2007.958333</c:v>
                </c:pt>
                <c:pt idx="96">
                  <c:v>2008.041667</c:v>
                </c:pt>
                <c:pt idx="97">
                  <c:v>2008.125</c:v>
                </c:pt>
                <c:pt idx="98">
                  <c:v>2008.208333</c:v>
                </c:pt>
                <c:pt idx="99">
                  <c:v>2008.291667</c:v>
                </c:pt>
                <c:pt idx="100">
                  <c:v>2008.375</c:v>
                </c:pt>
                <c:pt idx="101">
                  <c:v>2008.458333</c:v>
                </c:pt>
                <c:pt idx="102">
                  <c:v>2008.541667</c:v>
                </c:pt>
                <c:pt idx="103">
                  <c:v>2008.625</c:v>
                </c:pt>
                <c:pt idx="104">
                  <c:v>2008.708333</c:v>
                </c:pt>
                <c:pt idx="105">
                  <c:v>2008.791667</c:v>
                </c:pt>
                <c:pt idx="106">
                  <c:v>2008.875</c:v>
                </c:pt>
                <c:pt idx="107">
                  <c:v>2008.958333</c:v>
                </c:pt>
                <c:pt idx="108">
                  <c:v>2009.041667</c:v>
                </c:pt>
                <c:pt idx="109">
                  <c:v>2009.125</c:v>
                </c:pt>
                <c:pt idx="110">
                  <c:v>2009.208333</c:v>
                </c:pt>
                <c:pt idx="111">
                  <c:v>2009.291667</c:v>
                </c:pt>
                <c:pt idx="112">
                  <c:v>2009.375</c:v>
                </c:pt>
                <c:pt idx="113">
                  <c:v>2009.458333</c:v>
                </c:pt>
                <c:pt idx="114">
                  <c:v>2009.541667</c:v>
                </c:pt>
                <c:pt idx="115">
                  <c:v>2009.625</c:v>
                </c:pt>
                <c:pt idx="116">
                  <c:v>2009.708333</c:v>
                </c:pt>
                <c:pt idx="117">
                  <c:v>2009.791667</c:v>
                </c:pt>
                <c:pt idx="118">
                  <c:v>2009.875</c:v>
                </c:pt>
                <c:pt idx="119">
                  <c:v>2009.958333</c:v>
                </c:pt>
                <c:pt idx="120">
                  <c:v>2010.041667</c:v>
                </c:pt>
                <c:pt idx="121">
                  <c:v>2010.125</c:v>
                </c:pt>
                <c:pt idx="122">
                  <c:v>2010.208333</c:v>
                </c:pt>
                <c:pt idx="123">
                  <c:v>2010.291667</c:v>
                </c:pt>
                <c:pt idx="124">
                  <c:v>2010.375</c:v>
                </c:pt>
                <c:pt idx="125">
                  <c:v>2010.458333</c:v>
                </c:pt>
                <c:pt idx="126">
                  <c:v>2010.541667</c:v>
                </c:pt>
                <c:pt idx="127">
                  <c:v>2010.625</c:v>
                </c:pt>
                <c:pt idx="128">
                  <c:v>2010.708333</c:v>
                </c:pt>
                <c:pt idx="129">
                  <c:v>2010.791667</c:v>
                </c:pt>
                <c:pt idx="130">
                  <c:v>2010.875</c:v>
                </c:pt>
                <c:pt idx="131">
                  <c:v>2010.958333</c:v>
                </c:pt>
              </c:numCache>
            </c:numRef>
          </c:xVal>
          <c:yVal>
            <c:numRef>
              <c:f>'Chart Data'!$B$2:$B$133</c:f>
              <c:numCache>
                <c:formatCode>0%</c:formatCode>
                <c:ptCount val="132"/>
                <c:pt idx="0">
                  <c:v>-0.06818182</c:v>
                </c:pt>
                <c:pt idx="1">
                  <c:v>0</c:v>
                </c:pt>
                <c:pt idx="2">
                  <c:v>-0.07006366</c:v>
                </c:pt>
                <c:pt idx="3">
                  <c:v>-0.19532901</c:v>
                </c:pt>
                <c:pt idx="4">
                  <c:v>-0.29405488</c:v>
                </c:pt>
                <c:pt idx="5">
                  <c:v>-0.20647565</c:v>
                </c:pt>
                <c:pt idx="6">
                  <c:v>-0.24044573</c:v>
                </c:pt>
                <c:pt idx="7">
                  <c:v>-0.1369427</c:v>
                </c:pt>
                <c:pt idx="8">
                  <c:v>-0.24628464</c:v>
                </c:pt>
                <c:pt idx="9">
                  <c:v>-0.30613093</c:v>
                </c:pt>
                <c:pt idx="10">
                  <c:v>-0.46510093</c:v>
                </c:pt>
                <c:pt idx="11">
                  <c:v>-0.50424606</c:v>
                </c:pt>
                <c:pt idx="12">
                  <c:v>-0.45392795</c:v>
                </c:pt>
                <c:pt idx="13">
                  <c:v>-0.59702741</c:v>
                </c:pt>
                <c:pt idx="14">
                  <c:v>-0.66751606</c:v>
                </c:pt>
                <c:pt idx="15">
                  <c:v>-0.608068</c:v>
                </c:pt>
                <c:pt idx="16">
                  <c:v>-0.62012744</c:v>
                </c:pt>
                <c:pt idx="17">
                  <c:v>-0.6118895</c:v>
                </c:pt>
                <c:pt idx="18">
                  <c:v>-0.64535032</c:v>
                </c:pt>
                <c:pt idx="19">
                  <c:v>-0.68891711</c:v>
                </c:pt>
                <c:pt idx="20">
                  <c:v>-0.75388533</c:v>
                </c:pt>
                <c:pt idx="21">
                  <c:v>-0.71210187</c:v>
                </c:pt>
                <c:pt idx="22">
                  <c:v>-0.66326973</c:v>
                </c:pt>
                <c:pt idx="23">
                  <c:v>-0.66955408</c:v>
                </c:pt>
                <c:pt idx="24">
                  <c:v>-0.67295116</c:v>
                </c:pt>
                <c:pt idx="25">
                  <c:v>-0.71312107</c:v>
                </c:pt>
                <c:pt idx="26">
                  <c:v>-0.69375787</c:v>
                </c:pt>
                <c:pt idx="27">
                  <c:v>-0.73053084</c:v>
                </c:pt>
                <c:pt idx="28">
                  <c:v>-0.74488314</c:v>
                </c:pt>
                <c:pt idx="29">
                  <c:v>-0.77834396</c:v>
                </c:pt>
                <c:pt idx="30">
                  <c:v>-0.79745226</c:v>
                </c:pt>
                <c:pt idx="31">
                  <c:v>-0.80050957</c:v>
                </c:pt>
                <c:pt idx="32">
                  <c:v>-0.82403404</c:v>
                </c:pt>
                <c:pt idx="33">
                  <c:v>-0.79150742</c:v>
                </c:pt>
                <c:pt idx="34">
                  <c:v>-0.76458597</c:v>
                </c:pt>
                <c:pt idx="35">
                  <c:v>-0.79303612</c:v>
                </c:pt>
                <c:pt idx="36">
                  <c:v>-0.79244162</c:v>
                </c:pt>
                <c:pt idx="37">
                  <c:v>-0.78632695</c:v>
                </c:pt>
                <c:pt idx="38">
                  <c:v>-0.78556265</c:v>
                </c:pt>
                <c:pt idx="39">
                  <c:v>-0.76687893</c:v>
                </c:pt>
                <c:pt idx="40">
                  <c:v>-0.74700638</c:v>
                </c:pt>
                <c:pt idx="41">
                  <c:v>-0.74564754</c:v>
                </c:pt>
                <c:pt idx="42">
                  <c:v>-0.72993635</c:v>
                </c:pt>
                <c:pt idx="43">
                  <c:v>-0.71643301</c:v>
                </c:pt>
                <c:pt idx="44">
                  <c:v>-0.72467084</c:v>
                </c:pt>
                <c:pt idx="45">
                  <c:v>-0.70123145</c:v>
                </c:pt>
                <c:pt idx="46">
                  <c:v>-0.69953286</c:v>
                </c:pt>
                <c:pt idx="47">
                  <c:v>-0.69023995</c:v>
                </c:pt>
                <c:pt idx="48">
                  <c:v>-0.68505737</c:v>
                </c:pt>
                <c:pt idx="49">
                  <c:v>-0.68930541</c:v>
                </c:pt>
                <c:pt idx="50">
                  <c:v>-0.6955075</c:v>
                </c:pt>
                <c:pt idx="51">
                  <c:v>-0.70459806</c:v>
                </c:pt>
                <c:pt idx="52">
                  <c:v>-0.68947524</c:v>
                </c:pt>
                <c:pt idx="53">
                  <c:v>-0.67936502</c:v>
                </c:pt>
                <c:pt idx="54">
                  <c:v>-0.70357859</c:v>
                </c:pt>
                <c:pt idx="55">
                  <c:v>-0.71096996</c:v>
                </c:pt>
                <c:pt idx="56">
                  <c:v>-0.70145458</c:v>
                </c:pt>
                <c:pt idx="57">
                  <c:v>-0.68650164</c:v>
                </c:pt>
                <c:pt idx="58">
                  <c:v>-0.66764089</c:v>
                </c:pt>
                <c:pt idx="59">
                  <c:v>-0.65759591</c:v>
                </c:pt>
                <c:pt idx="60">
                  <c:v>-0.67921056</c:v>
                </c:pt>
                <c:pt idx="61">
                  <c:v>-0.68075433</c:v>
                </c:pt>
                <c:pt idx="62">
                  <c:v>-0.68632961</c:v>
                </c:pt>
                <c:pt idx="63">
                  <c:v>-0.69996746</c:v>
                </c:pt>
                <c:pt idx="64">
                  <c:v>-0.67337788</c:v>
                </c:pt>
                <c:pt idx="65">
                  <c:v>-0.68423668</c:v>
                </c:pt>
                <c:pt idx="66">
                  <c:v>-0.66019833</c:v>
                </c:pt>
                <c:pt idx="67">
                  <c:v>-0.66534951</c:v>
                </c:pt>
                <c:pt idx="68">
                  <c:v>-0.66122844</c:v>
                </c:pt>
                <c:pt idx="69">
                  <c:v>-0.66629384</c:v>
                </c:pt>
                <c:pt idx="70">
                  <c:v>-0.64594689</c:v>
                </c:pt>
                <c:pt idx="71">
                  <c:v>-0.65223563</c:v>
                </c:pt>
                <c:pt idx="72">
                  <c:v>-0.63855243</c:v>
                </c:pt>
                <c:pt idx="73">
                  <c:v>-0.64629768</c:v>
                </c:pt>
                <c:pt idx="74">
                  <c:v>-0.63890149</c:v>
                </c:pt>
                <c:pt idx="75">
                  <c:v>-0.63959061</c:v>
                </c:pt>
                <c:pt idx="76">
                  <c:v>-0.66568488</c:v>
                </c:pt>
                <c:pt idx="77">
                  <c:v>-0.66589057</c:v>
                </c:pt>
                <c:pt idx="78">
                  <c:v>-0.68028201</c:v>
                </c:pt>
                <c:pt idx="79">
                  <c:v>-0.66502867</c:v>
                </c:pt>
                <c:pt idx="80">
                  <c:v>-0.64948753</c:v>
                </c:pt>
                <c:pt idx="81">
                  <c:v>-0.63284586</c:v>
                </c:pt>
                <c:pt idx="82">
                  <c:v>-0.62025682</c:v>
                </c:pt>
                <c:pt idx="83">
                  <c:v>-0.62739119</c:v>
                </c:pt>
                <c:pt idx="84">
                  <c:v>-0.61953509</c:v>
                </c:pt>
                <c:pt idx="85">
                  <c:v>-0.62592352</c:v>
                </c:pt>
                <c:pt idx="86">
                  <c:v>-0.62396012</c:v>
                </c:pt>
                <c:pt idx="87">
                  <c:v>-0.60296839</c:v>
                </c:pt>
                <c:pt idx="88">
                  <c:v>-0.59044225</c:v>
                </c:pt>
                <c:pt idx="89">
                  <c:v>-0.58847939</c:v>
                </c:pt>
                <c:pt idx="90">
                  <c:v>-0.58908454</c:v>
                </c:pt>
                <c:pt idx="91">
                  <c:v>-0.57749965</c:v>
                </c:pt>
                <c:pt idx="92">
                  <c:v>-0.55530942</c:v>
                </c:pt>
                <c:pt idx="93">
                  <c:v>-0.52399681</c:v>
                </c:pt>
                <c:pt idx="94">
                  <c:v>-0.55617424</c:v>
                </c:pt>
                <c:pt idx="95">
                  <c:v>-0.55649092</c:v>
                </c:pt>
                <c:pt idx="96">
                  <c:v>-0.60922387</c:v>
                </c:pt>
                <c:pt idx="97">
                  <c:v>-0.62810018</c:v>
                </c:pt>
                <c:pt idx="98">
                  <c:v>-0.62113698</c:v>
                </c:pt>
                <c:pt idx="99">
                  <c:v>-0.59089396</c:v>
                </c:pt>
                <c:pt idx="100">
                  <c:v>-0.56662998</c:v>
                </c:pt>
                <c:pt idx="101">
                  <c:v>-0.60829868</c:v>
                </c:pt>
                <c:pt idx="102">
                  <c:v>-0.60578392</c:v>
                </c:pt>
                <c:pt idx="103">
                  <c:v>-0.60006058</c:v>
                </c:pt>
                <c:pt idx="104">
                  <c:v>-0.6623562</c:v>
                </c:pt>
                <c:pt idx="105">
                  <c:v>-0.71459504</c:v>
                </c:pt>
                <c:pt idx="106">
                  <c:v>-0.74730946</c:v>
                </c:pt>
                <c:pt idx="107">
                  <c:v>-0.74155475</c:v>
                </c:pt>
                <c:pt idx="108">
                  <c:v>-0.74746396</c:v>
                </c:pt>
                <c:pt idx="109">
                  <c:v>-0.76075994</c:v>
                </c:pt>
                <c:pt idx="110">
                  <c:v>-0.7360787</c:v>
                </c:pt>
                <c:pt idx="111">
                  <c:v>-0.70160879</c:v>
                </c:pt>
                <c:pt idx="112">
                  <c:v>-0.69203376</c:v>
                </c:pt>
                <c:pt idx="113">
                  <c:v>-0.68293991</c:v>
                </c:pt>
                <c:pt idx="114">
                  <c:v>-0.65618415</c:v>
                </c:pt>
                <c:pt idx="115">
                  <c:v>-0.65112932</c:v>
                </c:pt>
                <c:pt idx="116">
                  <c:v>-0.63142486</c:v>
                </c:pt>
                <c:pt idx="117">
                  <c:v>-0.64267873</c:v>
                </c:pt>
                <c:pt idx="118">
                  <c:v>-0.61999695</c:v>
                </c:pt>
                <c:pt idx="119">
                  <c:v>-0.60022617</c:v>
                </c:pt>
                <c:pt idx="120">
                  <c:v>-0.62609134</c:v>
                </c:pt>
                <c:pt idx="121">
                  <c:v>-0.60887708</c:v>
                </c:pt>
                <c:pt idx="122">
                  <c:v>-0.57871795</c:v>
                </c:pt>
                <c:pt idx="123">
                  <c:v>-0.56927039</c:v>
                </c:pt>
                <c:pt idx="124">
                  <c:v>-0.60111172</c:v>
                </c:pt>
                <c:pt idx="125">
                  <c:v>-0.62494805</c:v>
                </c:pt>
                <c:pt idx="126">
                  <c:v>-0.5977256</c:v>
                </c:pt>
                <c:pt idx="127">
                  <c:v>-0.61836201</c:v>
                </c:pt>
                <c:pt idx="128">
                  <c:v>-0.56808946</c:v>
                </c:pt>
                <c:pt idx="129">
                  <c:v>-0.54071534</c:v>
                </c:pt>
                <c:pt idx="130">
                  <c:v>-0.54150761</c:v>
                </c:pt>
                <c:pt idx="131">
                  <c:v>-0.51969669</c:v>
                </c:pt>
              </c:numCache>
            </c:numRef>
          </c:y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1"/>
        </c:scaling>
        <c:delete val="0"/>
        <c:axPos val="l"/>
        <c:majorGridlines>
          <c:spPr>
            <a:ln xmlns:a="http://schemas.openxmlformats.org/drawingml/2006/main" w="5715">
              <a:solidFill>
                <a:srgbClr val="D9E1DF"/>
              </a:solidFill>
            </a:ln>
          </c:spPr>
        </c:majorGridlines>
        <c:title>
          <c:tx>
            <c:rich>
              <a:bodyPr xmlns:a="http://schemas.openxmlformats.org/drawingml/2006/main"/>
              <a:lstStyle xmlns:a="http://schemas.openxmlformats.org/drawingml/2006/main"/>
              <a:p xmlns:a="http://schemas.openxmlformats.org/drawingml/2006/main">
                <a:r>
                  <a:rPr sz="1500">
                    <a:solidFill>
                      <a:srgbClr val="6B787D"/>
                    </a:solidFill>
                    <a:latin typeface="Microsoft YaHei"/>
                    <a:ea typeface="Microsoft YaHei"/>
                    <a:cs typeface="Microsoft YaHei"/>
                  </a:rPr>
                  <a:t>距历史高点的回撤</a:t>
                </a:r>
              </a:p>
            </c:rich>
          </c:tx>
          <c:overlay val="0"/>
          <c:txPr>
            <a:bodyPr xmlns:a="http://schemas.openxmlformats.org/drawingml/2006/main" anchorCtr="1"/>
            <a:lstStyle xmlns:a="http://schemas.openxmlformats.org/drawingml/2006/main"/>
            <a:p xmlns:a="http://schemas.openxmlformats.org/drawingml/2006/main">
              <a:pPr>
                <a:defRPr sz="1500">
                  <a:solidFill>
                    <a:srgbClr val="6B787D"/>
                  </a:solidFill>
                  <a:latin typeface="Microsoft YaHei"/>
                  <a:ea typeface="Microsoft YaHei"/>
                  <a:cs typeface="Microsoft YaHe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B787D"/>
                </a:solidFill>
                <a:latin typeface="Microsoft YaHei"/>
                <a:ea typeface="Microsoft YaHei"/>
                <a:cs typeface="Microsoft YaHei"/>
              </a:defRPr>
            </a:pPr>
          </a:p>
        </c:txPr>
        <c:crossAx val="48650112"/>
      </c:valAx>
      <c:valAx>
        <c:axId val="48650112"/>
        <c:scaling>
          <c:orientation val="minMax"/>
          <c:max val="2011"/>
          <c:min val="2000"/>
        </c:scaling>
        <c:delete val="0"/>
        <c:axPos val="b"/>
        <c:numFmt formatCode="0"/>
        <c:majorTickMark val="none"/>
        <c:minorTickMark val="none"/>
        <c:spPr>
          <a:ln xmlns:a="http://schemas.openxmlformats.org/drawingml/2006/main" w="9525">
            <a:solidFill>
              <a:srgbClr val="D9E1DF"/>
            </a:solidFill>
          </a:ln>
        </c:spPr>
        <c:txPr>
          <a:bodyPr xmlns:a="http://schemas.openxmlformats.org/drawingml/2006/main" anchorCtr="1"/>
          <a:lstStyle xmlns:a="http://schemas.openxmlformats.org/drawingml/2006/main"/>
          <a:p xmlns:a="http://schemas.openxmlformats.org/drawingml/2006/main">
            <a:pPr>
              <a:defRPr sz="1425">
                <a:solidFill>
                  <a:srgbClr val="6B787D"/>
                </a:solidFill>
                <a:latin typeface="Microsoft YaHei"/>
                <a:ea typeface="Microsoft YaHei"/>
                <a:cs typeface="Microsoft YaHei"/>
              </a:defRPr>
            </a:pPr>
          </a:p>
        </c:txPr>
        <c:crossAx val="48672768"/>
        <c:majorUnit val="2"/>
      </c:valAx>
      <c:spPr>
        <a:solidFill xmlns:a="http://schemas.openxmlformats.org/drawingml/2006/main">
          <a:srgbClr val="FAFAF7"/>
        </a:solidFill>
      </c:spPr>
    </c:plotArea>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70/30 普通现金</c:v>
          </c:tx>
          <c:spPr>
            <a:ln xmlns:a="http://schemas.openxmlformats.org/drawingml/2006/main" w="28575">
              <a:solidFill>
                <a:srgbClr val="357C79"/>
              </a:solidFill>
            </a:ln>
          </c:spPr>
          <c:marker>
            <c:symbol val="none"/>
          </c:marker>
          <c:xVal>
            <c:numRef>
              <c:f>'Chart Data'!$A$2:$A$28</c:f>
              <c:numCache>
                <c:formatCode>General</c:formatCode>
                <c:ptCount val="2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pt idx="25">
                  <c:v>2025</c:v>
                </c:pt>
                <c:pt idx="26">
                  <c:v>2026</c:v>
                </c:pt>
              </c:numCache>
            </c:numRef>
          </c:xVal>
          <c:yVal>
            <c:numRef>
              <c:f>'Chart Data'!$B$2:$B$28</c:f>
              <c:numCache>
                <c:formatCode>0</c:formatCode>
                <c:ptCount val="27"/>
                <c:pt idx="0">
                  <c:v>30.44105345</c:v>
                </c:pt>
                <c:pt idx="1">
                  <c:v>30.59336006</c:v>
                </c:pt>
                <c:pt idx="2">
                  <c:v>30.59336006</c:v>
                </c:pt>
                <c:pt idx="3">
                  <c:v>29.16555927</c:v>
                </c:pt>
                <c:pt idx="4">
                  <c:v>27.71092715</c:v>
                </c:pt>
                <c:pt idx="5">
                  <c:v>26.22416555</c:v>
                </c:pt>
                <c:pt idx="6">
                  <c:v>24.70786165</c:v>
                </c:pt>
                <c:pt idx="7">
                  <c:v>25.19724544</c:v>
                </c:pt>
                <c:pt idx="8">
                  <c:v>23.66280612</c:v>
                </c:pt>
                <c:pt idx="9">
                  <c:v>22.09661555</c:v>
                </c:pt>
                <c:pt idx="10">
                  <c:v>20.49910118</c:v>
                </c:pt>
                <c:pt idx="11">
                  <c:v>18.86850215</c:v>
                </c:pt>
                <c:pt idx="12">
                  <c:v>19.24437754</c:v>
                </c:pt>
                <c:pt idx="13">
                  <c:v>19.64363058</c:v>
                </c:pt>
                <c:pt idx="14">
                  <c:v>23.47221125</c:v>
                </c:pt>
                <c:pt idx="15">
                  <c:v>26.70394103</c:v>
                </c:pt>
                <c:pt idx="16">
                  <c:v>27.84537969</c:v>
                </c:pt>
                <c:pt idx="17">
                  <c:v>29.37447719</c:v>
                </c:pt>
                <c:pt idx="18">
                  <c:v>38.84591369</c:v>
                </c:pt>
                <c:pt idx="19">
                  <c:v>37.27199823</c:v>
                </c:pt>
                <c:pt idx="20">
                  <c:v>48.24276147</c:v>
                </c:pt>
                <c:pt idx="21">
                  <c:v>63.81486578</c:v>
                </c:pt>
                <c:pt idx="22">
                  <c:v>76.73044151</c:v>
                </c:pt>
                <c:pt idx="23">
                  <c:v>59.84071714</c:v>
                </c:pt>
                <c:pt idx="24">
                  <c:v>81.64604784</c:v>
                </c:pt>
                <c:pt idx="25">
                  <c:v>101.01637495</c:v>
                </c:pt>
                <c:pt idx="26">
                  <c:v>114.21338137</c:v>
                </c:pt>
              </c:numCache>
            </c:numRef>
          </c:yVal>
        </c:ser>
        <c:ser>
          <c:idx val="1"/>
          <c:order val="1"/>
          <c:tx>
            <c:v>80/20 普通现金</c:v>
          </c:tx>
          <c:spPr>
            <a:ln xmlns:a="http://schemas.openxmlformats.org/drawingml/2006/main" w="28575">
              <a:solidFill>
                <a:srgbClr val="A28250"/>
              </a:solidFill>
            </a:ln>
          </c:spPr>
          <c:marker>
            <c:symbol val="none"/>
          </c:marker>
          <c:xVal>
            <c:numRef>
              <c:f>'Chart Data'!$C$2:$C$28</c:f>
              <c:numCache>
                <c:formatCode>General</c:formatCode>
                <c:ptCount val="2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pt idx="25">
                  <c:v>2025</c:v>
                </c:pt>
                <c:pt idx="26">
                  <c:v>2026</c:v>
                </c:pt>
              </c:numCache>
            </c:numRef>
          </c:xVal>
          <c:yVal>
            <c:numRef>
              <c:f>'Chart Data'!$D$2:$D$28</c:f>
              <c:numCache>
                <c:formatCode>0</c:formatCode>
                <c:ptCount val="27"/>
                <c:pt idx="0">
                  <c:v>20.28963558</c:v>
                </c:pt>
                <c:pt idx="1">
                  <c:v>20.39557337</c:v>
                </c:pt>
                <c:pt idx="2">
                  <c:v>20.39557337</c:v>
                </c:pt>
                <c:pt idx="3">
                  <c:v>18.76381685</c:v>
                </c:pt>
                <c:pt idx="4">
                  <c:v>17.10057424</c:v>
                </c:pt>
                <c:pt idx="5">
                  <c:v>17.42027305</c:v>
                </c:pt>
                <c:pt idx="6">
                  <c:v>15.72837848</c:v>
                </c:pt>
                <c:pt idx="7">
                  <c:v>14.00512958</c:v>
                </c:pt>
                <c:pt idx="8">
                  <c:v>9.13147599</c:v>
                </c:pt>
                <c:pt idx="9">
                  <c:v>7.27465882</c:v>
                </c:pt>
                <c:pt idx="10">
                  <c:v>7.91774469</c:v>
                </c:pt>
                <c:pt idx="11">
                  <c:v>9.85315724</c:v>
                </c:pt>
                <c:pt idx="12">
                  <c:v>9.84568296</c:v>
                </c:pt>
                <c:pt idx="13">
                  <c:v>11.33881483</c:v>
                </c:pt>
                <c:pt idx="14">
                  <c:v>14.21239539</c:v>
                </c:pt>
                <c:pt idx="15">
                  <c:v>16.40792198</c:v>
                </c:pt>
                <c:pt idx="16">
                  <c:v>17.37500724</c:v>
                </c:pt>
                <c:pt idx="17">
                  <c:v>19.27948285</c:v>
                </c:pt>
                <c:pt idx="18">
                  <c:v>24.75512828</c:v>
                </c:pt>
                <c:pt idx="19">
                  <c:v>23.9894405</c:v>
                </c:pt>
                <c:pt idx="20">
                  <c:v>31.99083416</c:v>
                </c:pt>
                <c:pt idx="21">
                  <c:v>43.68945407</c:v>
                </c:pt>
                <c:pt idx="22">
                  <c:v>53.65880604</c:v>
                </c:pt>
                <c:pt idx="23">
                  <c:v>40.02449897</c:v>
                </c:pt>
                <c:pt idx="24">
                  <c:v>56.57807413</c:v>
                </c:pt>
                <c:pt idx="25">
                  <c:v>71.75719673</c:v>
                </c:pt>
                <c:pt idx="26">
                  <c:v>82.32645708</c:v>
                </c:pt>
              </c:numCache>
            </c:numRef>
          </c:y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xmlns:a="http://schemas.openxmlformats.org/drawingml/2006/main" w="5715">
              <a:solidFill>
                <a:srgbClr val="D9E1DF"/>
              </a:solidFill>
            </a:ln>
          </c:spPr>
        </c:majorGridlines>
        <c:title>
          <c:tx>
            <c:rich>
              <a:bodyPr xmlns:a="http://schemas.openxmlformats.org/drawingml/2006/main"/>
              <a:lstStyle xmlns:a="http://schemas.openxmlformats.org/drawingml/2006/main"/>
              <a:p xmlns:a="http://schemas.openxmlformats.org/drawingml/2006/main">
                <a:r>
                  <a:rPr sz="1500">
                    <a:solidFill>
                      <a:srgbClr val="6B787D"/>
                    </a:solidFill>
                    <a:latin typeface="Microsoft YaHei"/>
                    <a:ea typeface="Microsoft YaHei"/>
                    <a:cs typeface="Microsoft YaHei"/>
                  </a:rPr>
                  <a:t>万元</a:t>
                </a:r>
              </a:p>
            </c:rich>
          </c:tx>
          <c:overlay val="0"/>
          <c:txPr>
            <a:bodyPr xmlns:a="http://schemas.openxmlformats.org/drawingml/2006/main" anchorCtr="1"/>
            <a:lstStyle xmlns:a="http://schemas.openxmlformats.org/drawingml/2006/main"/>
            <a:p xmlns:a="http://schemas.openxmlformats.org/drawingml/2006/main">
              <a:pPr>
                <a:defRPr sz="1500">
                  <a:solidFill>
                    <a:srgbClr val="6B787D"/>
                  </a:solidFill>
                  <a:latin typeface="Microsoft YaHei"/>
                  <a:ea typeface="Microsoft YaHei"/>
                  <a:cs typeface="Microsoft YaHe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B787D"/>
                </a:solidFill>
                <a:latin typeface="Microsoft YaHei"/>
                <a:ea typeface="Microsoft YaHei"/>
                <a:cs typeface="Microsoft YaHei"/>
              </a:defRPr>
            </a:pPr>
          </a:p>
        </c:txPr>
        <c:crossAx val="48650112"/>
      </c:valAx>
      <c:valAx>
        <c:axId val="48650112"/>
        <c:scaling>
          <c:orientation val="minMax"/>
          <c:max val="2026"/>
          <c:min val="2000"/>
        </c:scaling>
        <c:delete val="0"/>
        <c:axPos val="b"/>
        <c:numFmt formatCode="0"/>
        <c:majorTickMark val="none"/>
        <c:minorTickMark val="none"/>
        <c:spPr>
          <a:ln xmlns:a="http://schemas.openxmlformats.org/drawingml/2006/main" w="9525">
            <a:solidFill>
              <a:srgbClr val="D9E1DF"/>
            </a:solidFill>
          </a:ln>
        </c:spPr>
        <c:txPr>
          <a:bodyPr xmlns:a="http://schemas.openxmlformats.org/drawingml/2006/main" anchorCtr="1"/>
          <a:lstStyle xmlns:a="http://schemas.openxmlformats.org/drawingml/2006/main"/>
          <a:p xmlns:a="http://schemas.openxmlformats.org/drawingml/2006/main">
            <a:pPr>
              <a:defRPr sz="1425">
                <a:solidFill>
                  <a:srgbClr val="6B787D"/>
                </a:solidFill>
                <a:latin typeface="Microsoft YaHei"/>
                <a:ea typeface="Microsoft YaHei"/>
                <a:cs typeface="Microsoft YaHei"/>
              </a:defRPr>
            </a:pPr>
          </a:p>
        </c:txPr>
        <c:crossAx val="48672768"/>
        <c:majorUnit val="3"/>
      </c:valAx>
      <c:spPr>
        <a:solidFill xmlns:a="http://schemas.openxmlformats.org/drawingml/2006/main">
          <a:srgbClr val="FAFAF7"/>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384B53"/>
              </a:solidFill>
              <a:latin typeface="Microsoft YaHei"/>
              <a:ea typeface="Microsoft YaHei"/>
              <a:cs typeface="Microsoft YaHei"/>
            </a:defRPr>
          </a:pPr>
        </a:p>
      </c:txPr>
    </c:legend>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期末净资产（万元）</c:v>
          </c:tx>
          <c:spPr>
            <a:solidFill xmlns:a="http://schemas.openxmlformats.org/drawingml/2006/main">
              <a:srgbClr val="357C79"/>
            </a:solidFill>
          </c:spPr>
          <c:dPt>
            <c:idx val="0"/>
            <c:invertIfNegative val="0"/>
            <c:spPr>
              <a:solidFill xmlns:a="http://schemas.openxmlformats.org/drawingml/2006/main">
                <a:srgbClr val="A7B2AF"/>
              </a:solidFill>
            </c:spPr>
          </c:dPt>
          <c:dPt>
            <c:idx val="1"/>
            <c:invertIfNegative val="0"/>
            <c:spPr>
              <a:solidFill xmlns:a="http://schemas.openxmlformats.org/drawingml/2006/main">
                <a:srgbClr val="357C79"/>
              </a:solidFill>
            </c:spPr>
          </c:dPt>
          <c:dPt>
            <c:idx val="2"/>
            <c:invertIfNegative val="0"/>
            <c:spPr>
              <a:solidFill xmlns:a="http://schemas.openxmlformats.org/drawingml/2006/main">
                <a:srgbClr val="A7B2AF"/>
              </a:solidFill>
            </c:spPr>
          </c:dPt>
          <c:dPt>
            <c:idx val="3"/>
            <c:invertIfNegative val="0"/>
            <c:spPr>
              <a:solidFill xmlns:a="http://schemas.openxmlformats.org/drawingml/2006/main">
                <a:srgbClr val="357C79"/>
              </a:solidFill>
            </c:spPr>
          </c:dPt>
          <c:dPt>
            <c:idx val="4"/>
            <c:invertIfNegative val="0"/>
            <c:spPr>
              <a:solidFill xmlns:a="http://schemas.openxmlformats.org/drawingml/2006/main">
                <a:srgbClr val="A28250"/>
              </a:solidFill>
            </c:spPr>
          </c:dPt>
          <c:cat>
            <c:strRef>
              <c:f>'Chart Data'!$A$2:$A$6</c:f>
              <c:strCache>
                <c:ptCount val="5"/>
                <c:pt idx="0">
                  <c:v>卖资产
70/30</c:v>
                </c:pt>
                <c:pt idx="1">
                  <c:v>现金接力
70/30</c:v>
                </c:pt>
                <c:pt idx="2">
                  <c:v>卖资产
80/20</c:v>
                </c:pt>
                <c:pt idx="3">
                  <c:v>现金接力
80/20</c:v>
                </c:pt>
                <c:pt idx="4">
                  <c:v>理想化PAL
80/20</c:v>
                </c:pt>
              </c:strCache>
            </c:strRef>
          </c:cat>
          <c:val>
            <c:numRef>
              <c:f>'Chart Data'!$B$2:$B$6</c:f>
              <c:numCache>
                <c:formatCode>0.00</c:formatCode>
                <c:ptCount val="5"/>
                <c:pt idx="0">
                  <c:v>238.43</c:v>
                </c:pt>
                <c:pt idx="1">
                  <c:v>372.39</c:v>
                </c:pt>
                <c:pt idx="2">
                  <c:v>213.14</c:v>
                </c:pt>
                <c:pt idx="3">
                  <c:v>409.73</c:v>
                </c:pt>
                <c:pt idx="4">
                  <c:v>572.76</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323D"/>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DF"/>
            </a:solidFill>
          </a:ln>
        </c:spPr>
        <c:txPr>
          <a:bodyPr xmlns:a="http://schemas.openxmlformats.org/drawingml/2006/main" anchorCtr="1"/>
          <a:lstStyle xmlns:a="http://schemas.openxmlformats.org/drawingml/2006/main"/>
          <a:p xmlns:a="http://schemas.openxmlformats.org/drawingml/2006/main">
            <a:pPr>
              <a:defRPr sz="1425">
                <a:solidFill>
                  <a:srgbClr val="384B53"/>
                </a:solidFill>
                <a:latin typeface="Microsoft YaHei"/>
                <a:ea typeface="Microsoft YaHei"/>
                <a:cs typeface="Microsoft YaHei"/>
              </a:defRPr>
            </a:pPr>
          </a:p>
        </c:txPr>
        <c:crossAx val="48672768"/>
      </c:catAx>
      <c:valAx>
        <c:axId val="48672768"/>
        <c:scaling>
          <c:orientation val="minMax"/>
          <c:max val="650"/>
          <c:min val="0"/>
        </c:scaling>
        <c:delete val="0"/>
        <c:axPos val="l"/>
        <c:majorGridlines>
          <c:spPr>
            <a:ln xmlns:a="http://schemas.openxmlformats.org/drawingml/2006/main" w="5715">
              <a:solidFill>
                <a:srgbClr val="D9E1DF"/>
              </a:solidFill>
            </a:ln>
          </c:spPr>
        </c:majorGridlines>
        <c:title>
          <c:tx>
            <c:rich>
              <a:bodyPr xmlns:a="http://schemas.openxmlformats.org/drawingml/2006/main"/>
              <a:lstStyle xmlns:a="http://schemas.openxmlformats.org/drawingml/2006/main"/>
              <a:p xmlns:a="http://schemas.openxmlformats.org/drawingml/2006/main">
                <a:r>
                  <a:rPr sz="1500">
                    <a:solidFill>
                      <a:srgbClr val="6B787D"/>
                    </a:solidFill>
                    <a:latin typeface="Microsoft YaHei"/>
                    <a:ea typeface="Microsoft YaHei"/>
                    <a:cs typeface="Microsoft YaHei"/>
                  </a:rPr>
                  <a:t>万元</a:t>
                </a:r>
              </a:p>
            </c:rich>
          </c:tx>
          <c:overlay val="0"/>
          <c:txPr>
            <a:bodyPr xmlns:a="http://schemas.openxmlformats.org/drawingml/2006/main" anchorCtr="1"/>
            <a:lstStyle xmlns:a="http://schemas.openxmlformats.org/drawingml/2006/main"/>
            <a:p xmlns:a="http://schemas.openxmlformats.org/drawingml/2006/main">
              <a:pPr>
                <a:defRPr sz="1500">
                  <a:solidFill>
                    <a:srgbClr val="6B787D"/>
                  </a:solidFill>
                  <a:latin typeface="Microsoft YaHei"/>
                  <a:ea typeface="Microsoft YaHei"/>
                  <a:cs typeface="Microsoft YaHe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B787D"/>
                </a:solidFill>
                <a:latin typeface="Microsoft YaHei"/>
                <a:ea typeface="Microsoft YaHei"/>
                <a:cs typeface="Microsoft YaHei"/>
              </a:defRPr>
            </a:pPr>
          </a:p>
        </c:txPr>
        <c:crossAx val="48650112"/>
        <c:crossBetween val="between"/>
      </c:valAx>
      <c:spPr>
        <a:solidFill xmlns:a="http://schemas.openxmlformats.org/drawingml/2006/main">
          <a:srgbClr val="FAFAF7"/>
        </a:solidFill>
      </c:spPr>
    </c:plotArea>
    <c:plotVisOnly val="1"/>
  </c:chart>
  <c:spPr>
    <a:solidFill xmlns:a="http://schemas.openxmlformats.org/drawingml/2006/main">
      <a:srgbClr val="FAFAF7"/>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70/30 净资产</c:v>
          </c:tx>
          <c:spPr>
            <a:ln xmlns:a="http://schemas.openxmlformats.org/drawingml/2006/main" w="28575">
              <a:solidFill>
                <a:srgbClr val="357C79"/>
              </a:solidFill>
            </a:ln>
          </c:spPr>
          <c:marker>
            <c:symbol val="none"/>
          </c:marker>
          <c:xVal>
            <c:numRef>
              <c:f>'Chart Data'!$A$2:$A$19</c:f>
              <c:numCache>
                <c:formatCode>General</c:formatCode>
                <c:ptCount val="18"/>
                <c:pt idx="0">
                  <c:v>2009</c:v>
                </c:pt>
                <c:pt idx="1">
                  <c:v>2010</c:v>
                </c:pt>
                <c:pt idx="2">
                  <c:v>2011</c:v>
                </c:pt>
                <c:pt idx="3">
                  <c:v>2012</c:v>
                </c:pt>
                <c:pt idx="4">
                  <c:v>2013</c:v>
                </c:pt>
                <c:pt idx="5">
                  <c:v>2014</c:v>
                </c:pt>
                <c:pt idx="6">
                  <c:v>2015</c:v>
                </c:pt>
                <c:pt idx="7">
                  <c:v>2016</c:v>
                </c:pt>
                <c:pt idx="8">
                  <c:v>2017</c:v>
                </c:pt>
                <c:pt idx="9">
                  <c:v>2018</c:v>
                </c:pt>
                <c:pt idx="10">
                  <c:v>2019</c:v>
                </c:pt>
                <c:pt idx="11">
                  <c:v>2020</c:v>
                </c:pt>
                <c:pt idx="12">
                  <c:v>2021</c:v>
                </c:pt>
                <c:pt idx="13">
                  <c:v>2022</c:v>
                </c:pt>
                <c:pt idx="14">
                  <c:v>2023</c:v>
                </c:pt>
                <c:pt idx="15">
                  <c:v>2024</c:v>
                </c:pt>
                <c:pt idx="16">
                  <c:v>2025</c:v>
                </c:pt>
                <c:pt idx="17">
                  <c:v>2026</c:v>
                </c:pt>
              </c:numCache>
            </c:numRef>
          </c:xVal>
          <c:yVal>
            <c:numRef>
              <c:f>'Chart Data'!$B$2:$B$19</c:f>
              <c:numCache>
                <c:formatCode>0</c:formatCode>
                <c:ptCount val="18"/>
                <c:pt idx="0">
                  <c:v>153.58749007</c:v>
                </c:pt>
                <c:pt idx="1">
                  <c:v>174.46734174</c:v>
                </c:pt>
                <c:pt idx="2">
                  <c:v>177.87497344</c:v>
                </c:pt>
                <c:pt idx="3">
                  <c:v>200.01171321</c:v>
                </c:pt>
                <c:pt idx="4">
                  <c:v>252.25476013</c:v>
                </c:pt>
                <c:pt idx="5">
                  <c:v>286.73917467</c:v>
                </c:pt>
                <c:pt idx="6">
                  <c:v>305.76011175</c:v>
                </c:pt>
                <c:pt idx="7">
                  <c:v>321.17983975</c:v>
                </c:pt>
                <c:pt idx="8">
                  <c:v>398.15106968</c:v>
                </c:pt>
                <c:pt idx="9">
                  <c:v>398.60577199</c:v>
                </c:pt>
                <c:pt idx="10">
                  <c:v>514.06116047</c:v>
                </c:pt>
                <c:pt idx="11">
                  <c:v>698.02498922</c:v>
                </c:pt>
                <c:pt idx="12">
                  <c:v>839.10172317</c:v>
                </c:pt>
                <c:pt idx="13">
                  <c:v>641.04608443</c:v>
                </c:pt>
                <c:pt idx="14">
                  <c:v>902.80070256</c:v>
                </c:pt>
                <c:pt idx="15">
                  <c:v>1072.53184123</c:v>
                </c:pt>
                <c:pt idx="16">
                  <c:v>1238.71618489</c:v>
                </c:pt>
                <c:pt idx="17">
                  <c:v>1395.94003153</c:v>
                </c:pt>
              </c:numCache>
            </c:numRef>
          </c:yVal>
        </c:ser>
        <c:ser>
          <c:idx val="1"/>
          <c:order val="1"/>
          <c:tx>
            <c:v>80/20 净资产</c:v>
          </c:tx>
          <c:spPr>
            <a:ln xmlns:a="http://schemas.openxmlformats.org/drawingml/2006/main" w="28575">
              <a:solidFill>
                <a:srgbClr val="A28250"/>
              </a:solidFill>
            </a:ln>
          </c:spPr>
          <c:marker>
            <c:symbol val="none"/>
          </c:marker>
          <c:xVal>
            <c:numRef>
              <c:f>'Chart Data'!$C$2:$C$19</c:f>
              <c:numCache>
                <c:formatCode>General</c:formatCode>
                <c:ptCount val="18"/>
                <c:pt idx="0">
                  <c:v>2009</c:v>
                </c:pt>
                <c:pt idx="1">
                  <c:v>2010</c:v>
                </c:pt>
                <c:pt idx="2">
                  <c:v>2011</c:v>
                </c:pt>
                <c:pt idx="3">
                  <c:v>2012</c:v>
                </c:pt>
                <c:pt idx="4">
                  <c:v>2013</c:v>
                </c:pt>
                <c:pt idx="5">
                  <c:v>2014</c:v>
                </c:pt>
                <c:pt idx="6">
                  <c:v>2015</c:v>
                </c:pt>
                <c:pt idx="7">
                  <c:v>2016</c:v>
                </c:pt>
                <c:pt idx="8">
                  <c:v>2017</c:v>
                </c:pt>
                <c:pt idx="9">
                  <c:v>2018</c:v>
                </c:pt>
                <c:pt idx="10">
                  <c:v>2019</c:v>
                </c:pt>
                <c:pt idx="11">
                  <c:v>2020</c:v>
                </c:pt>
                <c:pt idx="12">
                  <c:v>2021</c:v>
                </c:pt>
                <c:pt idx="13">
                  <c:v>2022</c:v>
                </c:pt>
                <c:pt idx="14">
                  <c:v>2023</c:v>
                </c:pt>
                <c:pt idx="15">
                  <c:v>2024</c:v>
                </c:pt>
                <c:pt idx="16">
                  <c:v>2025</c:v>
                </c:pt>
                <c:pt idx="17">
                  <c:v>2026</c:v>
                </c:pt>
              </c:numCache>
            </c:numRef>
          </c:xVal>
          <c:yVal>
            <c:numRef>
              <c:f>'Chart Data'!$D$2:$D$19</c:f>
              <c:numCache>
                <c:formatCode>0</c:formatCode>
                <c:ptCount val="18"/>
                <c:pt idx="0">
                  <c:v>161.29726132</c:v>
                </c:pt>
                <c:pt idx="1">
                  <c:v>186.24805291</c:v>
                </c:pt>
                <c:pt idx="2">
                  <c:v>190.2669811</c:v>
                </c:pt>
                <c:pt idx="3">
                  <c:v>217.23352818</c:v>
                </c:pt>
                <c:pt idx="4">
                  <c:v>281.85890658</c:v>
                </c:pt>
                <c:pt idx="5">
                  <c:v>325.53750612</c:v>
                </c:pt>
                <c:pt idx="6">
                  <c:v>349.89820402</c:v>
                </c:pt>
                <c:pt idx="7">
                  <c:v>369.64384298</c:v>
                </c:pt>
                <c:pt idx="8">
                  <c:v>469.89115768</c:v>
                </c:pt>
                <c:pt idx="9">
                  <c:v>469.55986589</c:v>
                </c:pt>
                <c:pt idx="10">
                  <c:v>622.94784097</c:v>
                </c:pt>
                <c:pt idx="11">
                  <c:v>874.50149785</c:v>
                </c:pt>
                <c:pt idx="12">
                  <c:v>1073.45298343</c:v>
                </c:pt>
                <c:pt idx="13">
                  <c:v>785.28626479</c:v>
                </c:pt>
                <c:pt idx="14">
                  <c:v>1146.54205736</c:v>
                </c:pt>
                <c:pt idx="15">
                  <c:v>1389.36134906</c:v>
                </c:pt>
                <c:pt idx="16">
                  <c:v>1630.30907898</c:v>
                </c:pt>
                <c:pt idx="17">
                  <c:v>1862.82693253</c:v>
                </c:pt>
              </c:numCache>
            </c:numRef>
          </c:y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xmlns:a="http://schemas.openxmlformats.org/drawingml/2006/main" w="5715">
              <a:solidFill>
                <a:srgbClr val="D9E1DF"/>
              </a:solidFill>
            </a:ln>
          </c:spPr>
        </c:majorGridlines>
        <c:title>
          <c:tx>
            <c:rich>
              <a:bodyPr xmlns:a="http://schemas.openxmlformats.org/drawingml/2006/main"/>
              <a:lstStyle xmlns:a="http://schemas.openxmlformats.org/drawingml/2006/main"/>
              <a:p xmlns:a="http://schemas.openxmlformats.org/drawingml/2006/main">
                <a:r>
                  <a:rPr sz="1500">
                    <a:solidFill>
                      <a:srgbClr val="6B787D"/>
                    </a:solidFill>
                    <a:latin typeface="Microsoft YaHei"/>
                    <a:ea typeface="Microsoft YaHei"/>
                    <a:cs typeface="Microsoft YaHei"/>
                  </a:rPr>
                  <a:t>万元</a:t>
                </a:r>
              </a:p>
            </c:rich>
          </c:tx>
          <c:overlay val="0"/>
          <c:txPr>
            <a:bodyPr xmlns:a="http://schemas.openxmlformats.org/drawingml/2006/main" anchorCtr="1"/>
            <a:lstStyle xmlns:a="http://schemas.openxmlformats.org/drawingml/2006/main"/>
            <a:p xmlns:a="http://schemas.openxmlformats.org/drawingml/2006/main">
              <a:pPr>
                <a:defRPr sz="1500">
                  <a:solidFill>
                    <a:srgbClr val="6B787D"/>
                  </a:solidFill>
                  <a:latin typeface="Microsoft YaHei"/>
                  <a:ea typeface="Microsoft YaHei"/>
                  <a:cs typeface="Microsoft YaHe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B787D"/>
                </a:solidFill>
                <a:latin typeface="Microsoft YaHei"/>
                <a:ea typeface="Microsoft YaHei"/>
                <a:cs typeface="Microsoft YaHei"/>
              </a:defRPr>
            </a:pPr>
          </a:p>
        </c:txPr>
        <c:crossAx val="48650112"/>
      </c:valAx>
      <c:valAx>
        <c:axId val="48650112"/>
        <c:scaling>
          <c:orientation val="minMax"/>
          <c:max val="2026"/>
          <c:min val="2009"/>
        </c:scaling>
        <c:delete val="0"/>
        <c:axPos val="b"/>
        <c:numFmt formatCode="0"/>
        <c:majorTickMark val="none"/>
        <c:minorTickMark val="none"/>
        <c:spPr>
          <a:ln xmlns:a="http://schemas.openxmlformats.org/drawingml/2006/main" w="9525">
            <a:solidFill>
              <a:srgbClr val="D9E1DF"/>
            </a:solidFill>
          </a:ln>
        </c:spPr>
        <c:txPr>
          <a:bodyPr xmlns:a="http://schemas.openxmlformats.org/drawingml/2006/main" anchorCtr="1"/>
          <a:lstStyle xmlns:a="http://schemas.openxmlformats.org/drawingml/2006/main"/>
          <a:p xmlns:a="http://schemas.openxmlformats.org/drawingml/2006/main">
            <a:pPr>
              <a:defRPr sz="1425">
                <a:solidFill>
                  <a:srgbClr val="6B787D"/>
                </a:solidFill>
                <a:latin typeface="Microsoft YaHei"/>
                <a:ea typeface="Microsoft YaHei"/>
                <a:cs typeface="Microsoft YaHei"/>
              </a:defRPr>
            </a:pPr>
          </a:p>
        </c:txPr>
        <c:crossAx val="48672768"/>
        <c:majorUnit val="3"/>
      </c:valAx>
      <c:spPr>
        <a:solidFill xmlns:a="http://schemas.openxmlformats.org/drawingml/2006/main">
          <a:srgbClr val="FAFAF7"/>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384B53"/>
              </a:solidFill>
              <a:latin typeface="Microsoft YaHei"/>
              <a:ea typeface="Microsoft YaHei"/>
              <a:cs typeface="Microsoft YaHei"/>
            </a:defRPr>
          </a:pPr>
        </a:p>
      </c:txPr>
    </c:legend>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B2182AA1-843B-4441-8B57-7B7A58382B8B}"/>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阶段性研究 · 历史数据截至2026-09-08</a:t>
            </a:r>
          </a:p>
        </p:txBody>
      </p:sp>
      <p:sp>
        <p:nvSpPr>
          <p:cNvPr id="2" name="text-1">
            <a:extLst xmlns:a="http://schemas.openxmlformats.org/drawingml/2006/main">
              <a:ext uri="{FF2B5EF4-FFF2-40B4-BE49-F238E27FC236}">
                <a16:creationId xmlns:a16="http://schemas.microsoft.com/office/drawing/2014/main" id="{D97F76F2-FA1C-42B9-AC40-31994AB86C0E}"/>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01</a:t>
            </a:r>
          </a:p>
        </p:txBody>
      </p:sp>
      <p:sp>
        <p:nvSpPr>
          <p:cNvPr id="3" name="text-2">
            <a:extLst xmlns:a="http://schemas.openxmlformats.org/drawingml/2006/main">
              <a:ext uri="{FF2B5EF4-FFF2-40B4-BE49-F238E27FC236}">
                <a16:creationId xmlns:a16="http://schemas.microsoft.com/office/drawing/2014/main" id="{1C052CD9-70A6-4FC8-A60B-C4B35165E1A3}"/>
              </a:ext>
            </a:extLst>
          </p:cNvPr>
          <p:cNvSpPr>
            <a:spLocks xmlns:a="http://schemas.openxmlformats.org/drawingml/2006/main" noGrp="1"/>
          </p:cNvSpPr>
          <p:nvPr/>
        </p:nvSpPr>
        <p:spPr>
          <a:xfrm xmlns:a="http://schemas.openxmlformats.org/drawingml/2006/main">
            <a:off x="857250" y="923925"/>
            <a:ext cx="1238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大陆融资与退休现金流</a:t>
            </a:r>
          </a:p>
        </p:txBody>
      </p:sp>
      <p:sp>
        <p:nvSpPr>
          <p:cNvPr id="4" name="cover-title">
            <a:extLst xmlns:a="http://schemas.openxmlformats.org/drawingml/2006/main">
              <a:ext uri="{FF2B5EF4-FFF2-40B4-BE49-F238E27FC236}">
                <a16:creationId xmlns:a16="http://schemas.microsoft.com/office/drawing/2014/main" id="{44486B8F-C50C-4588-98BE-D313603E8743}"/>
              </a:ext>
            </a:extLst>
          </p:cNvPr>
          <p:cNvSpPr>
            <a:spLocks xmlns:a="http://schemas.openxmlformats.org/drawingml/2006/main" noGrp="1"/>
          </p:cNvSpPr>
          <p:nvPr/>
        </p:nvSpPr>
        <p:spPr>
          <a:xfrm xmlns:a="http://schemas.openxmlformats.org/drawingml/2006/main">
            <a:off x="857250" y="2028825"/>
            <a:ext cx="13430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5100" b="1">
                <a:solidFill>
                  <a:srgbClr val="18323D"/>
                </a:solidFill>
                <a:latin typeface="Microsoft YaHei"/>
                <a:ea typeface="Microsoft YaHei"/>
                <a:cs typeface="Microsoft YaHei"/>
              </a:defRPr>
            </a:pPr>
            <a:r>
              <a:rPr sz="5100" b="1">
                <a:solidFill>
                  <a:srgbClr val="18323D"/>
                </a:solidFill>
                <a:latin typeface="Microsoft YaHei"/>
                <a:ea typeface="Microsoft YaHei"/>
                <a:cs typeface="Microsoft YaHei"/>
              </a:rPr>
              <a:t>如何在大陆模拟 CLEC</a:t>
            </a:r>
          </a:p>
          <a:p xmlns:a="http://schemas.openxmlformats.org/drawingml/2006/main">
            <a:pPr algn="l">
              <a:lnSpc>
                <a:spcPct val="122000"/>
              </a:lnSpc>
              <a:buNone/>
              <a:defRPr sz="5100" b="1">
                <a:solidFill>
                  <a:srgbClr val="18323D"/>
                </a:solidFill>
                <a:latin typeface="Microsoft YaHei"/>
                <a:ea typeface="Microsoft YaHei"/>
                <a:cs typeface="Microsoft YaHei"/>
              </a:defRPr>
            </a:pPr>
            <a:r>
              <a:rPr sz="5100" b="1">
                <a:solidFill>
                  <a:srgbClr val="18323D"/>
                </a:solidFill>
                <a:latin typeface="Microsoft YaHei"/>
                <a:ea typeface="Microsoft YaHei"/>
                <a:cs typeface="Microsoft YaHei"/>
              </a:rPr>
              <a:t>的股票质押策略</a:t>
            </a:r>
          </a:p>
        </p:txBody>
      </p:sp>
      <p:sp>
        <p:nvSpPr>
          <p:cNvPr id="5" name="text-4">
            <a:extLst xmlns:a="http://schemas.openxmlformats.org/drawingml/2006/main">
              <a:ext uri="{FF2B5EF4-FFF2-40B4-BE49-F238E27FC236}">
                <a16:creationId xmlns:a16="http://schemas.microsoft.com/office/drawing/2014/main" id="{3C033FFF-9A7E-43F3-A739-419CEA859624}"/>
              </a:ext>
            </a:extLst>
          </p:cNvPr>
          <p:cNvSpPr>
            <a:spLocks xmlns:a="http://schemas.openxmlformats.org/drawingml/2006/main" noGrp="1"/>
          </p:cNvSpPr>
          <p:nvPr/>
        </p:nvSpPr>
        <p:spPr>
          <a:xfrm xmlns:a="http://schemas.openxmlformats.org/drawingml/2006/main">
            <a:off x="895350" y="4552950"/>
            <a:ext cx="1285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000" b="0">
                <a:solidFill>
                  <a:srgbClr val="357C79"/>
                </a:solidFill>
                <a:latin typeface="Microsoft YaHei"/>
                <a:ea typeface="Microsoft YaHei"/>
                <a:cs typeface="Microsoft YaHei"/>
              </a:defRPr>
            </a:pPr>
            <a:r>
              <a:rPr sz="3000" b="0">
                <a:solidFill>
                  <a:srgbClr val="357C79"/>
                </a:solidFill>
                <a:latin typeface="Microsoft YaHei"/>
                <a:ea typeface="Microsoft YaHei"/>
                <a:cs typeface="Microsoft YaHei"/>
              </a:rPr>
              <a:t>实现“买借死”的现金接力研究</a:t>
            </a:r>
          </a:p>
        </p:txBody>
      </p:sp>
      <p:sp>
        <p:nvSpPr>
          <p:cNvPr id="6" name="text-5">
            <a:extLst xmlns:a="http://schemas.openxmlformats.org/drawingml/2006/main">
              <a:ext uri="{FF2B5EF4-FFF2-40B4-BE49-F238E27FC236}">
                <a16:creationId xmlns:a16="http://schemas.microsoft.com/office/drawing/2014/main" id="{E21386E0-0130-42AF-A7E1-F4537C21F2FA}"/>
              </a:ext>
            </a:extLst>
          </p:cNvPr>
          <p:cNvSpPr>
            <a:spLocks xmlns:a="http://schemas.openxmlformats.org/drawingml/2006/main" noGrp="1"/>
          </p:cNvSpPr>
          <p:nvPr/>
        </p:nvSpPr>
        <p:spPr>
          <a:xfrm xmlns:a="http://schemas.openxmlformats.org/drawingml/2006/main">
            <a:off x="895350" y="5772150"/>
            <a:ext cx="1162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250" b="0">
                <a:solidFill>
                  <a:srgbClr val="384B53"/>
                </a:solidFill>
                <a:latin typeface="Microsoft YaHei"/>
                <a:ea typeface="Microsoft YaHei"/>
                <a:cs typeface="Microsoft YaHei"/>
              </a:defRPr>
            </a:pPr>
            <a:r>
              <a:rPr sz="2250" b="0">
                <a:solidFill>
                  <a:srgbClr val="384B53"/>
                </a:solidFill>
                <a:latin typeface="Microsoft YaHei"/>
                <a:ea typeface="Microsoft YaHei"/>
                <a:cs typeface="Microsoft YaHei"/>
              </a:rPr>
              <a:t>用纳指基金与现金配置，通过双账户融资安排生活费。</a:t>
            </a:r>
          </a:p>
          <a:p xmlns:a="http://schemas.openxmlformats.org/drawingml/2006/main">
            <a:pPr algn="l">
              <a:lnSpc>
                <a:spcPct val="122000"/>
              </a:lnSpc>
              <a:buNone/>
              <a:defRPr sz="2250" b="0">
                <a:solidFill>
                  <a:srgbClr val="384B53"/>
                </a:solidFill>
                <a:latin typeface="Microsoft YaHei"/>
                <a:ea typeface="Microsoft YaHei"/>
                <a:cs typeface="Microsoft YaHei"/>
              </a:defRPr>
            </a:pPr>
            <a:r>
              <a:rPr sz="2250" b="0">
                <a:solidFill>
                  <a:srgbClr val="384B53"/>
                </a:solidFill>
                <a:latin typeface="Microsoft YaHei"/>
                <a:ea typeface="Microsoft YaHei"/>
                <a:cs typeface="Microsoft YaHei"/>
              </a:rPr>
              <a:t>检验在2000年高点退休后，策略能否持续运行。</a:t>
            </a:r>
          </a:p>
        </p:txBody>
      </p:sp>
    </p:spTree>
    <p:extLst>
      <p:ext uri="{BB962C8B-B14F-4D97-AF65-F5344CB8AC3E}">
        <p14:creationId xmlns:p14="http://schemas.microsoft.com/office/powerpoint/2010/main" val="230093919"/>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2B65212F-C070-4F1B-A17F-827FE1F5B46E}"/>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CLEC 的买借死方法</a:t>
            </a:r>
          </a:p>
        </p:txBody>
      </p:sp>
      <p:sp>
        <p:nvSpPr>
          <p:cNvPr id="2" name="text-1">
            <a:extLst xmlns:a="http://schemas.openxmlformats.org/drawingml/2006/main">
              <a:ext uri="{FF2B5EF4-FFF2-40B4-BE49-F238E27FC236}">
                <a16:creationId xmlns:a16="http://schemas.microsoft.com/office/drawing/2014/main" id="{E33CF11A-E392-4913-86B3-A86B4A3FF34A}"/>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长期持有资产，用质押借款承担生活开销</a:t>
            </a:r>
          </a:p>
        </p:txBody>
      </p:sp>
      <p:sp>
        <p:nvSpPr>
          <p:cNvPr id="3" name="text-2">
            <a:extLst xmlns:a="http://schemas.openxmlformats.org/drawingml/2006/main">
              <a:ext uri="{FF2B5EF4-FFF2-40B4-BE49-F238E27FC236}">
                <a16:creationId xmlns:a16="http://schemas.microsoft.com/office/drawing/2014/main" id="{745127D3-D11A-4D4E-89FE-46623B66366A}"/>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核心检验：资产增长之外，还要保证下跌期间担保充足、生活费不断流。</a:t>
            </a:r>
          </a:p>
        </p:txBody>
      </p:sp>
      <p:sp>
        <p:nvSpPr>
          <p:cNvPr id="4" name="text-3">
            <a:extLst xmlns:a="http://schemas.openxmlformats.org/drawingml/2006/main">
              <a:ext uri="{FF2B5EF4-FFF2-40B4-BE49-F238E27FC236}">
                <a16:creationId xmlns:a16="http://schemas.microsoft.com/office/drawing/2014/main" id="{53EB8324-46E6-47FF-AB4F-1629AB904E3D}"/>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CLEC方法按项目所用文稿整理，未作频道逐字引述；FINRA介绍的常见SBLOC通常要求按月付息。</a:t>
            </a:r>
          </a:p>
        </p:txBody>
      </p:sp>
      <p:sp>
        <p:nvSpPr>
          <p:cNvPr id="5" name="text-4">
            <a:extLst xmlns:a="http://schemas.openxmlformats.org/drawingml/2006/main">
              <a:ext uri="{FF2B5EF4-FFF2-40B4-BE49-F238E27FC236}">
                <a16:creationId xmlns:a16="http://schemas.microsoft.com/office/drawing/2014/main" id="{DDC3EB79-2744-4044-9EF4-FC8F0905B31B}"/>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02</a:t>
            </a:r>
          </a:p>
        </p:txBody>
      </p:sp>
      <p:sp>
        <p:nvSpPr>
          <p:cNvPr id="6" name="text-5">
            <a:extLst xmlns:a="http://schemas.openxmlformats.org/drawingml/2006/main">
              <a:ext uri="{FF2B5EF4-FFF2-40B4-BE49-F238E27FC236}">
                <a16:creationId xmlns:a16="http://schemas.microsoft.com/office/drawing/2014/main" id="{B8FBCF2A-B599-4442-BC0B-B8EC11EC8F8F}"/>
              </a:ext>
            </a:extLst>
          </p:cNvPr>
          <p:cNvSpPr>
            <a:spLocks xmlns:a="http://schemas.openxmlformats.org/drawingml/2006/main" noGrp="1"/>
          </p:cNvSpPr>
          <p:nvPr/>
        </p:nvSpPr>
        <p:spPr>
          <a:xfrm xmlns:a="http://schemas.openxmlformats.org/drawingml/2006/main">
            <a:off x="857250" y="2333625"/>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买入并长期持有</a:t>
            </a:r>
          </a:p>
        </p:txBody>
      </p:sp>
      <p:sp>
        <p:nvSpPr>
          <p:cNvPr id="7" name="text-6">
            <a:extLst xmlns:a="http://schemas.openxmlformats.org/drawingml/2006/main">
              <a:ext uri="{FF2B5EF4-FFF2-40B4-BE49-F238E27FC236}">
                <a16:creationId xmlns:a16="http://schemas.microsoft.com/office/drawing/2014/main" id="{B51D8046-89F1-4FD1-80F1-3829FAE9FF0E}"/>
              </a:ext>
            </a:extLst>
          </p:cNvPr>
          <p:cNvSpPr>
            <a:spLocks xmlns:a="http://schemas.openxmlformats.org/drawingml/2006/main" noGrp="1"/>
          </p:cNvSpPr>
          <p:nvPr/>
        </p:nvSpPr>
        <p:spPr>
          <a:xfrm xmlns:a="http://schemas.openxmlformats.org/drawingml/2006/main">
            <a:off x="857250" y="2867025"/>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核心资产是纳斯达克100指数基金。目标是不为日常</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生活持续减持核心资产，让资产保留长期增长</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机会；组合层面的再平衡仍可能包含买卖。</a:t>
            </a:r>
          </a:p>
        </p:txBody>
      </p:sp>
      <p:sp>
        <p:nvSpPr>
          <p:cNvPr id="8" name="text-7">
            <a:extLst xmlns:a="http://schemas.openxmlformats.org/drawingml/2006/main">
              <a:ext uri="{FF2B5EF4-FFF2-40B4-BE49-F238E27FC236}">
                <a16:creationId xmlns:a16="http://schemas.microsoft.com/office/drawing/2014/main" id="{07218AFB-611B-4DD3-A644-879308D78238}"/>
              </a:ext>
            </a:extLst>
          </p:cNvPr>
          <p:cNvSpPr>
            <a:spLocks xmlns:a="http://schemas.openxmlformats.org/drawingml/2006/main" noGrp="1"/>
          </p:cNvSpPr>
          <p:nvPr/>
        </p:nvSpPr>
        <p:spPr>
          <a:xfrm xmlns:a="http://schemas.openxmlformats.org/drawingml/2006/main">
            <a:off x="7953375" y="2333625"/>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借款用于生活</a:t>
            </a:r>
          </a:p>
        </p:txBody>
      </p:sp>
      <p:sp>
        <p:nvSpPr>
          <p:cNvPr id="9" name="text-8">
            <a:extLst xmlns:a="http://schemas.openxmlformats.org/drawingml/2006/main">
              <a:ext uri="{FF2B5EF4-FFF2-40B4-BE49-F238E27FC236}">
                <a16:creationId xmlns:a16="http://schemas.microsoft.com/office/drawing/2014/main" id="{BF8E66BD-616E-4775-B07D-2B44815FCA96}"/>
              </a:ext>
            </a:extLst>
          </p:cNvPr>
          <p:cNvSpPr>
            <a:spLocks xmlns:a="http://schemas.openxmlformats.org/drawingml/2006/main" noGrp="1"/>
          </p:cNvSpPr>
          <p:nvPr/>
        </p:nvSpPr>
        <p:spPr>
          <a:xfrm xmlns:a="http://schemas.openxmlformats.org/drawingml/2006/main">
            <a:off x="7953375" y="2867025"/>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以证券资产获得 PAL 借款，每年提取生活预算。借</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出的资金用于消费，不再投入证券市场，避免生活</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借款额外放大投资敞口。</a:t>
            </a:r>
          </a:p>
        </p:txBody>
      </p:sp>
      <p:sp>
        <p:nvSpPr>
          <p:cNvPr id="10" name="text-9">
            <a:extLst xmlns:a="http://schemas.openxmlformats.org/drawingml/2006/main">
              <a:ext uri="{FF2B5EF4-FFF2-40B4-BE49-F238E27FC236}">
                <a16:creationId xmlns:a16="http://schemas.microsoft.com/office/drawing/2014/main" id="{5F495E7B-4F14-4F57-B528-224AAD1F9C6D}"/>
              </a:ext>
            </a:extLst>
          </p:cNvPr>
          <p:cNvSpPr>
            <a:spLocks xmlns:a="http://schemas.openxmlformats.org/drawingml/2006/main" noGrp="1"/>
          </p:cNvSpPr>
          <p:nvPr/>
        </p:nvSpPr>
        <p:spPr>
          <a:xfrm xmlns:a="http://schemas.openxmlformats.org/drawingml/2006/main">
            <a:off x="857250" y="4686300"/>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本息长期留在负债端</a:t>
            </a:r>
          </a:p>
        </p:txBody>
      </p:sp>
      <p:sp>
        <p:nvSpPr>
          <p:cNvPr id="11" name="text-10">
            <a:extLst xmlns:a="http://schemas.openxmlformats.org/drawingml/2006/main">
              <a:ext uri="{FF2B5EF4-FFF2-40B4-BE49-F238E27FC236}">
                <a16:creationId xmlns:a16="http://schemas.microsoft.com/office/drawing/2014/main" id="{786B08DA-77DE-4E06-8AC6-A79F55D9E854}"/>
              </a:ext>
            </a:extLst>
          </p:cNvPr>
          <p:cNvSpPr>
            <a:spLocks xmlns:a="http://schemas.openxmlformats.org/drawingml/2006/main" noGrp="1"/>
          </p:cNvSpPr>
          <p:nvPr/>
        </p:nvSpPr>
        <p:spPr>
          <a:xfrm xmlns:a="http://schemas.openxmlformats.org/drawingml/2006/main">
            <a:off x="857250" y="5219700"/>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策略目标是不主动归还本金和利息，依靠资产增长</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承受债务累积。债务不会消失，真实产品是否允许</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挂息或利息资本化取决于合同。</a:t>
            </a:r>
          </a:p>
        </p:txBody>
      </p:sp>
      <p:sp>
        <p:nvSpPr>
          <p:cNvPr id="12" name="text-11">
            <a:extLst xmlns:a="http://schemas.openxmlformats.org/drawingml/2006/main">
              <a:ext uri="{FF2B5EF4-FFF2-40B4-BE49-F238E27FC236}">
                <a16:creationId xmlns:a16="http://schemas.microsoft.com/office/drawing/2014/main" id="{FD4C4E53-B3F7-4ADF-BF8B-CAF05E31DBFB}"/>
              </a:ext>
            </a:extLst>
          </p:cNvPr>
          <p:cNvSpPr>
            <a:spLocks xmlns:a="http://schemas.openxmlformats.org/drawingml/2006/main" noGrp="1"/>
          </p:cNvSpPr>
          <p:nvPr/>
        </p:nvSpPr>
        <p:spPr>
          <a:xfrm xmlns:a="http://schemas.openxmlformats.org/drawingml/2006/main">
            <a:off x="7953375" y="4686300"/>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信用卡只是支付工具</a:t>
            </a:r>
          </a:p>
        </p:txBody>
      </p:sp>
      <p:sp>
        <p:nvSpPr>
          <p:cNvPr id="13" name="text-12">
            <a:extLst xmlns:a="http://schemas.openxmlformats.org/drawingml/2006/main">
              <a:ext uri="{FF2B5EF4-FFF2-40B4-BE49-F238E27FC236}">
                <a16:creationId xmlns:a16="http://schemas.microsoft.com/office/drawing/2014/main" id="{1CB0D184-6D28-4027-91ED-A32D98A3C5EC}"/>
              </a:ext>
            </a:extLst>
          </p:cNvPr>
          <p:cNvSpPr>
            <a:spLocks xmlns:a="http://schemas.openxmlformats.org/drawingml/2006/main" noGrp="1"/>
          </p:cNvSpPr>
          <p:nvPr/>
        </p:nvSpPr>
        <p:spPr>
          <a:xfrm xmlns:a="http://schemas.openxmlformats.org/drawingml/2006/main">
            <a:off x="7953375" y="5219700"/>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可以先刷卡，再以 PAL 支付账单；若有返现，再投</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入股票。这个例子说明资金用途，不是额外提高安</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全提款率的来源。</a:t>
            </a:r>
          </a:p>
        </p:txBody>
      </p:sp>
    </p:spTree>
    <p:extLst>
      <p:ext uri="{BB962C8B-B14F-4D97-AF65-F5344CB8AC3E}">
        <p14:creationId xmlns:p14="http://schemas.microsoft.com/office/powerpoint/2010/main" val="102753943"/>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D9D96307-5ABA-48E9-883F-6ADB92840336}"/>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资产配置决定借款空间与下跌承受力</a:t>
            </a:r>
          </a:p>
        </p:txBody>
      </p:sp>
      <p:sp>
        <p:nvSpPr>
          <p:cNvPr id="2" name="text-1">
            <a:extLst xmlns:a="http://schemas.openxmlformats.org/drawingml/2006/main">
              <a:ext uri="{FF2B5EF4-FFF2-40B4-BE49-F238E27FC236}">
                <a16:creationId xmlns:a16="http://schemas.microsoft.com/office/drawing/2014/main" id="{E1AB3514-7ACF-4FC6-9380-4B59640E0737}"/>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现金在组合中承担缓冲作用，借款比例不能脱离配置单独讨论</a:t>
            </a:r>
          </a:p>
        </p:txBody>
      </p:sp>
      <p:sp>
        <p:nvSpPr>
          <p:cNvPr id="3" name="text-2">
            <a:extLst xmlns:a="http://schemas.openxmlformats.org/drawingml/2006/main">
              <a:ext uri="{FF2B5EF4-FFF2-40B4-BE49-F238E27FC236}">
                <a16:creationId xmlns:a16="http://schemas.microsoft.com/office/drawing/2014/main" id="{E9A87EB0-4E56-4D94-A07A-3B4BD73BCFBB}"/>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正式现金接力回测统一每年提取初始资产的2%，70/30也按2%测试。</a:t>
            </a:r>
          </a:p>
        </p:txBody>
      </p:sp>
      <p:sp>
        <p:nvSpPr>
          <p:cNvPr id="4" name="text-3">
            <a:extLst xmlns:a="http://schemas.openxmlformats.org/drawingml/2006/main">
              <a:ext uri="{FF2B5EF4-FFF2-40B4-BE49-F238E27FC236}">
                <a16:creationId xmlns:a16="http://schemas.microsoft.com/office/drawing/2014/main" id="{BD91E1CC-049A-4AC3-9358-A2771CD5748F}"/>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CLEC的2%/3%来自项目整理，基数与调整方式待对应节目核验；不将本次结果外推为3%提款安全。</a:t>
            </a:r>
          </a:p>
        </p:txBody>
      </p:sp>
      <p:sp>
        <p:nvSpPr>
          <p:cNvPr id="5" name="text-4">
            <a:extLst xmlns:a="http://schemas.openxmlformats.org/drawingml/2006/main">
              <a:ext uri="{FF2B5EF4-FFF2-40B4-BE49-F238E27FC236}">
                <a16:creationId xmlns:a16="http://schemas.microsoft.com/office/drawing/2014/main" id="{534E7985-3B42-4FF3-A449-E67D1F784498}"/>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03</a:t>
            </a:r>
          </a:p>
        </p:txBody>
      </p:sp>
      <p:graphicFrame>
        <p:nvGraphicFramePr>
          <p:cNvPr id="13" name=""/>
          <p:cNvGraphicFramePr/>
          <p:nvPr/>
        </p:nvGraphicFramePr>
        <p:xfrm>
          <a:off xmlns:a="http://schemas.openxmlformats.org/drawingml/2006/main" x="857250" y="2257425"/>
          <a:ext xmlns:a="http://schemas.openxmlformats.org/drawingml/2006/main" cx="13525500" cy="3238500"/>
        </p:xfrm>
        <a:graphic xmlns:a="http://schemas.openxmlformats.org/drawingml/2006/main">
          <a:graphicData uri="http://schemas.openxmlformats.org/drawingml/2006/table">
            <a:tbl>
              <a:tblPr firstRow="1" bandRow="0"/>
              <a:tblGrid>
                <a:gridCol w="2299335"/>
                <a:gridCol w="4057650"/>
                <a:gridCol w="1893570"/>
                <a:gridCol w="5274945"/>
              </a:tblGrid>
              <a:tr h="533400">
                <a:tc>
                  <a:txBody>
                    <a:bodyPr wrap="square" lIns="161925" tIns="95250" rIns="161925" bIns="95250">
                      <a:noAutofit/>
                    </a:bodyPr>
                    <a:lstStyle/>
                    <a:p>
                      <a:pPr algn="l"/>
                      <a:r>
                        <a:rPr sz="1875" b="1">
                          <a:solidFill>
                            <a:srgbClr val="18323D"/>
                          </a:solidFill>
                          <a:latin typeface="Microsoft YaHei"/>
                          <a:ea typeface="Microsoft YaHei"/>
                          <a:cs typeface="Microsoft YaHei"/>
                        </a:rPr>
                        <a:t>配置</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纳指原型基金</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现金</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CLEC年借款比例（项目整理）</a:t>
                      </a:r>
                    </a:p>
                  </a:txBody>
                  <a:tcPr marL="91440" marR="91440" marT="45720" marB="45720" anchor="ctr">
                    <a:solidFill>
                      <a:srgbClr val="E8EEEB"/>
                    </a:solidFill>
                  </a:tcPr>
                </a:tc>
              </a:tr>
              <a:tr h="901700">
                <a:tc>
                  <a:txBody>
                    <a:bodyPr wrap="square" lIns="161925" tIns="95250" rIns="161925" bIns="95250">
                      <a:noAutofit/>
                    </a:bodyPr>
                    <a:lstStyle/>
                    <a:p>
                      <a:pPr algn="l"/>
                      <a:r>
                        <a:rPr sz="1950" b="1">
                          <a:solidFill>
                            <a:srgbClr val="384B53"/>
                          </a:solidFill>
                          <a:latin typeface="Microsoft YaHei"/>
                          <a:ea typeface="Microsoft YaHei"/>
                          <a:cs typeface="Microsoft YaHei"/>
                        </a:rPr>
                        <a:t>80/20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80%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20%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2%</a:t>
                      </a:r>
                    </a:p>
                  </a:txBody>
                  <a:tcPr marL="91440" marR="91440" marT="45720" marB="45720" anchor="ctr">
                    <a:solidFill>
                      <a:srgbClr val="FAFAF7"/>
                    </a:solidFill>
                  </a:tcPr>
                </a:tc>
              </a:tr>
              <a:tr h="901700">
                <a:tc>
                  <a:txBody>
                    <a:bodyPr wrap="square" lIns="161925" tIns="95250" rIns="161925" bIns="95250">
                      <a:noAutofit/>
                    </a:bodyPr>
                    <a:lstStyle/>
                    <a:p>
                      <a:pPr algn="l"/>
                      <a:r>
                        <a:rPr sz="1950" b="1">
                          <a:solidFill>
                            <a:srgbClr val="384B53"/>
                          </a:solidFill>
                          <a:latin typeface="Microsoft YaHei"/>
                          <a:ea typeface="Microsoft YaHei"/>
                          <a:cs typeface="Microsoft YaHei"/>
                        </a:rPr>
                        <a:t>70/30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70%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30%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3%</a:t>
                      </a:r>
                    </a:p>
                  </a:txBody>
                  <a:tcPr marL="91440" marR="91440" marT="45720" marB="45720" anchor="ctr">
                    <a:solidFill>
                      <a:srgbClr val="FAFAF7"/>
                    </a:solidFill>
                  </a:tcPr>
                </a:tc>
              </a:tr>
              <a:tr h="901700">
                <a:tc>
                  <a:txBody>
                    <a:bodyPr wrap="square" lIns="161925" tIns="95250" rIns="161925" bIns="95250">
                      <a:noAutofit/>
                    </a:bodyPr>
                    <a:lstStyle/>
                    <a:p>
                      <a:pPr algn="l"/>
                      <a:r>
                        <a:rPr sz="1950" b="1">
                          <a:solidFill>
                            <a:srgbClr val="384B53"/>
                          </a:solidFill>
                          <a:latin typeface="Microsoft YaHei"/>
                          <a:ea typeface="Microsoft YaHei"/>
                          <a:cs typeface="Microsoft YaHei"/>
                        </a:rPr>
                        <a:t>433（不展开）</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40%原型＋30%两倍纳指</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30%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配合“聪明再平衡”</a:t>
                      </a:r>
                    </a:p>
                  </a:txBody>
                  <a:tcPr marL="91440" marR="91440" marT="45720" marB="45720" anchor="ctr">
                    <a:solidFill>
                      <a:srgbClr val="FAFAF7"/>
                    </a:solidFill>
                  </a:tcPr>
                </a:tc>
              </a:tr>
            </a:tbl>
          </a:graphicData>
        </a:graphic>
      </p:graphicFrame>
      <p:sp>
        <p:nvSpPr>
          <p:cNvPr id="7" name="text-5">
            <a:extLst xmlns:a="http://schemas.openxmlformats.org/drawingml/2006/main">
              <a:ext uri="{FF2B5EF4-FFF2-40B4-BE49-F238E27FC236}">
                <a16:creationId xmlns:a16="http://schemas.microsoft.com/office/drawing/2014/main" id="{D689FD70-051A-40A9-B4FD-DE427576D36A}"/>
              </a:ext>
            </a:extLst>
          </p:cNvPr>
          <p:cNvSpPr>
            <a:spLocks xmlns:a="http://schemas.openxmlformats.org/drawingml/2006/main" noGrp="1"/>
          </p:cNvSpPr>
          <p:nvPr/>
        </p:nvSpPr>
        <p:spPr>
          <a:xfrm xmlns:a="http://schemas.openxmlformats.org/drawingml/2006/main">
            <a:off x="857250" y="5781675"/>
            <a:ext cx="13525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025" b="0">
                <a:solidFill>
                  <a:srgbClr val="384B53"/>
                </a:solidFill>
                <a:latin typeface="Microsoft YaHei"/>
                <a:ea typeface="Microsoft YaHei"/>
                <a:cs typeface="Microsoft YaHei"/>
              </a:defRPr>
            </a:pPr>
            <a:r>
              <a:rPr sz="2025" b="0">
                <a:solidFill>
                  <a:srgbClr val="384B53"/>
                </a:solidFill>
                <a:latin typeface="Microsoft YaHei"/>
                <a:ea typeface="Microsoft YaHei"/>
                <a:cs typeface="Microsoft YaHei"/>
              </a:rPr>
              <a:t>80/20与70/30按年度再平衡恢复股现比例。本研究只允许纳指原型基金和现金类资产，不纳入杠杆ETF；以目标股票</a:t>
            </a:r>
          </a:p>
          <a:p xmlns:a="http://schemas.openxmlformats.org/drawingml/2006/main">
            <a:pPr algn="l">
              <a:lnSpc>
                <a:spcPct val="122000"/>
              </a:lnSpc>
              <a:buNone/>
              <a:defRPr sz="2025" b="0">
                <a:solidFill>
                  <a:srgbClr val="384B53"/>
                </a:solidFill>
                <a:latin typeface="Microsoft YaHei"/>
                <a:ea typeface="Microsoft YaHei"/>
                <a:cs typeface="Microsoft YaHei"/>
              </a:defRPr>
            </a:pPr>
            <a:r>
              <a:rPr sz="2025" b="0">
                <a:solidFill>
                  <a:srgbClr val="384B53"/>
                </a:solidFill>
                <a:latin typeface="Microsoft YaHei"/>
                <a:ea typeface="Microsoft YaHei"/>
                <a:cs typeface="Microsoft YaHei"/>
              </a:rPr>
              <a:t>比例描述配置，不把它等同于净资产的固定风险倍数。</a:t>
            </a:r>
          </a:p>
        </p:txBody>
      </p:sp>
    </p:spTree>
    <p:extLst>
      <p:ext uri="{BB962C8B-B14F-4D97-AF65-F5344CB8AC3E}">
        <p14:creationId xmlns:p14="http://schemas.microsoft.com/office/powerpoint/2010/main" val="1891837429"/>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AB8C74FF-E75C-46D5-8DE5-3BA611B095A4}"/>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2000年高点退休，是最重要的历史检验</a:t>
            </a:r>
          </a:p>
        </p:txBody>
      </p:sp>
      <p:sp>
        <p:nvSpPr>
          <p:cNvPr id="2" name="text-1">
            <a:extLst xmlns:a="http://schemas.openxmlformats.org/drawingml/2006/main">
              <a:ext uri="{FF2B5EF4-FFF2-40B4-BE49-F238E27FC236}">
                <a16:creationId xmlns:a16="http://schemas.microsoft.com/office/drawing/2014/main" id="{13D033CB-E8EC-40DF-8C89-9D529040CB5D}"/>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退休初期遭遇深度下跌，仍必须持续支付生活费</a:t>
            </a:r>
          </a:p>
        </p:txBody>
      </p:sp>
      <p:sp>
        <p:nvSpPr>
          <p:cNvPr id="3" name="text-2">
            <a:extLst xmlns:a="http://schemas.openxmlformats.org/drawingml/2006/main">
              <a:ext uri="{FF2B5EF4-FFF2-40B4-BE49-F238E27FC236}">
                <a16:creationId xmlns:a16="http://schemas.microsoft.com/office/drawing/2014/main" id="{05F870A4-D9A7-4DD6-A144-16CC805BFD40}"/>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通过2000年路径是重要证据，但不能替代多起点与压力测试。</a:t>
            </a:r>
          </a:p>
        </p:txBody>
      </p:sp>
      <p:sp>
        <p:nvSpPr>
          <p:cNvPr id="4" name="text-3">
            <a:extLst xmlns:a="http://schemas.openxmlformats.org/drawingml/2006/main">
              <a:ext uri="{FF2B5EF4-FFF2-40B4-BE49-F238E27FC236}">
                <a16:creationId xmlns:a16="http://schemas.microsoft.com/office/drawing/2014/main" id="{664F1365-FC2F-4FAF-B708-77DD917D49F2}"/>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图示为2000—2010年QQQ月末复权收盘回撤；精确最大回撤数字取日频审计。</a:t>
            </a:r>
          </a:p>
        </p:txBody>
      </p:sp>
      <p:sp>
        <p:nvSpPr>
          <p:cNvPr id="5" name="text-4">
            <a:extLst xmlns:a="http://schemas.openxmlformats.org/drawingml/2006/main">
              <a:ext uri="{FF2B5EF4-FFF2-40B4-BE49-F238E27FC236}">
                <a16:creationId xmlns:a16="http://schemas.microsoft.com/office/drawing/2014/main" id="{51CDAEB7-3643-4DE7-ADBE-D27F4AB5345F}"/>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04</a:t>
            </a:r>
          </a:p>
        </p:txBody>
      </p:sp>
      <p:sp>
        <p:nvSpPr>
          <p:cNvPr id="6" name="text-5">
            <a:extLst xmlns:a="http://schemas.openxmlformats.org/drawingml/2006/main">
              <a:ext uri="{FF2B5EF4-FFF2-40B4-BE49-F238E27FC236}">
                <a16:creationId xmlns:a16="http://schemas.microsoft.com/office/drawing/2014/main" id="{F23BC731-768F-4133-86C1-06FB27141C6E}"/>
              </a:ext>
            </a:extLst>
          </p:cNvPr>
          <p:cNvSpPr>
            <a:spLocks xmlns:a="http://schemas.openxmlformats.org/drawingml/2006/main" noGrp="1"/>
          </p:cNvSpPr>
          <p:nvPr/>
        </p:nvSpPr>
        <p:spPr>
          <a:xfrm xmlns:a="http://schemas.openxmlformats.org/drawingml/2006/main">
            <a:off x="9810750" y="23431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1">
                <a:solidFill>
                  <a:srgbClr val="18323D"/>
                </a:solidFill>
                <a:latin typeface="Microsoft YaHei"/>
                <a:ea typeface="Microsoft YaHei"/>
                <a:cs typeface="Microsoft YaHei"/>
              </a:defRPr>
            </a:pPr>
            <a:r>
              <a:rPr sz="1950" b="1">
                <a:solidFill>
                  <a:srgbClr val="18323D"/>
                </a:solidFill>
                <a:latin typeface="Microsoft YaHei"/>
                <a:ea typeface="Microsoft YaHei"/>
                <a:cs typeface="Microsoft YaHei"/>
              </a:rPr>
              <a:t>约83%回撤</a:t>
            </a:r>
          </a:p>
        </p:txBody>
      </p:sp>
      <p:sp>
        <p:nvSpPr>
          <p:cNvPr id="7" name="text-6">
            <a:extLst xmlns:a="http://schemas.openxmlformats.org/drawingml/2006/main">
              <a:ext uri="{FF2B5EF4-FFF2-40B4-BE49-F238E27FC236}">
                <a16:creationId xmlns:a16="http://schemas.microsoft.com/office/drawing/2014/main" id="{2E64DCD6-9837-4581-929A-0EBF5D772AF7}"/>
              </a:ext>
            </a:extLst>
          </p:cNvPr>
          <p:cNvSpPr>
            <a:spLocks xmlns:a="http://schemas.openxmlformats.org/drawingml/2006/main" noGrp="1"/>
          </p:cNvSpPr>
          <p:nvPr/>
        </p:nvSpPr>
        <p:spPr>
          <a:xfrm xmlns:a="http://schemas.openxmlformats.org/drawingml/2006/main">
            <a:off x="9810750" y="2752725"/>
            <a:ext cx="4572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QQQ复权收盘数据的历史最大回撤约</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82.96%，低点在2002-10-09。这里不是</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指2000年单年下跌83%。</a:t>
            </a:r>
          </a:p>
        </p:txBody>
      </p:sp>
      <p:sp>
        <p:nvSpPr>
          <p:cNvPr id="8" name="text-7">
            <a:extLst xmlns:a="http://schemas.openxmlformats.org/drawingml/2006/main">
              <a:ext uri="{FF2B5EF4-FFF2-40B4-BE49-F238E27FC236}">
                <a16:creationId xmlns:a16="http://schemas.microsoft.com/office/drawing/2014/main" id="{BE74E1BE-ED6E-452A-A5F0-2A134F72E342}"/>
              </a:ext>
            </a:extLst>
          </p:cNvPr>
          <p:cNvSpPr>
            <a:spLocks xmlns:a="http://schemas.openxmlformats.org/drawingml/2006/main" noGrp="1"/>
          </p:cNvSpPr>
          <p:nvPr/>
        </p:nvSpPr>
        <p:spPr>
          <a:xfrm xmlns:a="http://schemas.openxmlformats.org/drawingml/2006/main">
            <a:off x="9810750" y="3933825"/>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1">
                <a:solidFill>
                  <a:srgbClr val="18323D"/>
                </a:solidFill>
                <a:latin typeface="Microsoft YaHei"/>
                <a:ea typeface="Microsoft YaHei"/>
                <a:cs typeface="Microsoft YaHei"/>
              </a:defRPr>
            </a:pPr>
            <a:r>
              <a:rPr sz="1950" b="1">
                <a:solidFill>
                  <a:srgbClr val="18323D"/>
                </a:solidFill>
                <a:latin typeface="Microsoft YaHei"/>
                <a:ea typeface="Microsoft YaHei"/>
                <a:cs typeface="Microsoft YaHei"/>
              </a:rPr>
              <a:t>支出与利息不会等待反弹</a:t>
            </a:r>
          </a:p>
        </p:txBody>
      </p:sp>
      <p:sp>
        <p:nvSpPr>
          <p:cNvPr id="9" name="text-8">
            <a:extLst xmlns:a="http://schemas.openxmlformats.org/drawingml/2006/main">
              <a:ext uri="{FF2B5EF4-FFF2-40B4-BE49-F238E27FC236}">
                <a16:creationId xmlns:a16="http://schemas.microsoft.com/office/drawing/2014/main" id="{DAFFEF78-AA69-46F8-998D-D41A8F004DA9}"/>
              </a:ext>
            </a:extLst>
          </p:cNvPr>
          <p:cNvSpPr>
            <a:spLocks xmlns:a="http://schemas.openxmlformats.org/drawingml/2006/main" noGrp="1"/>
          </p:cNvSpPr>
          <p:nvPr/>
        </p:nvSpPr>
        <p:spPr>
          <a:xfrm xmlns:a="http://schemas.openxmlformats.org/drawingml/2006/main">
            <a:off x="9810750" y="4343400"/>
            <a:ext cx="4572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市场下跌会压低担保价值；生活费仍要支</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取，未偿本金仍会计息，资产与债务可能</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朝不利方向同时变化。</a:t>
            </a:r>
          </a:p>
        </p:txBody>
      </p:sp>
      <p:sp>
        <p:nvSpPr>
          <p:cNvPr id="10" name="text-9">
            <a:extLst xmlns:a="http://schemas.openxmlformats.org/drawingml/2006/main">
              <a:ext uri="{FF2B5EF4-FFF2-40B4-BE49-F238E27FC236}">
                <a16:creationId xmlns:a16="http://schemas.microsoft.com/office/drawing/2014/main" id="{4BBB0966-29E6-4214-85B5-C40AE3DC7C01}"/>
              </a:ext>
            </a:extLst>
          </p:cNvPr>
          <p:cNvSpPr>
            <a:spLocks xmlns:a="http://schemas.openxmlformats.org/drawingml/2006/main" noGrp="1"/>
          </p:cNvSpPr>
          <p:nvPr/>
        </p:nvSpPr>
        <p:spPr>
          <a:xfrm xmlns:a="http://schemas.openxmlformats.org/drawingml/2006/main">
            <a:off x="9810750" y="552450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1">
                <a:solidFill>
                  <a:srgbClr val="18323D"/>
                </a:solidFill>
                <a:latin typeface="Microsoft YaHei"/>
                <a:ea typeface="Microsoft YaHei"/>
                <a:cs typeface="Microsoft YaHei"/>
              </a:defRPr>
            </a:pPr>
            <a:r>
              <a:rPr sz="1950" b="1">
                <a:solidFill>
                  <a:srgbClr val="18323D"/>
                </a:solidFill>
                <a:latin typeface="Microsoft YaHei"/>
                <a:ea typeface="Microsoft YaHei"/>
                <a:cs typeface="Microsoft YaHei"/>
              </a:rPr>
              <a:t>大陆版本多一道检验</a:t>
            </a:r>
          </a:p>
        </p:txBody>
      </p:sp>
      <p:sp>
        <p:nvSpPr>
          <p:cNvPr id="11" name="text-10">
            <a:extLst xmlns:a="http://schemas.openxmlformats.org/drawingml/2006/main">
              <a:ext uri="{FF2B5EF4-FFF2-40B4-BE49-F238E27FC236}">
                <a16:creationId xmlns:a16="http://schemas.microsoft.com/office/drawing/2014/main" id="{3317C314-875B-4382-AA61-4925E4042617}"/>
              </a:ext>
            </a:extLst>
          </p:cNvPr>
          <p:cNvSpPr>
            <a:spLocks xmlns:a="http://schemas.openxmlformats.org/drawingml/2006/main" noGrp="1"/>
          </p:cNvSpPr>
          <p:nvPr/>
        </p:nvSpPr>
        <p:spPr>
          <a:xfrm xmlns:a="http://schemas.openxmlformats.org/drawingml/2006/main">
            <a:off x="9810750" y="5934075"/>
            <a:ext cx="4572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即使总资产尚能覆盖债务，也必须验证普</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通账户能否按时拿到生活费。</a:t>
            </a:r>
          </a:p>
        </p:txBody>
      </p:sp>
      <p:graphicFrame>
        <p:nvGraphicFramePr>
          <p:cNvPr id="24" name="Chart"/>
          <p:cNvGraphicFramePr/>
          <p:nvPr/>
        </p:nvGraphicFramePr>
        <p:xfrm>
          <a:off xmlns:a="http://schemas.openxmlformats.org/drawingml/2006/main" x="809625" y="2381250"/>
          <a:ext xmlns:a="http://schemas.openxmlformats.org/drawingml/2006/main" cx="8477250" cy="4476750"/>
        </p:xfrm>
        <a:graphic xmlns:a="http://schemas.openxmlformats.org/drawingml/2006/main">
          <a:graphicData uri="http://schemas.openxmlformats.org/drawingml/2006/chart">
            <c:chart xmlns:r="http://schemas.openxmlformats.org/officeDocument/2006/relationships" xmlns:c="http://schemas.openxmlformats.org/drawingml/2006/chart" r:id="R1a5f4b3138e34915"/>
          </a:graphicData>
        </a:graphic>
      </p:graphicFrame>
    </p:spTree>
    <p:extLst>
      <p:ext uri="{BB962C8B-B14F-4D97-AF65-F5344CB8AC3E}">
        <p14:creationId xmlns:p14="http://schemas.microsoft.com/office/powerpoint/2010/main" val="840738441"/>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F63C772-C37F-4DC1-93E9-71E2D6AD13C0}"/>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大陆股票质押难以直接用于退休生活</a:t>
            </a:r>
          </a:p>
        </p:txBody>
      </p:sp>
      <p:sp>
        <p:nvSpPr>
          <p:cNvPr id="2" name="text-1">
            <a:extLst xmlns:a="http://schemas.openxmlformats.org/drawingml/2006/main">
              <a:ext uri="{FF2B5EF4-FFF2-40B4-BE49-F238E27FC236}">
                <a16:creationId xmlns:a16="http://schemas.microsoft.com/office/drawing/2014/main" id="{E9327BE2-5817-4C56-9318-FA41FCD6F943}"/>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交易所股票质押式回购的业务定位，与小额、长期生活借款不同</a:t>
            </a:r>
          </a:p>
        </p:txBody>
      </p:sp>
      <p:sp>
        <p:nvSpPr>
          <p:cNvPr id="3" name="text-2">
            <a:extLst xmlns:a="http://schemas.openxmlformats.org/drawingml/2006/main">
              <a:ext uri="{FF2B5EF4-FFF2-40B4-BE49-F238E27FC236}">
                <a16:creationId xmlns:a16="http://schemas.microsoft.com/office/drawing/2014/main" id="{845DDEC9-2ECB-4889-B88F-5C281FB24220}"/>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因此，本项目转向普通投资者更熟悉的融资业务，研究双账户替代。</a:t>
            </a:r>
          </a:p>
        </p:txBody>
      </p:sp>
      <p:sp>
        <p:nvSpPr>
          <p:cNvPr id="4" name="text-3">
            <a:extLst xmlns:a="http://schemas.openxmlformats.org/drawingml/2006/main">
              <a:ext uri="{FF2B5EF4-FFF2-40B4-BE49-F238E27FC236}">
                <a16:creationId xmlns:a16="http://schemas.microsoft.com/office/drawing/2014/main" id="{7618426F-07DD-4C64-BCA5-60169F49CCFF}"/>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特指交易所业务，非所有证券质押贷款；最低金额存在认可例外。约定购回延期后总期限一般不超过一年。</a:t>
            </a:r>
          </a:p>
        </p:txBody>
      </p:sp>
      <p:sp>
        <p:nvSpPr>
          <p:cNvPr id="5" name="text-4">
            <a:extLst xmlns:a="http://schemas.openxmlformats.org/drawingml/2006/main">
              <a:ext uri="{FF2B5EF4-FFF2-40B4-BE49-F238E27FC236}">
                <a16:creationId xmlns:a16="http://schemas.microsoft.com/office/drawing/2014/main" id="{B19BCF9E-91E0-4203-A88F-C56B023A7D28}"/>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05</a:t>
            </a:r>
          </a:p>
        </p:txBody>
      </p:sp>
      <p:graphicFrame>
        <p:nvGraphicFramePr>
          <p:cNvPr id="12" name=""/>
          <p:cNvGraphicFramePr/>
          <p:nvPr/>
        </p:nvGraphicFramePr>
        <p:xfrm>
          <a:off xmlns:a="http://schemas.openxmlformats.org/drawingml/2006/main" x="857250" y="2257425"/>
          <a:ext xmlns:a="http://schemas.openxmlformats.org/drawingml/2006/main" cx="13525500" cy="4191000"/>
        </p:xfrm>
        <a:graphic xmlns:a="http://schemas.openxmlformats.org/drawingml/2006/main">
          <a:graphicData uri="http://schemas.openxmlformats.org/drawingml/2006/table">
            <a:tbl>
              <a:tblPr firstRow="1" bandRow="0"/>
              <a:tblGrid>
                <a:gridCol w="2164080"/>
                <a:gridCol w="5274945"/>
                <a:gridCol w="6086475"/>
              </a:tblGrid>
              <a:tr h="533400">
                <a:tc>
                  <a:txBody>
                    <a:bodyPr wrap="square" lIns="161925" tIns="95250" rIns="161925" bIns="95250">
                      <a:noAutofit/>
                    </a:bodyPr>
                    <a:lstStyle/>
                    <a:p>
                      <a:pPr algn="l"/>
                      <a:r>
                        <a:rPr sz="1875" b="1">
                          <a:solidFill>
                            <a:srgbClr val="18323D"/>
                          </a:solidFill>
                          <a:latin typeface="Microsoft YaHei"/>
                          <a:ea typeface="Microsoft YaHei"/>
                          <a:cs typeface="Microsoft YaHei"/>
                        </a:rPr>
                        <a:t>约束</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规则或机制</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对本策略的影响</a:t>
                      </a:r>
                    </a:p>
                  </a:txBody>
                  <a:tcPr marL="91440" marR="91440" marT="45720" marB="45720" anchor="ctr">
                    <a:solidFill>
                      <a:srgbClr val="E8EEEB"/>
                    </a:solidFill>
                  </a:tcPr>
                </a:tc>
              </a:tr>
              <a:tr h="914400">
                <a:tc>
                  <a:txBody>
                    <a:bodyPr wrap="square" lIns="161925" tIns="95250" rIns="161925" bIns="95250">
                      <a:noAutofit/>
                    </a:bodyPr>
                    <a:lstStyle/>
                    <a:p>
                      <a:pPr algn="l"/>
                      <a:r>
                        <a:rPr sz="1950" b="1">
                          <a:solidFill>
                            <a:srgbClr val="384B53"/>
                          </a:solidFill>
                          <a:latin typeface="Microsoft YaHei"/>
                          <a:ea typeface="Microsoft YaHei"/>
                          <a:cs typeface="Microsoft YaHei"/>
                        </a:rPr>
                        <a:t>借款门槛</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首笔通常≥500万元</a:t>
                      </a:r>
                    </a:p>
                    <a:p>
                      <a:pPr algn="l"/>
                      <a:r>
                        <a:rPr sz="1950" b="0">
                          <a:solidFill>
                            <a:srgbClr val="384B53"/>
                          </a:solidFill>
                          <a:latin typeface="Microsoft YaHei"/>
                          <a:ea typeface="Microsoft YaHei"/>
                          <a:cs typeface="Microsoft YaHei"/>
                        </a:rPr>
                        <a:t>后续每笔通常≥50万元</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首笔仅借资产2%—3%，需约1.67亿—2.5亿元资产</a:t>
                      </a:r>
                    </a:p>
                  </a:txBody>
                  <a:tcPr marL="91440" marR="91440" marT="45720" marB="45720" anchor="ctr">
                    <a:solidFill>
                      <a:srgbClr val="FAFAF7"/>
                    </a:solidFill>
                  </a:tcPr>
                </a:tc>
              </a:tr>
              <a:tr h="914400">
                <a:tc>
                  <a:txBody>
                    <a:bodyPr wrap="square" lIns="161925" tIns="95250" rIns="161925" bIns="95250">
                      <a:noAutofit/>
                    </a:bodyPr>
                    <a:lstStyle/>
                    <a:p>
                      <a:pPr algn="l"/>
                      <a:r>
                        <a:rPr sz="1950" b="1">
                          <a:solidFill>
                            <a:srgbClr val="384B53"/>
                          </a:solidFill>
                          <a:latin typeface="Microsoft YaHei"/>
                          <a:ea typeface="Microsoft YaHei"/>
                          <a:cs typeface="Microsoft YaHei"/>
                        </a:rPr>
                        <a:t>资金用途</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用于实体经济生产经营</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与个人退休生活消费不匹配</a:t>
                      </a:r>
                    </a:p>
                  </a:txBody>
                  <a:tcPr marL="91440" marR="91440" marT="45720" marB="45720" anchor="ctr">
                    <a:solidFill>
                      <a:srgbClr val="FAFAF7"/>
                    </a:solidFill>
                  </a:tcPr>
                </a:tc>
              </a:tr>
              <a:tr h="914400">
                <a:tc>
                  <a:txBody>
                    <a:bodyPr wrap="square" lIns="161925" tIns="95250" rIns="161925" bIns="95250">
                      <a:noAutofit/>
                    </a:bodyPr>
                    <a:lstStyle/>
                    <a:p>
                      <a:pPr algn="l"/>
                      <a:r>
                        <a:rPr sz="1950" b="1">
                          <a:solidFill>
                            <a:srgbClr val="384B53"/>
                          </a:solidFill>
                          <a:latin typeface="Microsoft YaHei"/>
                          <a:ea typeface="Microsoft YaHei"/>
                          <a:cs typeface="Microsoft YaHei"/>
                        </a:rPr>
                        <a:t>初始质押标的</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受股票质押业务范围约束</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纳指ETF不能因为可作两融担保品，就视作初始质</a:t>
                      </a:r>
                    </a:p>
                    <a:p>
                      <a:pPr algn="l"/>
                      <a:r>
                        <a:rPr sz="1950" b="0">
                          <a:solidFill>
                            <a:srgbClr val="384B53"/>
                          </a:solidFill>
                          <a:latin typeface="Microsoft YaHei"/>
                          <a:ea typeface="Microsoft YaHei"/>
                          <a:cs typeface="Microsoft YaHei"/>
                        </a:rPr>
                        <a:t>押标的</a:t>
                      </a:r>
                    </a:p>
                  </a:txBody>
                  <a:tcPr marL="91440" marR="91440" marT="45720" marB="45720" anchor="ctr">
                    <a:solidFill>
                      <a:srgbClr val="FAFAF7"/>
                    </a:solidFill>
                  </a:tcPr>
                </a:tc>
              </a:tr>
              <a:tr h="914400">
                <a:tc>
                  <a:txBody>
                    <a:bodyPr wrap="square" lIns="161925" tIns="95250" rIns="161925" bIns="95250">
                      <a:noAutofit/>
                    </a:bodyPr>
                    <a:lstStyle/>
                    <a:p>
                      <a:pPr algn="l"/>
                      <a:r>
                        <a:rPr sz="1950" b="1">
                          <a:solidFill>
                            <a:srgbClr val="384B53"/>
                          </a:solidFill>
                          <a:latin typeface="Microsoft YaHei"/>
                          <a:ea typeface="Microsoft YaHei"/>
                          <a:cs typeface="Microsoft YaHei"/>
                        </a:rPr>
                        <a:t>约定购回</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先向券商卖出，未来按约定价格购回</a:t>
                      </a:r>
                    </a:p>
                    <a:p>
                      <a:pPr algn="l"/>
                      <a:r>
                        <a:rPr sz="1950" b="0">
                          <a:solidFill>
                            <a:srgbClr val="384B53"/>
                          </a:solidFill>
                          <a:latin typeface="Microsoft YaHei"/>
                          <a:ea typeface="Microsoft YaHei"/>
                          <a:cs typeface="Microsoft YaHei"/>
                        </a:rPr>
                        <a:t>购回期限不超过一年</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证券由券商持有，期限也难匹配长期退休安排</a:t>
                      </a:r>
                    </a:p>
                  </a:txBody>
                  <a:tcPr marL="91440" marR="91440" marT="45720" marB="45720" anchor="ctr">
                    <a:solidFill>
                      <a:srgbClr val="FAFAF7"/>
                    </a:solidFill>
                  </a:tcPr>
                </a:tc>
              </a:tr>
            </a:tbl>
          </a:graphicData>
        </a:graphic>
      </p:graphicFrame>
    </p:spTree>
    <p:extLst>
      <p:ext uri="{BB962C8B-B14F-4D97-AF65-F5344CB8AC3E}">
        <p14:creationId xmlns:p14="http://schemas.microsoft.com/office/powerpoint/2010/main" val="58375555"/>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4EC9955F-CFDD-40D0-9A8E-25B31E06A0C4}"/>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融资替代 PAL 的双账户思路</a:t>
            </a:r>
          </a:p>
        </p:txBody>
      </p:sp>
      <p:sp>
        <p:nvSpPr>
          <p:cNvPr id="2" name="text-1">
            <a:extLst xmlns:a="http://schemas.openxmlformats.org/drawingml/2006/main">
              <a:ext uri="{FF2B5EF4-FFF2-40B4-BE49-F238E27FC236}">
                <a16:creationId xmlns:a16="http://schemas.microsoft.com/office/drawing/2014/main" id="{6D67F857-3A15-4D40-B296-C9693141CE59}"/>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信用账户买入等额纳指，普通账户卖出自有纳指，取得生活现金</a:t>
            </a:r>
          </a:p>
        </p:txBody>
      </p:sp>
      <p:sp>
        <p:nvSpPr>
          <p:cNvPr id="3" name="text-2">
            <a:extLst xmlns:a="http://schemas.openxmlformats.org/drawingml/2006/main">
              <a:ext uri="{FF2B5EF4-FFF2-40B4-BE49-F238E27FC236}">
                <a16:creationId xmlns:a16="http://schemas.microsoft.com/office/drawing/2014/main" id="{34AEA6E1-C9C5-4C55-BA1E-B2B5AA48C7E6}"/>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融资进账不是收益；现金真正花出去后，合并净资产会相应减少。</a:t>
            </a:r>
          </a:p>
        </p:txBody>
      </p:sp>
      <p:sp>
        <p:nvSpPr>
          <p:cNvPr id="4" name="text-3">
            <a:extLst xmlns:a="http://schemas.openxmlformats.org/drawingml/2006/main">
              <a:ext uri="{FF2B5EF4-FFF2-40B4-BE49-F238E27FC236}">
                <a16:creationId xmlns:a16="http://schemas.microsoft.com/office/drawing/2014/main" id="{91C9AA10-128C-4ED0-8E5B-318ABBDA5DCE}"/>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组合操作是否符合具体账户合同，仍需券商确认全流程。本研究建立操作模型，未取得全面书面合规结论。</a:t>
            </a:r>
          </a:p>
        </p:txBody>
      </p:sp>
      <p:sp>
        <p:nvSpPr>
          <p:cNvPr id="5" name="text-4">
            <a:extLst xmlns:a="http://schemas.openxmlformats.org/drawingml/2006/main">
              <a:ext uri="{FF2B5EF4-FFF2-40B4-BE49-F238E27FC236}">
                <a16:creationId xmlns:a16="http://schemas.microsoft.com/office/drawing/2014/main" id="{13247B99-2E19-4277-80DD-0BE5813AFA44}"/>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06</a:t>
            </a:r>
          </a:p>
        </p:txBody>
      </p:sp>
      <p:sp>
        <p:nvSpPr>
          <p:cNvPr id="6" name="text-5">
            <a:extLst xmlns:a="http://schemas.openxmlformats.org/drawingml/2006/main">
              <a:ext uri="{FF2B5EF4-FFF2-40B4-BE49-F238E27FC236}">
                <a16:creationId xmlns:a16="http://schemas.microsoft.com/office/drawing/2014/main" id="{EEF1AE0C-43A4-457C-B286-B686BF89E5EB}"/>
              </a:ext>
            </a:extLst>
          </p:cNvPr>
          <p:cNvSpPr>
            <a:spLocks xmlns:a="http://schemas.openxmlformats.org/drawingml/2006/main" noGrp="1"/>
          </p:cNvSpPr>
          <p:nvPr/>
        </p:nvSpPr>
        <p:spPr>
          <a:xfrm xmlns:a="http://schemas.openxmlformats.org/drawingml/2006/main">
            <a:off x="857250" y="2333625"/>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普通账户</a:t>
            </a:r>
          </a:p>
        </p:txBody>
      </p:sp>
      <p:sp>
        <p:nvSpPr>
          <p:cNvPr id="7" name="text-6">
            <a:extLst xmlns:a="http://schemas.openxmlformats.org/drawingml/2006/main">
              <a:ext uri="{FF2B5EF4-FFF2-40B4-BE49-F238E27FC236}">
                <a16:creationId xmlns:a16="http://schemas.microsoft.com/office/drawing/2014/main" id="{E937674E-3618-495E-8D5A-143E4B559B9C}"/>
              </a:ext>
            </a:extLst>
          </p:cNvPr>
          <p:cNvSpPr>
            <a:spLocks xmlns:a="http://schemas.openxmlformats.org/drawingml/2006/main" noGrp="1"/>
          </p:cNvSpPr>
          <p:nvPr/>
        </p:nvSpPr>
        <p:spPr>
          <a:xfrm xmlns:a="http://schemas.openxmlformats.org/drawingml/2006/main">
            <a:off x="857250" y="2867025"/>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保留可支配现金、自有证券和生活储备。卖出自有</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纳指后，待交易结算、资金可取，再提现支付生活</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费。</a:t>
            </a:r>
          </a:p>
        </p:txBody>
      </p:sp>
      <p:sp>
        <p:nvSpPr>
          <p:cNvPr id="8" name="text-7">
            <a:extLst xmlns:a="http://schemas.openxmlformats.org/drawingml/2006/main">
              <a:ext uri="{FF2B5EF4-FFF2-40B4-BE49-F238E27FC236}">
                <a16:creationId xmlns:a16="http://schemas.microsoft.com/office/drawing/2014/main" id="{4F2AA381-A8A3-4A47-B35E-B5ED32652960}"/>
              </a:ext>
            </a:extLst>
          </p:cNvPr>
          <p:cNvSpPr>
            <a:spLocks xmlns:a="http://schemas.openxmlformats.org/drawingml/2006/main" noGrp="1"/>
          </p:cNvSpPr>
          <p:nvPr/>
        </p:nvSpPr>
        <p:spPr>
          <a:xfrm xmlns:a="http://schemas.openxmlformats.org/drawingml/2006/main">
            <a:off x="7953375" y="2333625"/>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信用账户</a:t>
            </a:r>
          </a:p>
        </p:txBody>
      </p:sp>
      <p:sp>
        <p:nvSpPr>
          <p:cNvPr id="9" name="text-8">
            <a:extLst xmlns:a="http://schemas.openxmlformats.org/drawingml/2006/main">
              <a:ext uri="{FF2B5EF4-FFF2-40B4-BE49-F238E27FC236}">
                <a16:creationId xmlns:a16="http://schemas.microsoft.com/office/drawing/2014/main" id="{7E238B78-B656-4957-BD55-26105DBCE133}"/>
              </a:ext>
            </a:extLst>
          </p:cNvPr>
          <p:cNvSpPr>
            <a:spLocks xmlns:a="http://schemas.openxmlformats.org/drawingml/2006/main" noGrp="1"/>
          </p:cNvSpPr>
          <p:nvPr/>
        </p:nvSpPr>
        <p:spPr>
          <a:xfrm xmlns:a="http://schemas.openxmlformats.org/drawingml/2006/main">
            <a:off x="7953375" y="2867025"/>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接收自有担保品，并向券商融资买入合格纳指</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标的。融资款只能用于证券购买，不能直接当生活</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费取出。</a:t>
            </a:r>
          </a:p>
        </p:txBody>
      </p:sp>
      <p:sp>
        <p:nvSpPr>
          <p:cNvPr id="10" name="text-9">
            <a:extLst xmlns:a="http://schemas.openxmlformats.org/drawingml/2006/main">
              <a:ext uri="{FF2B5EF4-FFF2-40B4-BE49-F238E27FC236}">
                <a16:creationId xmlns:a16="http://schemas.microsoft.com/office/drawing/2014/main" id="{AE0367A1-4694-4D14-BFAE-2CF3958119C8}"/>
              </a:ext>
            </a:extLst>
          </p:cNvPr>
          <p:cNvSpPr>
            <a:spLocks xmlns:a="http://schemas.openxmlformats.org/drawingml/2006/main" noGrp="1"/>
          </p:cNvSpPr>
          <p:nvPr/>
        </p:nvSpPr>
        <p:spPr>
          <a:xfrm xmlns:a="http://schemas.openxmlformats.org/drawingml/2006/main">
            <a:off x="857250" y="4686300"/>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合并看两个账户</a:t>
            </a:r>
          </a:p>
        </p:txBody>
      </p:sp>
      <p:sp>
        <p:nvSpPr>
          <p:cNvPr id="11" name="text-10">
            <a:extLst xmlns:a="http://schemas.openxmlformats.org/drawingml/2006/main">
              <a:ext uri="{FF2B5EF4-FFF2-40B4-BE49-F238E27FC236}">
                <a16:creationId xmlns:a16="http://schemas.microsoft.com/office/drawing/2014/main" id="{326280D8-3B3F-4519-A8BC-A3767E5F49E6}"/>
              </a:ext>
            </a:extLst>
          </p:cNvPr>
          <p:cNvSpPr>
            <a:spLocks xmlns:a="http://schemas.openxmlformats.org/drawingml/2006/main" noGrp="1"/>
          </p:cNvSpPr>
          <p:nvPr/>
        </p:nvSpPr>
        <p:spPr>
          <a:xfrm xmlns:a="http://schemas.openxmlformats.org/drawingml/2006/main">
            <a:off x="857250" y="5219700"/>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信用账户新增的纳指持仓，与普通账户卖出的等额</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纳指大体抵消。忽略价差和费用时，整体股票敞口</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基本不变，现金与负债同时增加。</a:t>
            </a:r>
          </a:p>
        </p:txBody>
      </p:sp>
      <p:sp>
        <p:nvSpPr>
          <p:cNvPr id="12" name="text-11">
            <a:extLst xmlns:a="http://schemas.openxmlformats.org/drawingml/2006/main">
              <a:ext uri="{FF2B5EF4-FFF2-40B4-BE49-F238E27FC236}">
                <a16:creationId xmlns:a16="http://schemas.microsoft.com/office/drawing/2014/main" id="{052BEFDE-81C0-4589-8C7B-A327BE4478A0}"/>
              </a:ext>
            </a:extLst>
          </p:cNvPr>
          <p:cNvSpPr>
            <a:spLocks xmlns:a="http://schemas.openxmlformats.org/drawingml/2006/main" noGrp="1"/>
          </p:cNvSpPr>
          <p:nvPr/>
        </p:nvSpPr>
        <p:spPr>
          <a:xfrm xmlns:a="http://schemas.openxmlformats.org/drawingml/2006/main">
            <a:off x="7953375" y="4686300"/>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操作成立的条件</a:t>
            </a:r>
          </a:p>
        </p:txBody>
      </p:sp>
      <p:sp>
        <p:nvSpPr>
          <p:cNvPr id="13" name="text-12">
            <a:extLst xmlns:a="http://schemas.openxmlformats.org/drawingml/2006/main">
              <a:ext uri="{FF2B5EF4-FFF2-40B4-BE49-F238E27FC236}">
                <a16:creationId xmlns:a16="http://schemas.microsoft.com/office/drawing/2014/main" id="{736DF205-82F1-40EF-8642-57F4F5758E94}"/>
              </a:ext>
            </a:extLst>
          </p:cNvPr>
          <p:cNvSpPr>
            <a:spLocks xmlns:a="http://schemas.openxmlformats.org/drawingml/2006/main" noGrp="1"/>
          </p:cNvSpPr>
          <p:nvPr/>
        </p:nvSpPr>
        <p:spPr>
          <a:xfrm xmlns:a="http://schemas.openxmlformats.org/drawingml/2006/main">
            <a:off x="7953375" y="5219700"/>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普通账户必须已有可卖资产，或信用账户能先划出</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自有担保品。证券资格、可用保证金、授信及转出</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条件必须同时满足。</a:t>
            </a:r>
          </a:p>
        </p:txBody>
      </p:sp>
    </p:spTree>
    <p:extLst>
      <p:ext uri="{BB962C8B-B14F-4D97-AF65-F5344CB8AC3E}">
        <p14:creationId xmlns:p14="http://schemas.microsoft.com/office/powerpoint/2010/main" val="365370185"/>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ADCAA071-26EC-4E5D-A37A-48FC8CC6BCE6}"/>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一年借出2万元，双账户怎样变化</a:t>
            </a:r>
          </a:p>
        </p:txBody>
      </p:sp>
      <p:sp>
        <p:nvSpPr>
          <p:cNvPr id="2" name="text-1">
            <a:extLst xmlns:a="http://schemas.openxmlformats.org/drawingml/2006/main">
              <a:ext uri="{FF2B5EF4-FFF2-40B4-BE49-F238E27FC236}">
                <a16:creationId xmlns:a16="http://schemas.microsoft.com/office/drawing/2014/main" id="{B28FD868-5EE5-4D35-BF03-F74FE1180BE8}"/>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70/30配置，初始100万元。单位：万元</a:t>
            </a:r>
          </a:p>
        </p:txBody>
      </p:sp>
      <p:sp>
        <p:nvSpPr>
          <p:cNvPr id="3" name="text-2">
            <a:extLst xmlns:a="http://schemas.openxmlformats.org/drawingml/2006/main">
              <a:ext uri="{FF2B5EF4-FFF2-40B4-BE49-F238E27FC236}">
                <a16:creationId xmlns:a16="http://schemas.microsoft.com/office/drawing/2014/main" id="{D7561EE5-5E64-4EE5-AC2A-68F485583141}"/>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股票敞口保留了，生活费也到账了，但债务增加，净资产减少。</a:t>
            </a:r>
          </a:p>
        </p:txBody>
      </p:sp>
      <p:sp>
        <p:nvSpPr>
          <p:cNvPr id="4" name="text-3">
            <a:extLst xmlns:a="http://schemas.openxmlformats.org/drawingml/2006/main">
              <a:ext uri="{FF2B5EF4-FFF2-40B4-BE49-F238E27FC236}">
                <a16:creationId xmlns:a16="http://schemas.microsoft.com/office/drawing/2014/main" id="{6E171A39-5134-4606-9DF3-EF1B271C861F}"/>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为解释资金守恒，忽略两天交收期间价差、交易费用和微量利息；实际交易必须通过转出检查。</a:t>
            </a:r>
          </a:p>
        </p:txBody>
      </p:sp>
      <p:sp>
        <p:nvSpPr>
          <p:cNvPr id="5" name="text-4">
            <a:extLst xmlns:a="http://schemas.openxmlformats.org/drawingml/2006/main">
              <a:ext uri="{FF2B5EF4-FFF2-40B4-BE49-F238E27FC236}">
                <a16:creationId xmlns:a16="http://schemas.microsoft.com/office/drawing/2014/main" id="{15732D06-C1FE-4C90-A6DA-E024A4A08174}"/>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07</a:t>
            </a:r>
          </a:p>
        </p:txBody>
      </p:sp>
      <p:graphicFrame>
        <p:nvGraphicFramePr>
          <p:cNvPr id="13" name=""/>
          <p:cNvGraphicFramePr/>
          <p:nvPr/>
        </p:nvGraphicFramePr>
        <p:xfrm>
          <a:off xmlns:a="http://schemas.openxmlformats.org/drawingml/2006/main" x="857250" y="2257425"/>
          <a:ext xmlns:a="http://schemas.openxmlformats.org/drawingml/2006/main" cx="13525500" cy="3238500"/>
        </p:xfrm>
        <a:graphic xmlns:a="http://schemas.openxmlformats.org/drawingml/2006/main">
          <a:graphicData uri="http://schemas.openxmlformats.org/drawingml/2006/table">
            <a:tbl>
              <a:tblPr firstRow="1" bandRow="0"/>
              <a:tblGrid>
                <a:gridCol w="4869180"/>
                <a:gridCol w="2164080"/>
                <a:gridCol w="2164080"/>
                <a:gridCol w="2164080"/>
                <a:gridCol w="2164080"/>
              </a:tblGrid>
              <a:tr h="533400">
                <a:tc>
                  <a:txBody>
                    <a:bodyPr wrap="square" lIns="161925" tIns="95250" rIns="161925" bIns="95250">
                      <a:noAutofit/>
                    </a:bodyPr>
                    <a:lstStyle/>
                    <a:p>
                      <a:pPr algn="l"/>
                      <a:r>
                        <a:rPr sz="1875" b="1">
                          <a:solidFill>
                            <a:srgbClr val="18323D"/>
                          </a:solidFill>
                          <a:latin typeface="Microsoft YaHei"/>
                          <a:ea typeface="Microsoft YaHei"/>
                          <a:cs typeface="Microsoft YaHei"/>
                        </a:rPr>
                        <a:t>操作状态</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普通现金</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信用股票</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本息负债</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合并净资产</a:t>
                      </a:r>
                    </a:p>
                  </a:txBody>
                  <a:tcPr marL="91440" marR="91440" marT="45720" marB="45720" anchor="ctr">
                    <a:solidFill>
                      <a:srgbClr val="E8EEEB"/>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初始配置</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30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70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100</a:t>
                      </a:r>
                    </a:p>
                  </a:txBody>
                  <a:tcPr marL="91440" marR="91440" marT="45720" marB="45720" anchor="ctr">
                    <a:solidFill>
                      <a:srgbClr val="FAFAF7"/>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融资买入2万元纳指</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30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72</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2</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100</a:t>
                      </a:r>
                    </a:p>
                  </a:txBody>
                  <a:tcPr marL="91440" marR="91440" marT="45720" marB="45720" anchor="ctr">
                    <a:solidFill>
                      <a:srgbClr val="FAFAF7"/>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划出并卖出2万元自有纳指</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32</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70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2</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100</a:t>
                      </a:r>
                    </a:p>
                  </a:txBody>
                  <a:tcPr marL="91440" marR="91440" marT="45720" marB="45720" anchor="ctr">
                    <a:solidFill>
                      <a:srgbClr val="FAFAF7"/>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支付一年生活费</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30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70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2</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98</a:t>
                      </a:r>
                    </a:p>
                  </a:txBody>
                  <a:tcPr marL="91440" marR="91440" marT="45720" marB="45720" anchor="ctr">
                    <a:solidFill>
                      <a:srgbClr val="FAFAF7"/>
                    </a:solidFill>
                  </a:tcPr>
                </a:tc>
              </a:tr>
            </a:tbl>
          </a:graphicData>
        </a:graphic>
      </p:graphicFrame>
      <p:sp>
        <p:nvSpPr>
          <p:cNvPr id="7" name="text-5">
            <a:extLst xmlns:a="http://schemas.openxmlformats.org/drawingml/2006/main">
              <a:ext uri="{FF2B5EF4-FFF2-40B4-BE49-F238E27FC236}">
                <a16:creationId xmlns:a16="http://schemas.microsoft.com/office/drawing/2014/main" id="{65C0A6DA-0925-4FF2-A4FA-4D8942F803A1}"/>
              </a:ext>
            </a:extLst>
          </p:cNvPr>
          <p:cNvSpPr>
            <a:spLocks xmlns:a="http://schemas.openxmlformats.org/drawingml/2006/main" noGrp="1"/>
          </p:cNvSpPr>
          <p:nvPr/>
        </p:nvSpPr>
        <p:spPr>
          <a:xfrm xmlns:a="http://schemas.openxmlformats.org/drawingml/2006/main">
            <a:off x="857250" y="5781675"/>
            <a:ext cx="13525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025" b="0">
                <a:solidFill>
                  <a:srgbClr val="384B53"/>
                </a:solidFill>
                <a:latin typeface="Microsoft YaHei"/>
                <a:ea typeface="Microsoft YaHei"/>
                <a:cs typeface="Microsoft YaHei"/>
              </a:defRPr>
            </a:pPr>
            <a:r>
              <a:rPr sz="2025" b="0">
                <a:solidFill>
                  <a:srgbClr val="384B53"/>
                </a:solidFill>
                <a:latin typeface="Microsoft YaHei"/>
                <a:ea typeface="Microsoft YaHei"/>
                <a:cs typeface="Microsoft YaHei"/>
              </a:rPr>
              <a:t>现金接力的初始股票放在信用账户。因此，第二步需要将可转出的自有股票划到普通账户，到账后再卖出。融资买入</a:t>
            </a:r>
          </a:p>
          <a:p xmlns:a="http://schemas.openxmlformats.org/drawingml/2006/main">
            <a:pPr algn="l">
              <a:lnSpc>
                <a:spcPct val="122000"/>
              </a:lnSpc>
              <a:buNone/>
              <a:defRPr sz="2025" b="0">
                <a:solidFill>
                  <a:srgbClr val="384B53"/>
                </a:solidFill>
                <a:latin typeface="Microsoft YaHei"/>
                <a:ea typeface="Microsoft YaHei"/>
                <a:cs typeface="Microsoft YaHei"/>
              </a:defRPr>
            </a:pPr>
            <a:r>
              <a:rPr sz="2025" b="0">
                <a:solidFill>
                  <a:srgbClr val="384B53"/>
                </a:solidFill>
                <a:latin typeface="Microsoft YaHei"/>
                <a:ea typeface="Microsoft YaHei"/>
                <a:cs typeface="Microsoft YaHei"/>
              </a:rPr>
              <a:t>的持仓与自有可转担保品必须分账，不能把所有股票都当成可自由转出。</a:t>
            </a:r>
          </a:p>
        </p:txBody>
      </p:sp>
    </p:spTree>
    <p:extLst>
      <p:ext uri="{BB962C8B-B14F-4D97-AF65-F5344CB8AC3E}">
        <p14:creationId xmlns:p14="http://schemas.microsoft.com/office/powerpoint/2010/main" val="1754369531"/>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DC24F3B0-44DB-4CF0-98A8-A6EA6B604241}"/>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2.8%单利挂息，债务怎样累积</a:t>
            </a:r>
          </a:p>
        </p:txBody>
      </p:sp>
      <p:sp>
        <p:nvSpPr>
          <p:cNvPr id="2" name="text-1">
            <a:extLst xmlns:a="http://schemas.openxmlformats.org/drawingml/2006/main">
              <a:ext uri="{FF2B5EF4-FFF2-40B4-BE49-F238E27FC236}">
                <a16:creationId xmlns:a16="http://schemas.microsoft.com/office/drawing/2014/main" id="{7FB0B41E-DAA5-4E87-B846-7F903C52BB07}"/>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每笔借款按自己的本金与存续天数计息，不能只看当年新增借款</a:t>
            </a:r>
          </a:p>
        </p:txBody>
      </p:sp>
      <p:sp>
        <p:nvSpPr>
          <p:cNvPr id="3" name="text-2">
            <a:extLst xmlns:a="http://schemas.openxmlformats.org/drawingml/2006/main">
              <a:ext uri="{FF2B5EF4-FFF2-40B4-BE49-F238E27FC236}">
                <a16:creationId xmlns:a16="http://schemas.microsoft.com/office/drawing/2014/main" id="{9BE0ACF8-688B-4B3B-BD04-554A10CC459A}"/>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长期挂息和2.8%是本项目采用的账户条件，不是所有券商的统一承诺。</a:t>
            </a:r>
          </a:p>
        </p:txBody>
      </p:sp>
      <p:sp>
        <p:nvSpPr>
          <p:cNvPr id="4" name="text-3">
            <a:extLst xmlns:a="http://schemas.openxmlformats.org/drawingml/2006/main">
              <a:ext uri="{FF2B5EF4-FFF2-40B4-BE49-F238E27FC236}">
                <a16:creationId xmlns:a16="http://schemas.microsoft.com/office/drawing/2014/main" id="{96302041-5B62-4979-8D9E-5B140ED204D8}"/>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长期单利挂息及当前展期条件来自研究者向国信经理确认的项目输入；真实执行以生效合同为准。</a:t>
            </a:r>
          </a:p>
        </p:txBody>
      </p:sp>
      <p:sp>
        <p:nvSpPr>
          <p:cNvPr id="5" name="text-4">
            <a:extLst xmlns:a="http://schemas.openxmlformats.org/drawingml/2006/main">
              <a:ext uri="{FF2B5EF4-FFF2-40B4-BE49-F238E27FC236}">
                <a16:creationId xmlns:a16="http://schemas.microsoft.com/office/drawing/2014/main" id="{8EE539E0-0D57-4B8E-86C7-587EC56FCC2C}"/>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08</a:t>
            </a:r>
          </a:p>
        </p:txBody>
      </p:sp>
      <p:sp>
        <p:nvSpPr>
          <p:cNvPr id="6" name="text-5">
            <a:extLst xmlns:a="http://schemas.openxmlformats.org/drawingml/2006/main">
              <a:ext uri="{FF2B5EF4-FFF2-40B4-BE49-F238E27FC236}">
                <a16:creationId xmlns:a16="http://schemas.microsoft.com/office/drawing/2014/main" id="{30C74550-8B0E-4297-A3DF-A124C632F5B2}"/>
              </a:ext>
            </a:extLst>
          </p:cNvPr>
          <p:cNvSpPr>
            <a:spLocks xmlns:a="http://schemas.openxmlformats.org/drawingml/2006/main" noGrp="1"/>
          </p:cNvSpPr>
          <p:nvPr/>
        </p:nvSpPr>
        <p:spPr>
          <a:xfrm xmlns:a="http://schemas.openxmlformats.org/drawingml/2006/main">
            <a:off x="857250" y="2333625"/>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模型的计息公式</a:t>
            </a:r>
          </a:p>
        </p:txBody>
      </p:sp>
      <p:sp>
        <p:nvSpPr>
          <p:cNvPr id="7" name="text-6">
            <a:extLst xmlns:a="http://schemas.openxmlformats.org/drawingml/2006/main">
              <a:ext uri="{FF2B5EF4-FFF2-40B4-BE49-F238E27FC236}">
                <a16:creationId xmlns:a16="http://schemas.microsoft.com/office/drawing/2014/main" id="{BA8A11BD-ABED-4323-A6B1-87173BB36E43}"/>
              </a:ext>
            </a:extLst>
          </p:cNvPr>
          <p:cNvSpPr>
            <a:spLocks xmlns:a="http://schemas.openxmlformats.org/drawingml/2006/main" noGrp="1"/>
          </p:cNvSpPr>
          <p:nvPr/>
        </p:nvSpPr>
        <p:spPr>
          <a:xfrm xmlns:a="http://schemas.openxmlformats.org/drawingml/2006/main">
            <a:off x="857250" y="2867025"/>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新增利息＝未偿本金×2.8%×实际天数÷365。未付</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利息计入总负债，影响维持率，但不加入下一期计</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息本金。</a:t>
            </a:r>
          </a:p>
        </p:txBody>
      </p:sp>
      <p:sp>
        <p:nvSpPr>
          <p:cNvPr id="8" name="text-7">
            <a:extLst xmlns:a="http://schemas.openxmlformats.org/drawingml/2006/main">
              <a:ext uri="{FF2B5EF4-FFF2-40B4-BE49-F238E27FC236}">
                <a16:creationId xmlns:a16="http://schemas.microsoft.com/office/drawing/2014/main" id="{9E308588-37DA-4BD6-9423-DB3D290AAE2D}"/>
              </a:ext>
            </a:extLst>
          </p:cNvPr>
          <p:cNvSpPr>
            <a:spLocks xmlns:a="http://schemas.openxmlformats.org/drawingml/2006/main" noGrp="1"/>
          </p:cNvSpPr>
          <p:nvPr/>
        </p:nvSpPr>
        <p:spPr>
          <a:xfrm xmlns:a="http://schemas.openxmlformats.org/drawingml/2006/main">
            <a:off x="7953375" y="2333625"/>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一笔借款的例子</a:t>
            </a:r>
          </a:p>
        </p:txBody>
      </p:sp>
      <p:sp>
        <p:nvSpPr>
          <p:cNvPr id="9" name="text-8">
            <a:extLst xmlns:a="http://schemas.openxmlformats.org/drawingml/2006/main">
              <a:ext uri="{FF2B5EF4-FFF2-40B4-BE49-F238E27FC236}">
                <a16:creationId xmlns:a16="http://schemas.microsoft.com/office/drawing/2014/main" id="{AA3C0447-C419-4096-BEC8-7301772B11DE}"/>
              </a:ext>
            </a:extLst>
          </p:cNvPr>
          <p:cNvSpPr>
            <a:spLocks xmlns:a="http://schemas.openxmlformats.org/drawingml/2006/main" noGrp="1"/>
          </p:cNvSpPr>
          <p:nvPr/>
        </p:nvSpPr>
        <p:spPr>
          <a:xfrm xmlns:a="http://schemas.openxmlformats.org/drawingml/2006/main">
            <a:off x="7953375" y="2867025"/>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借入2万元，固定2.8%单利挂息10年，该笔利息约</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5,600元，总债务约25,600元。若每年继续借款，总</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利息应按各笔期限分别累计。</a:t>
            </a:r>
          </a:p>
        </p:txBody>
      </p:sp>
      <p:sp>
        <p:nvSpPr>
          <p:cNvPr id="10" name="text-9">
            <a:extLst xmlns:a="http://schemas.openxmlformats.org/drawingml/2006/main">
              <a:ext uri="{FF2B5EF4-FFF2-40B4-BE49-F238E27FC236}">
                <a16:creationId xmlns:a16="http://schemas.microsoft.com/office/drawing/2014/main" id="{5BAF9C05-E205-4ED2-B894-0EB61359FAE0}"/>
              </a:ext>
            </a:extLst>
          </p:cNvPr>
          <p:cNvSpPr>
            <a:spLocks xmlns:a="http://schemas.openxmlformats.org/drawingml/2006/main" noGrp="1"/>
          </p:cNvSpPr>
          <p:nvPr/>
        </p:nvSpPr>
        <p:spPr>
          <a:xfrm xmlns:a="http://schemas.openxmlformats.org/drawingml/2006/main">
            <a:off x="857250" y="4686300"/>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单利与复利的区别</a:t>
            </a:r>
          </a:p>
        </p:txBody>
      </p:sp>
      <p:sp>
        <p:nvSpPr>
          <p:cNvPr id="11" name="text-10">
            <a:extLst xmlns:a="http://schemas.openxmlformats.org/drawingml/2006/main">
              <a:ext uri="{FF2B5EF4-FFF2-40B4-BE49-F238E27FC236}">
                <a16:creationId xmlns:a16="http://schemas.microsoft.com/office/drawing/2014/main" id="{AA72D2B2-0196-46EE-B611-43B197793855}"/>
              </a:ext>
            </a:extLst>
          </p:cNvPr>
          <p:cNvSpPr>
            <a:spLocks xmlns:a="http://schemas.openxmlformats.org/drawingml/2006/main" noGrp="1"/>
          </p:cNvSpPr>
          <p:nvPr/>
        </p:nvSpPr>
        <p:spPr>
          <a:xfrm xmlns:a="http://schemas.openxmlformats.org/drawingml/2006/main">
            <a:off x="857250" y="5219700"/>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利息资本化会把未付利息并入计息本金。现金接力</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主模型采用单利；本研究PAL对照采用3%复利，因</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此两者债务路径不同。</a:t>
            </a:r>
          </a:p>
        </p:txBody>
      </p:sp>
      <p:sp>
        <p:nvSpPr>
          <p:cNvPr id="12" name="text-11">
            <a:extLst xmlns:a="http://schemas.openxmlformats.org/drawingml/2006/main">
              <a:ext uri="{FF2B5EF4-FFF2-40B4-BE49-F238E27FC236}">
                <a16:creationId xmlns:a16="http://schemas.microsoft.com/office/drawing/2014/main" id="{17B10315-93D6-4E3E-807B-D681FAD23DAE}"/>
              </a:ext>
            </a:extLst>
          </p:cNvPr>
          <p:cNvSpPr>
            <a:spLocks xmlns:a="http://schemas.openxmlformats.org/drawingml/2006/main" noGrp="1"/>
          </p:cNvSpPr>
          <p:nvPr/>
        </p:nvSpPr>
        <p:spPr>
          <a:xfrm xmlns:a="http://schemas.openxmlformats.org/drawingml/2006/main">
            <a:off x="7953375" y="4686300"/>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半年期与展期</a:t>
            </a:r>
          </a:p>
        </p:txBody>
      </p:sp>
      <p:sp>
        <p:nvSpPr>
          <p:cNvPr id="13" name="text-12">
            <a:extLst xmlns:a="http://schemas.openxmlformats.org/drawingml/2006/main">
              <a:ext uri="{FF2B5EF4-FFF2-40B4-BE49-F238E27FC236}">
                <a16:creationId xmlns:a16="http://schemas.microsoft.com/office/drawing/2014/main" id="{7C5BEC15-4F3C-47FC-88D4-C1D11D70E58E}"/>
              </a:ext>
            </a:extLst>
          </p:cNvPr>
          <p:cNvSpPr>
            <a:spLocks xmlns:a="http://schemas.openxmlformats.org/drawingml/2006/main" noGrp="1"/>
          </p:cNvSpPr>
          <p:nvPr/>
        </p:nvSpPr>
        <p:spPr>
          <a:xfrm xmlns:a="http://schemas.openxmlformats.org/drawingml/2006/main">
            <a:off x="7953375" y="5219700"/>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每笔合约半年期，模型按约定检查展期。可申请续</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约不等于永久授信，券商仍可能评估信用、担保、</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额度及合同条件。</a:t>
            </a:r>
          </a:p>
        </p:txBody>
      </p:sp>
    </p:spTree>
    <p:extLst>
      <p:ext uri="{BB962C8B-B14F-4D97-AF65-F5344CB8AC3E}">
        <p14:creationId xmlns:p14="http://schemas.microsoft.com/office/powerpoint/2010/main" val="1664376891"/>
      </p:ext>
    </p:extLst>
  </p:cSld>
</p:sld>
</file>

<file path=ppt/slides/slide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BB83CEFC-D9D1-456B-824C-6445ED046F7E}"/>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融资标的、担保品与保证金不能混为一谈</a:t>
            </a:r>
          </a:p>
        </p:txBody>
      </p:sp>
      <p:sp>
        <p:nvSpPr>
          <p:cNvPr id="2" name="text-1">
            <a:extLst xmlns:a="http://schemas.openxmlformats.org/drawingml/2006/main">
              <a:ext uri="{FF2B5EF4-FFF2-40B4-BE49-F238E27FC236}">
                <a16:creationId xmlns:a16="http://schemas.microsoft.com/office/drawing/2014/main" id="{976A86BE-B80A-465C-A0DB-5289CF10BA5E}"/>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证券可以买入、可以充抵保证金，并不等于随时能借到想要的金额</a:t>
            </a:r>
          </a:p>
        </p:txBody>
      </p:sp>
      <p:sp>
        <p:nvSpPr>
          <p:cNvPr id="3" name="text-2">
            <a:extLst xmlns:a="http://schemas.openxmlformats.org/drawingml/2006/main">
              <a:ext uri="{FF2B5EF4-FFF2-40B4-BE49-F238E27FC236}">
                <a16:creationId xmlns:a16="http://schemas.microsoft.com/office/drawing/2014/main" id="{825ADBDB-1A22-4474-BF7B-2B8821220D6C}"/>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融资资格决定能买什么，折算与保证金决定还能借多少。</a:t>
            </a:r>
          </a:p>
        </p:txBody>
      </p:sp>
      <p:sp>
        <p:nvSpPr>
          <p:cNvPr id="4" name="text-3">
            <a:extLst xmlns:a="http://schemas.openxmlformats.org/drawingml/2006/main">
              <a:ext uri="{FF2B5EF4-FFF2-40B4-BE49-F238E27FC236}">
                <a16:creationId xmlns:a16="http://schemas.microsoft.com/office/drawing/2014/main" id="{84B86A74-D152-496F-91D8-C1DE248AE34A}"/>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2026-01-19起新融资最低保证金比例100%，券商可更严格；现金类证券90%是模型参数，不等于现金本身的规则。</a:t>
            </a:r>
          </a:p>
        </p:txBody>
      </p:sp>
      <p:sp>
        <p:nvSpPr>
          <p:cNvPr id="5" name="text-4">
            <a:extLst xmlns:a="http://schemas.openxmlformats.org/drawingml/2006/main">
              <a:ext uri="{FF2B5EF4-FFF2-40B4-BE49-F238E27FC236}">
                <a16:creationId xmlns:a16="http://schemas.microsoft.com/office/drawing/2014/main" id="{3F939743-C8B8-454E-A745-BEFE8E9C5028}"/>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09</a:t>
            </a:r>
          </a:p>
        </p:txBody>
      </p:sp>
      <p:graphicFrame>
        <p:nvGraphicFramePr>
          <p:cNvPr id="13" name=""/>
          <p:cNvGraphicFramePr/>
          <p:nvPr/>
        </p:nvGraphicFramePr>
        <p:xfrm>
          <a:off xmlns:a="http://schemas.openxmlformats.org/drawingml/2006/main" x="857250" y="2257425"/>
          <a:ext xmlns:a="http://schemas.openxmlformats.org/drawingml/2006/main" cx="13525500" cy="3238500"/>
        </p:xfrm>
        <a:graphic xmlns:a="http://schemas.openxmlformats.org/drawingml/2006/main">
          <a:graphicData uri="http://schemas.openxmlformats.org/drawingml/2006/table">
            <a:tbl>
              <a:tblPr firstRow="1" bandRow="0"/>
              <a:tblGrid>
                <a:gridCol w="3110865"/>
                <a:gridCol w="4733925"/>
                <a:gridCol w="5680710"/>
              </a:tblGrid>
              <a:tr h="533400">
                <a:tc>
                  <a:txBody>
                    <a:bodyPr wrap="square" lIns="161925" tIns="95250" rIns="161925" bIns="95250">
                      <a:noAutofit/>
                    </a:bodyPr>
                    <a:lstStyle/>
                    <a:p>
                      <a:pPr algn="l"/>
                      <a:r>
                        <a:rPr sz="1875" b="1">
                          <a:solidFill>
                            <a:srgbClr val="18323D"/>
                          </a:solidFill>
                          <a:latin typeface="Microsoft YaHei"/>
                          <a:ea typeface="Microsoft YaHei"/>
                          <a:cs typeface="Microsoft YaHei"/>
                        </a:rPr>
                        <a:t>概念</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本研究的处理</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为什么仍需检查</a:t>
                      </a:r>
                    </a:p>
                  </a:txBody>
                  <a:tcPr marL="91440" marR="91440" marT="45720" marB="45720" anchor="ctr">
                    <a:solidFill>
                      <a:srgbClr val="E8EEEB"/>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是否为融资标的</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纳指ETF及现金类证券逐只核对</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不在当期名单内，就不能用融资买入</a:t>
                      </a:r>
                    </a:p>
                  </a:txBody>
                  <a:tcPr marL="91440" marR="91440" marT="45720" marB="45720" anchor="ctr">
                    <a:solidFill>
                      <a:srgbClr val="FAFAF7"/>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是否可作担保品</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必须在券商可充抵保证金范围内</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普通账户的银行理财不能直接当证券担保品</a:t>
                      </a:r>
                    </a:p>
                  </a:txBody>
                  <a:tcPr marL="91440" marR="91440" marT="45720" marB="45720" anchor="ctr">
                    <a:solidFill>
                      <a:srgbClr val="FAFAF7"/>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融资保证金比例</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新融资按100%计算</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仍占用保证金，可用余额必须足够</a:t>
                      </a:r>
                    </a:p>
                  </a:txBody>
                  <a:tcPr marL="91440" marR="91440" marT="45720" marB="45720" anchor="ctr">
                    <a:solidFill>
                      <a:srgbClr val="FAFAF7"/>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担保品折算率</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股票类70%，现金类证券90%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影响可借额度，不能因维持率较高就忽略</a:t>
                      </a:r>
                    </a:p>
                  </a:txBody>
                  <a:tcPr marL="91440" marR="91440" marT="45720" marB="45720" anchor="ctr">
                    <a:solidFill>
                      <a:srgbClr val="FAFAF7"/>
                    </a:solidFill>
                  </a:tcPr>
                </a:tc>
              </a:tr>
            </a:tbl>
          </a:graphicData>
        </a:graphic>
      </p:graphicFrame>
      <p:sp>
        <p:nvSpPr>
          <p:cNvPr id="7" name="text-5">
            <a:extLst xmlns:a="http://schemas.openxmlformats.org/drawingml/2006/main">
              <a:ext uri="{FF2B5EF4-FFF2-40B4-BE49-F238E27FC236}">
                <a16:creationId xmlns:a16="http://schemas.microsoft.com/office/drawing/2014/main" id="{685919EF-3760-469C-99B3-07F68FCDA449}"/>
              </a:ext>
            </a:extLst>
          </p:cNvPr>
          <p:cNvSpPr>
            <a:spLocks xmlns:a="http://schemas.openxmlformats.org/drawingml/2006/main" noGrp="1"/>
          </p:cNvSpPr>
          <p:nvPr/>
        </p:nvSpPr>
        <p:spPr>
          <a:xfrm xmlns:a="http://schemas.openxmlformats.org/drawingml/2006/main">
            <a:off x="857250" y="5781675"/>
            <a:ext cx="13525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025" b="0">
                <a:solidFill>
                  <a:srgbClr val="384B53"/>
                </a:solidFill>
                <a:latin typeface="Microsoft YaHei"/>
                <a:ea typeface="Microsoft YaHei"/>
                <a:cs typeface="Microsoft YaHei"/>
              </a:defRPr>
            </a:pPr>
            <a:r>
              <a:rPr sz="2025" b="0">
                <a:solidFill>
                  <a:srgbClr val="384B53"/>
                </a:solidFill>
                <a:latin typeface="Microsoft YaHei"/>
                <a:ea typeface="Microsoft YaHei"/>
                <a:cs typeface="Microsoft YaHei"/>
              </a:rPr>
              <a:t>513100、159501、159696为研究拟用产品，历史回测并未使用这些产品的人民币成交价。集中度在本研究中不作</a:t>
            </a:r>
          </a:p>
          <a:p xmlns:a="http://schemas.openxmlformats.org/drawingml/2006/main">
            <a:pPr algn="l">
              <a:lnSpc>
                <a:spcPct val="122000"/>
              </a:lnSpc>
              <a:buNone/>
              <a:defRPr sz="2025" b="0">
                <a:solidFill>
                  <a:srgbClr val="384B53"/>
                </a:solidFill>
                <a:latin typeface="Microsoft YaHei"/>
                <a:ea typeface="Microsoft YaHei"/>
                <a:cs typeface="Microsoft YaHei"/>
              </a:defRPr>
            </a:pPr>
            <a:r>
              <a:rPr sz="2025" b="0">
                <a:solidFill>
                  <a:srgbClr val="384B53"/>
                </a:solidFill>
                <a:latin typeface="Microsoft YaHei"/>
                <a:ea typeface="Microsoft YaHei"/>
                <a:cs typeface="Microsoft YaHei"/>
              </a:rPr>
              <a:t>主要限制展开，但具体资格、折算和集中度仍可能随账户与时间变化。</a:t>
            </a:r>
          </a:p>
        </p:txBody>
      </p:sp>
    </p:spTree>
    <p:extLst>
      <p:ext uri="{BB962C8B-B14F-4D97-AF65-F5344CB8AC3E}">
        <p14:creationId xmlns:p14="http://schemas.microsoft.com/office/powerpoint/2010/main" val="1930301168"/>
      </p:ext>
    </p:extLst>
  </p:cSld>
</p:sld>
</file>

<file path=ppt/slides/slide1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E6B1436A-8D05-4D4D-AAB0-36F75587E341}"/>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维持率：140%与300%分别限制什么</a:t>
            </a:r>
          </a:p>
        </p:txBody>
      </p:sp>
      <p:sp>
        <p:nvSpPr>
          <p:cNvPr id="2" name="text-1">
            <a:extLst xmlns:a="http://schemas.openxmlformats.org/drawingml/2006/main">
              <a:ext uri="{FF2B5EF4-FFF2-40B4-BE49-F238E27FC236}">
                <a16:creationId xmlns:a16="http://schemas.microsoft.com/office/drawing/2014/main" id="{A1B75D3C-547D-42D8-A164-53C1EF0958FA}"/>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维持担保比例＝信用账户资产市值÷（融资本金＋应计利息及费用）</a:t>
            </a:r>
          </a:p>
        </p:txBody>
      </p:sp>
      <p:sp>
        <p:nvSpPr>
          <p:cNvPr id="3" name="text-2">
            <a:extLst xmlns:a="http://schemas.openxmlformats.org/drawingml/2006/main">
              <a:ext uri="{FF2B5EF4-FFF2-40B4-BE49-F238E27FC236}">
                <a16:creationId xmlns:a16="http://schemas.microsoft.com/office/drawing/2014/main" id="{A23124E9-BAFF-4DFA-B0DD-F35E69B8B706}"/>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300%是担保品转出的门槛之一，不能视为所有新增融资的统一法定门槛。</a:t>
            </a:r>
          </a:p>
        </p:txBody>
      </p:sp>
      <p:sp>
        <p:nvSpPr>
          <p:cNvPr id="4" name="text-3">
            <a:extLst xmlns:a="http://schemas.openxmlformats.org/drawingml/2006/main">
              <a:ext uri="{FF2B5EF4-FFF2-40B4-BE49-F238E27FC236}">
                <a16:creationId xmlns:a16="http://schemas.microsoft.com/office/drawing/2014/main" id="{1D67084C-181F-4715-B801-F1CCAAFEA4D6}"/>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最低维持担保要求由券商按合同约定；本页采用纯融资、无融券和无其他担保物的简化公式。</a:t>
            </a:r>
          </a:p>
        </p:txBody>
      </p:sp>
      <p:sp>
        <p:nvSpPr>
          <p:cNvPr id="5" name="text-4">
            <a:extLst xmlns:a="http://schemas.openxmlformats.org/drawingml/2006/main">
              <a:ext uri="{FF2B5EF4-FFF2-40B4-BE49-F238E27FC236}">
                <a16:creationId xmlns:a16="http://schemas.microsoft.com/office/drawing/2014/main" id="{F41D14CD-5559-4101-8590-D1EB68537151}"/>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10</a:t>
            </a:r>
          </a:p>
        </p:txBody>
      </p:sp>
      <p:graphicFrame>
        <p:nvGraphicFramePr>
          <p:cNvPr id="13" name=""/>
          <p:cNvGraphicFramePr/>
          <p:nvPr/>
        </p:nvGraphicFramePr>
        <p:xfrm>
          <a:off xmlns:a="http://schemas.openxmlformats.org/drawingml/2006/main" x="857250" y="2257425"/>
          <a:ext xmlns:a="http://schemas.openxmlformats.org/drawingml/2006/main" cx="13525500" cy="3238500"/>
        </p:xfrm>
        <a:graphic xmlns:a="http://schemas.openxmlformats.org/drawingml/2006/main">
          <a:graphicData uri="http://schemas.openxmlformats.org/drawingml/2006/table">
            <a:tbl>
              <a:tblPr firstRow="1" bandRow="0"/>
              <a:tblGrid>
                <a:gridCol w="3246120"/>
                <a:gridCol w="5139690"/>
                <a:gridCol w="5139690"/>
              </a:tblGrid>
              <a:tr h="533400">
                <a:tc>
                  <a:txBody>
                    <a:bodyPr wrap="square" lIns="161925" tIns="95250" rIns="161925" bIns="95250">
                      <a:noAutofit/>
                    </a:bodyPr>
                    <a:lstStyle/>
                    <a:p>
                      <a:pPr algn="l"/>
                      <a:r>
                        <a:rPr sz="1875" b="1">
                          <a:solidFill>
                            <a:srgbClr val="18323D"/>
                          </a:solidFill>
                          <a:latin typeface="Microsoft YaHei"/>
                          <a:ea typeface="Microsoft YaHei"/>
                          <a:cs typeface="Microsoft YaHei"/>
                        </a:rPr>
                        <a:t>比例或要求</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含义</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本研究采用方式</a:t>
                      </a:r>
                    </a:p>
                  </a:txBody>
                  <a:tcPr marL="91440" marR="91440" marT="45720" marB="45720" anchor="ctr">
                    <a:solidFill>
                      <a:srgbClr val="E8EEEB"/>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150% / 140% / 130%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本项目采用的预警、警戒、平仓分档</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不将其视为全国统一风控线</a:t>
                      </a:r>
                    </a:p>
                  </a:txBody>
                  <a:tcPr marL="91440" marR="91440" marT="45720" marB="45720" anchor="ctr">
                    <a:solidFill>
                      <a:srgbClr val="FAFAF7"/>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140%研究停止线</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低于此线记信用风险失败</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比本项目采用的130%平仓线更严格</a:t>
                      </a:r>
                    </a:p>
                  </a:txBody>
                  <a:tcPr marL="91440" marR="91440" marT="45720" marB="45720" anchor="ctr">
                    <a:solidFill>
                      <a:srgbClr val="FAFAF7"/>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转出后至少300%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满足条件才能从信用账户取担保品</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约束融资生活和卖股补现金</a:t>
                      </a:r>
                    </a:p>
                  </a:txBody>
                  <a:tcPr marL="91440" marR="91440" marT="45720" marB="45720" anchor="ctr">
                    <a:solidFill>
                      <a:srgbClr val="FAFAF7"/>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保证金、自有库存、授信</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新融资和担保品转出的其他条件</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单看维持率不足以判断能否操作</a:t>
                      </a:r>
                    </a:p>
                  </a:txBody>
                  <a:tcPr marL="91440" marR="91440" marT="45720" marB="45720" anchor="ctr">
                    <a:solidFill>
                      <a:srgbClr val="FAFAF7"/>
                    </a:solidFill>
                  </a:tcPr>
                </a:tc>
              </a:tr>
            </a:tbl>
          </a:graphicData>
        </a:graphic>
      </p:graphicFrame>
      <p:sp>
        <p:nvSpPr>
          <p:cNvPr id="7" name="text-5">
            <a:extLst xmlns:a="http://schemas.openxmlformats.org/drawingml/2006/main">
              <a:ext uri="{FF2B5EF4-FFF2-40B4-BE49-F238E27FC236}">
                <a16:creationId xmlns:a16="http://schemas.microsoft.com/office/drawing/2014/main" id="{1E91923B-DD20-4DD0-8796-39273688CDFF}"/>
              </a:ext>
            </a:extLst>
          </p:cNvPr>
          <p:cNvSpPr>
            <a:spLocks xmlns:a="http://schemas.openxmlformats.org/drawingml/2006/main" noGrp="1"/>
          </p:cNvSpPr>
          <p:nvPr/>
        </p:nvSpPr>
        <p:spPr>
          <a:xfrm xmlns:a="http://schemas.openxmlformats.org/drawingml/2006/main">
            <a:off x="857250" y="5781675"/>
            <a:ext cx="13525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025" b="0">
                <a:solidFill>
                  <a:srgbClr val="384B53"/>
                </a:solidFill>
                <a:latin typeface="Microsoft YaHei"/>
                <a:ea typeface="Microsoft YaHei"/>
                <a:cs typeface="Microsoft YaHei"/>
              </a:defRPr>
            </a:pPr>
            <a:r>
              <a:rPr sz="2025" b="0">
                <a:solidFill>
                  <a:srgbClr val="384B53"/>
                </a:solidFill>
                <a:latin typeface="Microsoft YaHei"/>
                <a:ea typeface="Microsoft YaHei"/>
                <a:cs typeface="Microsoft YaHei"/>
              </a:rPr>
              <a:t>信用账户里的自有担保品、融资买入证券和现金均进入分子。普通账户及尚未到账的在途资产不计入；现金类证券已</a:t>
            </a:r>
          </a:p>
          <a:p xmlns:a="http://schemas.openxmlformats.org/drawingml/2006/main">
            <a:pPr algn="l">
              <a:lnSpc>
                <a:spcPct val="122000"/>
              </a:lnSpc>
              <a:buNone/>
              <a:defRPr sz="2025" b="0">
                <a:solidFill>
                  <a:srgbClr val="384B53"/>
                </a:solidFill>
                <a:latin typeface="Microsoft YaHei"/>
                <a:ea typeface="Microsoft YaHei"/>
                <a:cs typeface="Microsoft YaHei"/>
              </a:defRPr>
            </a:pPr>
            <a:r>
              <a:rPr sz="2025" b="0">
                <a:solidFill>
                  <a:srgbClr val="384B53"/>
                </a:solidFill>
                <a:latin typeface="Microsoft YaHei"/>
                <a:ea typeface="Microsoft YaHei"/>
                <a:cs typeface="Microsoft YaHei"/>
              </a:rPr>
              <a:t>经补进信用账户后，也不能再当普通生活现金重复使用。</a:t>
            </a:r>
          </a:p>
        </p:txBody>
      </p:sp>
    </p:spTree>
    <p:extLst>
      <p:ext uri="{BB962C8B-B14F-4D97-AF65-F5344CB8AC3E}">
        <p14:creationId xmlns:p14="http://schemas.microsoft.com/office/powerpoint/2010/main" val="1961302728"/>
      </p:ext>
    </p:extLst>
  </p:cSld>
</p:sld>
</file>

<file path=ppt/slides/slide1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F5A954A2-9F35-46A4-B24F-C4ECA00EFBDD}"/>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障碍一：再平衡可能打破“零还款”</a:t>
            </a:r>
          </a:p>
        </p:txBody>
      </p:sp>
      <p:sp>
        <p:nvSpPr>
          <p:cNvPr id="2" name="text-1">
            <a:extLst xmlns:a="http://schemas.openxmlformats.org/drawingml/2006/main">
              <a:ext uri="{FF2B5EF4-FFF2-40B4-BE49-F238E27FC236}">
                <a16:creationId xmlns:a16="http://schemas.microsoft.com/office/drawing/2014/main" id="{225A3B0F-446F-4462-896C-1B2A705E0B7F}"/>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资产分在两个账户，调仓灵活性与自由账户不同</a:t>
            </a:r>
          </a:p>
        </p:txBody>
      </p:sp>
      <p:sp>
        <p:nvSpPr>
          <p:cNvPr id="3" name="text-2">
            <a:extLst xmlns:a="http://schemas.openxmlformats.org/drawingml/2006/main">
              <a:ext uri="{FF2B5EF4-FFF2-40B4-BE49-F238E27FC236}">
                <a16:creationId xmlns:a16="http://schemas.microsoft.com/office/drawing/2014/main" id="{9659E916-8A10-44A1-AFBD-F1E648E324DF}"/>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主版本追求有条件再平衡，不承诺每年精确恢复70/30或80/20。</a:t>
            </a:r>
          </a:p>
        </p:txBody>
      </p:sp>
      <p:sp>
        <p:nvSpPr>
          <p:cNvPr id="4" name="text-3">
            <a:extLst xmlns:a="http://schemas.openxmlformats.org/drawingml/2006/main">
              <a:ext uri="{FF2B5EF4-FFF2-40B4-BE49-F238E27FC236}">
                <a16:creationId xmlns:a16="http://schemas.microsoft.com/office/drawing/2014/main" id="{19C1C11F-9F8D-4304-BF41-6444B4F7A4D1}"/>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卖券偿债再融资是另一个可研究分支，不能将其记作本息零偿还。具体现金扣息顺序以券商系统与合同为准。</a:t>
            </a:r>
          </a:p>
        </p:txBody>
      </p:sp>
      <p:sp>
        <p:nvSpPr>
          <p:cNvPr id="5" name="text-4">
            <a:extLst xmlns:a="http://schemas.openxmlformats.org/drawingml/2006/main">
              <a:ext uri="{FF2B5EF4-FFF2-40B4-BE49-F238E27FC236}">
                <a16:creationId xmlns:a16="http://schemas.microsoft.com/office/drawing/2014/main" id="{1A43D105-FD23-497A-BD55-8EB9603961E1}"/>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11</a:t>
            </a:r>
          </a:p>
        </p:txBody>
      </p:sp>
      <p:sp>
        <p:nvSpPr>
          <p:cNvPr id="6" name="text-5">
            <a:extLst xmlns:a="http://schemas.openxmlformats.org/drawingml/2006/main">
              <a:ext uri="{FF2B5EF4-FFF2-40B4-BE49-F238E27FC236}">
                <a16:creationId xmlns:a16="http://schemas.microsoft.com/office/drawing/2014/main" id="{61A95D65-579F-46BB-BE5A-DE422ABDC698}"/>
              </a:ext>
            </a:extLst>
          </p:cNvPr>
          <p:cNvSpPr>
            <a:spLocks xmlns:a="http://schemas.openxmlformats.org/drawingml/2006/main" noGrp="1"/>
          </p:cNvSpPr>
          <p:nvPr/>
        </p:nvSpPr>
        <p:spPr>
          <a:xfrm xmlns:a="http://schemas.openxmlformats.org/drawingml/2006/main">
            <a:off x="857250" y="2333625"/>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先争取在普通账户调仓</a:t>
            </a:r>
          </a:p>
        </p:txBody>
      </p:sp>
      <p:sp>
        <p:nvSpPr>
          <p:cNvPr id="7" name="text-6">
            <a:extLst xmlns:a="http://schemas.openxmlformats.org/drawingml/2006/main">
              <a:ext uri="{FF2B5EF4-FFF2-40B4-BE49-F238E27FC236}">
                <a16:creationId xmlns:a16="http://schemas.microsoft.com/office/drawing/2014/main" id="{849F57A5-57F3-47C9-87BD-1E5283461E82}"/>
              </a:ext>
            </a:extLst>
          </p:cNvPr>
          <p:cNvSpPr>
            <a:spLocks xmlns:a="http://schemas.openxmlformats.org/drawingml/2006/main" noGrp="1"/>
          </p:cNvSpPr>
          <p:nvPr/>
        </p:nvSpPr>
        <p:spPr>
          <a:xfrm xmlns:a="http://schemas.openxmlformats.org/drawingml/2006/main">
            <a:off x="857250" y="2867025"/>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普通账户仍有足够股票和现金时，可通过普通买卖</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调整整体比例，避免信用账户出现触发偿债的</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现金。</a:t>
            </a:r>
          </a:p>
        </p:txBody>
      </p:sp>
      <p:sp>
        <p:nvSpPr>
          <p:cNvPr id="8" name="text-7">
            <a:extLst xmlns:a="http://schemas.openxmlformats.org/drawingml/2006/main">
              <a:ext uri="{FF2B5EF4-FFF2-40B4-BE49-F238E27FC236}">
                <a16:creationId xmlns:a16="http://schemas.microsoft.com/office/drawing/2014/main" id="{30E8A92E-7CA5-489E-913F-9D8512CF64A0}"/>
              </a:ext>
            </a:extLst>
          </p:cNvPr>
          <p:cNvSpPr>
            <a:spLocks xmlns:a="http://schemas.openxmlformats.org/drawingml/2006/main" noGrp="1"/>
          </p:cNvSpPr>
          <p:nvPr/>
        </p:nvSpPr>
        <p:spPr>
          <a:xfrm xmlns:a="http://schemas.openxmlformats.org/drawingml/2006/main">
            <a:off x="7953375" y="2333625"/>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卖出信用持仓会有影响</a:t>
            </a:r>
          </a:p>
        </p:txBody>
      </p:sp>
      <p:sp>
        <p:nvSpPr>
          <p:cNvPr id="9" name="text-8">
            <a:extLst xmlns:a="http://schemas.openxmlformats.org/drawingml/2006/main">
              <a:ext uri="{FF2B5EF4-FFF2-40B4-BE49-F238E27FC236}">
                <a16:creationId xmlns:a16="http://schemas.microsoft.com/office/drawing/2014/main" id="{478E2947-583E-43A1-B31E-58B5BC998D67}"/>
              </a:ext>
            </a:extLst>
          </p:cNvPr>
          <p:cNvSpPr>
            <a:spLocks xmlns:a="http://schemas.openxmlformats.org/drawingml/2006/main" noGrp="1"/>
          </p:cNvSpPr>
          <p:nvPr/>
        </p:nvSpPr>
        <p:spPr>
          <a:xfrm xmlns:a="http://schemas.openxmlformats.org/drawingml/2006/main">
            <a:off x="7953375" y="2867025"/>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信用账户卖出关联融资证券可能优先偿债，可用现</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金也可能扣付未付利息。一次卖出就可能改变“本</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金和利息实际支付均为零”。</a:t>
            </a:r>
          </a:p>
        </p:txBody>
      </p:sp>
      <p:sp>
        <p:nvSpPr>
          <p:cNvPr id="10" name="text-9">
            <a:extLst xmlns:a="http://schemas.openxmlformats.org/drawingml/2006/main">
              <a:ext uri="{FF2B5EF4-FFF2-40B4-BE49-F238E27FC236}">
                <a16:creationId xmlns:a16="http://schemas.microsoft.com/office/drawing/2014/main" id="{9443BC44-1A9A-4303-AF6D-69F763CE417C}"/>
              </a:ext>
            </a:extLst>
          </p:cNvPr>
          <p:cNvSpPr>
            <a:spLocks xmlns:a="http://schemas.openxmlformats.org/drawingml/2006/main" noGrp="1"/>
          </p:cNvSpPr>
          <p:nvPr/>
        </p:nvSpPr>
        <p:spPr>
          <a:xfrm xmlns:a="http://schemas.openxmlformats.org/drawingml/2006/main">
            <a:off x="857250" y="4686300"/>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股票少时可以延后补仓</a:t>
            </a:r>
          </a:p>
        </p:txBody>
      </p:sp>
      <p:sp>
        <p:nvSpPr>
          <p:cNvPr id="11" name="text-10">
            <a:extLst xmlns:a="http://schemas.openxmlformats.org/drawingml/2006/main">
              <a:ext uri="{FF2B5EF4-FFF2-40B4-BE49-F238E27FC236}">
                <a16:creationId xmlns:a16="http://schemas.microsoft.com/office/drawing/2014/main" id="{ED9C60E4-91B2-46DA-8FDE-E9D85C88C8AA}"/>
              </a:ext>
            </a:extLst>
          </p:cNvPr>
          <p:cNvSpPr>
            <a:spLocks xmlns:a="http://schemas.openxmlformats.org/drawingml/2006/main" noGrp="1"/>
          </p:cNvSpPr>
          <p:nvPr/>
        </p:nvSpPr>
        <p:spPr>
          <a:xfrm xmlns:a="http://schemas.openxmlformats.org/drawingml/2006/main">
            <a:off x="857250" y="5219700"/>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下跌后恢复股票比例需要消耗现金。现金接力给买</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股设置底线，避免为了精确配比，把生活储备全部</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投入下跌的股票。</a:t>
            </a:r>
          </a:p>
        </p:txBody>
      </p:sp>
      <p:sp>
        <p:nvSpPr>
          <p:cNvPr id="12" name="text-11">
            <a:extLst xmlns:a="http://schemas.openxmlformats.org/drawingml/2006/main">
              <a:ext uri="{FF2B5EF4-FFF2-40B4-BE49-F238E27FC236}">
                <a16:creationId xmlns:a16="http://schemas.microsoft.com/office/drawing/2014/main" id="{94A50045-D046-434B-82E3-340CD829470C}"/>
              </a:ext>
            </a:extLst>
          </p:cNvPr>
          <p:cNvSpPr>
            <a:spLocks xmlns:a="http://schemas.openxmlformats.org/drawingml/2006/main" noGrp="1"/>
          </p:cNvSpPr>
          <p:nvPr/>
        </p:nvSpPr>
        <p:spPr>
          <a:xfrm xmlns:a="http://schemas.openxmlformats.org/drawingml/2006/main">
            <a:off x="7953375" y="4686300"/>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股票多时仍希望增加现金</a:t>
            </a:r>
          </a:p>
        </p:txBody>
      </p:sp>
      <p:sp>
        <p:nvSpPr>
          <p:cNvPr id="13" name="text-12">
            <a:extLst xmlns:a="http://schemas.openxmlformats.org/drawingml/2006/main">
              <a:ext uri="{FF2B5EF4-FFF2-40B4-BE49-F238E27FC236}">
                <a16:creationId xmlns:a16="http://schemas.microsoft.com/office/drawing/2014/main" id="{61E1A601-49AC-4C6E-B9A2-3F8AE87CABBF}"/>
              </a:ext>
            </a:extLst>
          </p:cNvPr>
          <p:cNvSpPr>
            <a:spLocks xmlns:a="http://schemas.openxmlformats.org/drawingml/2006/main" noGrp="1"/>
          </p:cNvSpPr>
          <p:nvPr/>
        </p:nvSpPr>
        <p:spPr>
          <a:xfrm xmlns:a="http://schemas.openxmlformats.org/drawingml/2006/main">
            <a:off x="7953375" y="5219700"/>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上涨后卖股补现金有助于恢复安全垫，但必须检查</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可转担保品、300%转出线与保证金。无法全部执行</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时，允许配比暂时偏离。</a:t>
            </a:r>
          </a:p>
        </p:txBody>
      </p:sp>
    </p:spTree>
    <p:extLst>
      <p:ext uri="{BB962C8B-B14F-4D97-AF65-F5344CB8AC3E}">
        <p14:creationId xmlns:p14="http://schemas.microsoft.com/office/powerpoint/2010/main" val="388758049"/>
      </p:ext>
    </p:extLst>
  </p:cSld>
</p:sld>
</file>

<file path=ppt/slides/slide1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A08DE838-2527-4F0D-8BC5-AACF7F693A69}"/>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还款后再融资，为何不一定借得回来</a:t>
            </a:r>
          </a:p>
        </p:txBody>
      </p:sp>
      <p:sp>
        <p:nvSpPr>
          <p:cNvPr id="2" name="text-1">
            <a:extLst xmlns:a="http://schemas.openxmlformats.org/drawingml/2006/main">
              <a:ext uri="{FF2B5EF4-FFF2-40B4-BE49-F238E27FC236}">
                <a16:creationId xmlns:a16="http://schemas.microsoft.com/office/drawing/2014/main" id="{70AEEA23-010A-47DA-B47A-5D0DC52D9397}"/>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偿还旧债会重新暴露当前净资产所能支持的融资上限</a:t>
            </a:r>
          </a:p>
        </p:txBody>
      </p:sp>
      <p:sp>
        <p:nvSpPr>
          <p:cNvPr id="3" name="text-2">
            <a:extLst xmlns:a="http://schemas.openxmlformats.org/drawingml/2006/main">
              <a:ext uri="{FF2B5EF4-FFF2-40B4-BE49-F238E27FC236}">
                <a16:creationId xmlns:a16="http://schemas.microsoft.com/office/drawing/2014/main" id="{E11F3F15-C50E-4998-9533-0B0F45B35188}"/>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“只是多一点利息”成立的前提，是旧债偿还后仍能取得足额新融资。</a:t>
            </a:r>
          </a:p>
        </p:txBody>
      </p:sp>
      <p:sp>
        <p:nvSpPr>
          <p:cNvPr id="4" name="text-3">
            <a:extLst xmlns:a="http://schemas.openxmlformats.org/drawingml/2006/main">
              <a:ext uri="{FF2B5EF4-FFF2-40B4-BE49-F238E27FC236}">
                <a16:creationId xmlns:a16="http://schemas.microsoft.com/office/drawing/2014/main" id="{21D2C993-EA4C-45CD-9B91-F2A920BD7400}"/>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1,100万/1,000万为机制示意，已低于本研究停止线，不是允许策略运行到该状态；不预设固定复借额。</a:t>
            </a:r>
          </a:p>
        </p:txBody>
      </p:sp>
      <p:sp>
        <p:nvSpPr>
          <p:cNvPr id="5" name="text-4">
            <a:extLst xmlns:a="http://schemas.openxmlformats.org/drawingml/2006/main">
              <a:ext uri="{FF2B5EF4-FFF2-40B4-BE49-F238E27FC236}">
                <a16:creationId xmlns:a16="http://schemas.microsoft.com/office/drawing/2014/main" id="{8B116D21-38F3-4E9F-B274-3BF9F74B7DC7}"/>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12</a:t>
            </a:r>
          </a:p>
        </p:txBody>
      </p:sp>
      <p:sp>
        <p:nvSpPr>
          <p:cNvPr id="6" name="text-5">
            <a:extLst xmlns:a="http://schemas.openxmlformats.org/drawingml/2006/main">
              <a:ext uri="{FF2B5EF4-FFF2-40B4-BE49-F238E27FC236}">
                <a16:creationId xmlns:a16="http://schemas.microsoft.com/office/drawing/2014/main" id="{3B1453F1-F4CE-4170-83F3-EBB13423C2C0}"/>
              </a:ext>
            </a:extLst>
          </p:cNvPr>
          <p:cNvSpPr>
            <a:spLocks xmlns:a="http://schemas.openxmlformats.org/drawingml/2006/main" noGrp="1"/>
          </p:cNvSpPr>
          <p:nvPr/>
        </p:nvSpPr>
        <p:spPr>
          <a:xfrm xmlns:a="http://schemas.openxmlformats.org/drawingml/2006/main">
            <a:off x="857250" y="2333625"/>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一种调仓设想</a:t>
            </a:r>
          </a:p>
        </p:txBody>
      </p:sp>
      <p:sp>
        <p:nvSpPr>
          <p:cNvPr id="7" name="text-6">
            <a:extLst xmlns:a="http://schemas.openxmlformats.org/drawingml/2006/main">
              <a:ext uri="{FF2B5EF4-FFF2-40B4-BE49-F238E27FC236}">
                <a16:creationId xmlns:a16="http://schemas.microsoft.com/office/drawing/2014/main" id="{AB098AE6-F4CB-470E-ABDB-471DCB343021}"/>
              </a:ext>
            </a:extLst>
          </p:cNvPr>
          <p:cNvSpPr>
            <a:spLocks xmlns:a="http://schemas.openxmlformats.org/drawingml/2006/main" noGrp="1"/>
          </p:cNvSpPr>
          <p:nvPr/>
        </p:nvSpPr>
        <p:spPr>
          <a:xfrm xmlns:a="http://schemas.openxmlformats.org/drawingml/2006/main">
            <a:off x="857250" y="2867025"/>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卖出信用股票，所得用于偿还本金或利息，再融资</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买入等额现金产品。如果新融资足额获批，组合可</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以调整，但必须重新检查保证金和标的资格。</a:t>
            </a:r>
          </a:p>
        </p:txBody>
      </p:sp>
      <p:sp>
        <p:nvSpPr>
          <p:cNvPr id="8" name="text-7">
            <a:extLst xmlns:a="http://schemas.openxmlformats.org/drawingml/2006/main">
              <a:ext uri="{FF2B5EF4-FFF2-40B4-BE49-F238E27FC236}">
                <a16:creationId xmlns:a16="http://schemas.microsoft.com/office/drawing/2014/main" id="{7948C89B-9065-4594-B389-07048122C090}"/>
              </a:ext>
            </a:extLst>
          </p:cNvPr>
          <p:cNvSpPr>
            <a:spLocks xmlns:a="http://schemas.openxmlformats.org/drawingml/2006/main" noGrp="1"/>
          </p:cNvSpPr>
          <p:nvPr/>
        </p:nvSpPr>
        <p:spPr>
          <a:xfrm xmlns:a="http://schemas.openxmlformats.org/drawingml/2006/main">
            <a:off x="7953375" y="2333625"/>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小额操作的代价</a:t>
            </a:r>
          </a:p>
        </p:txBody>
      </p:sp>
      <p:sp>
        <p:nvSpPr>
          <p:cNvPr id="9" name="text-8">
            <a:extLst xmlns:a="http://schemas.openxmlformats.org/drawingml/2006/main">
              <a:ext uri="{FF2B5EF4-FFF2-40B4-BE49-F238E27FC236}">
                <a16:creationId xmlns:a16="http://schemas.microsoft.com/office/drawing/2014/main" id="{618A67FB-322B-47A5-AF08-DDFED04EFD74}"/>
              </a:ext>
            </a:extLst>
          </p:cNvPr>
          <p:cNvSpPr>
            <a:spLocks xmlns:a="http://schemas.openxmlformats.org/drawingml/2006/main" noGrp="1"/>
          </p:cNvSpPr>
          <p:nvPr/>
        </p:nvSpPr>
        <p:spPr>
          <a:xfrm xmlns:a="http://schemas.openxmlformats.org/drawingml/2006/main">
            <a:off x="7953375" y="2867025"/>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已支付的利息若靠新融资补回，就变成新的计息本</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金。这部分不再保持原先的单利挂账性质，还会增</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加交易成本与执行环节。</a:t>
            </a:r>
          </a:p>
        </p:txBody>
      </p:sp>
      <p:sp>
        <p:nvSpPr>
          <p:cNvPr id="10" name="text-9">
            <a:extLst xmlns:a="http://schemas.openxmlformats.org/drawingml/2006/main">
              <a:ext uri="{FF2B5EF4-FFF2-40B4-BE49-F238E27FC236}">
                <a16:creationId xmlns:a16="http://schemas.microsoft.com/office/drawing/2014/main" id="{CCF695B8-71AE-4DF5-B8BE-69FC9F99B76E}"/>
              </a:ext>
            </a:extLst>
          </p:cNvPr>
          <p:cNvSpPr>
            <a:spLocks xmlns:a="http://schemas.openxmlformats.org/drawingml/2006/main" noGrp="1"/>
          </p:cNvSpPr>
          <p:nvPr/>
        </p:nvSpPr>
        <p:spPr>
          <a:xfrm xmlns:a="http://schemas.openxmlformats.org/drawingml/2006/main">
            <a:off x="857250" y="4686300"/>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大额操作的限制</a:t>
            </a:r>
          </a:p>
        </p:txBody>
      </p:sp>
      <p:sp>
        <p:nvSpPr>
          <p:cNvPr id="11" name="text-10">
            <a:extLst xmlns:a="http://schemas.openxmlformats.org/drawingml/2006/main">
              <a:ext uri="{FF2B5EF4-FFF2-40B4-BE49-F238E27FC236}">
                <a16:creationId xmlns:a16="http://schemas.microsoft.com/office/drawing/2014/main" id="{80C33B34-5DB2-4400-8902-10B1C6015D8A}"/>
              </a:ext>
            </a:extLst>
          </p:cNvPr>
          <p:cNvSpPr>
            <a:spLocks xmlns:a="http://schemas.openxmlformats.org/drawingml/2006/main" noGrp="1"/>
          </p:cNvSpPr>
          <p:nvPr/>
        </p:nvSpPr>
        <p:spPr>
          <a:xfrm xmlns:a="http://schemas.openxmlformats.org/drawingml/2006/main">
            <a:off x="857250" y="5219700"/>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假设总资产1,100万元、旧债1,000万元。全额偿债</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后仅剩100万元自有资产，新借款要由这100万元及</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账户条件支持，不会自动恢复1,000万元额度。</a:t>
            </a:r>
          </a:p>
        </p:txBody>
      </p:sp>
      <p:sp>
        <p:nvSpPr>
          <p:cNvPr id="12" name="text-11">
            <a:extLst xmlns:a="http://schemas.openxmlformats.org/drawingml/2006/main">
              <a:ext uri="{FF2B5EF4-FFF2-40B4-BE49-F238E27FC236}">
                <a16:creationId xmlns:a16="http://schemas.microsoft.com/office/drawing/2014/main" id="{0B140575-16D9-4B8B-927E-924F58475E82}"/>
              </a:ext>
            </a:extLst>
          </p:cNvPr>
          <p:cNvSpPr>
            <a:spLocks xmlns:a="http://schemas.openxmlformats.org/drawingml/2006/main" noGrp="1"/>
          </p:cNvSpPr>
          <p:nvPr/>
        </p:nvSpPr>
        <p:spPr>
          <a:xfrm xmlns:a="http://schemas.openxmlformats.org/drawingml/2006/main">
            <a:off x="7953375" y="4686300"/>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本研究怎样处理</a:t>
            </a:r>
          </a:p>
        </p:txBody>
      </p:sp>
      <p:sp>
        <p:nvSpPr>
          <p:cNvPr id="13" name="text-12">
            <a:extLst xmlns:a="http://schemas.openxmlformats.org/drawingml/2006/main">
              <a:ext uri="{FF2B5EF4-FFF2-40B4-BE49-F238E27FC236}">
                <a16:creationId xmlns:a16="http://schemas.microsoft.com/office/drawing/2014/main" id="{0D7B5595-04AD-4531-899D-3823CCC56008}"/>
              </a:ext>
            </a:extLst>
          </p:cNvPr>
          <p:cNvSpPr>
            <a:spLocks xmlns:a="http://schemas.openxmlformats.org/drawingml/2006/main" noGrp="1"/>
          </p:cNvSpPr>
          <p:nvPr/>
        </p:nvSpPr>
        <p:spPr>
          <a:xfrm xmlns:a="http://schemas.openxmlformats.org/drawingml/2006/main">
            <a:off x="7953375" y="5219700"/>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主回测不自动启用“还款再借”来修复调仓或</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风险。若必须如此才能存续，应另列应急分支，记</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录实际还本、付息以及新借款。</a:t>
            </a:r>
          </a:p>
        </p:txBody>
      </p:sp>
    </p:spTree>
    <p:extLst>
      <p:ext uri="{BB962C8B-B14F-4D97-AF65-F5344CB8AC3E}">
        <p14:creationId xmlns:p14="http://schemas.microsoft.com/office/powerpoint/2010/main" val="1295023453"/>
      </p:ext>
    </p:extLst>
  </p:cSld>
</p:sld>
</file>

<file path=ppt/slides/slide1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19F0527D-FA45-4789-BF91-CF8990BAC9DB}"/>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障碍二：没有平仓，也可能没有生活费</a:t>
            </a:r>
          </a:p>
        </p:txBody>
      </p:sp>
      <p:sp>
        <p:nvSpPr>
          <p:cNvPr id="2" name="text-1">
            <a:extLst xmlns:a="http://schemas.openxmlformats.org/drawingml/2006/main">
              <a:ext uri="{FF2B5EF4-FFF2-40B4-BE49-F238E27FC236}">
                <a16:creationId xmlns:a16="http://schemas.microsoft.com/office/drawing/2014/main" id="{A25C303A-6CD0-42C8-9054-9880CB066276}"/>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担保品锁在信用账户，会产生独立于资不抵债的现金流问题</a:t>
            </a:r>
          </a:p>
        </p:txBody>
      </p:sp>
      <p:sp>
        <p:nvSpPr>
          <p:cNvPr id="3" name="text-2">
            <a:extLst xmlns:a="http://schemas.openxmlformats.org/drawingml/2006/main">
              <a:ext uri="{FF2B5EF4-FFF2-40B4-BE49-F238E27FC236}">
                <a16:creationId xmlns:a16="http://schemas.microsoft.com/office/drawing/2014/main" id="{F6779B9D-9D70-4535-B976-B80ADCC8F377}"/>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净资产为正、维持率高于停止线，都不等于生活现金随时可用。</a:t>
            </a:r>
          </a:p>
        </p:txBody>
      </p:sp>
      <p:sp>
        <p:nvSpPr>
          <p:cNvPr id="4" name="text-3">
            <a:extLst xmlns:a="http://schemas.openxmlformats.org/drawingml/2006/main">
              <a:ext uri="{FF2B5EF4-FFF2-40B4-BE49-F238E27FC236}">
                <a16:creationId xmlns:a16="http://schemas.microsoft.com/office/drawing/2014/main" id="{592A5AE6-B82E-4E0F-86BE-CC4B7A729FE7}"/>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融资被拒本身不记生活失败；只有允许的资金来源不足以支付当年预算时，才记生活流动性失败。</a:t>
            </a:r>
          </a:p>
        </p:txBody>
      </p:sp>
      <p:sp>
        <p:nvSpPr>
          <p:cNvPr id="5" name="text-4">
            <a:extLst xmlns:a="http://schemas.openxmlformats.org/drawingml/2006/main">
              <a:ext uri="{FF2B5EF4-FFF2-40B4-BE49-F238E27FC236}">
                <a16:creationId xmlns:a16="http://schemas.microsoft.com/office/drawing/2014/main" id="{D9380DE1-8303-4157-9FAF-C940362A49C8}"/>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13</a:t>
            </a:r>
          </a:p>
        </p:txBody>
      </p:sp>
      <p:sp>
        <p:nvSpPr>
          <p:cNvPr id="6" name="text-5">
            <a:extLst xmlns:a="http://schemas.openxmlformats.org/drawingml/2006/main">
              <a:ext uri="{FF2B5EF4-FFF2-40B4-BE49-F238E27FC236}">
                <a16:creationId xmlns:a16="http://schemas.microsoft.com/office/drawing/2014/main" id="{D7B9F2A4-CF99-4A29-BB55-72B0CBD33DBC}"/>
              </a:ext>
            </a:extLst>
          </p:cNvPr>
          <p:cNvSpPr>
            <a:spLocks xmlns:a="http://schemas.openxmlformats.org/drawingml/2006/main" noGrp="1"/>
          </p:cNvSpPr>
          <p:nvPr/>
        </p:nvSpPr>
        <p:spPr>
          <a:xfrm xmlns:a="http://schemas.openxmlformats.org/drawingml/2006/main">
            <a:off x="857250" y="2333625"/>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假设信用维持率200%</a:t>
            </a:r>
          </a:p>
        </p:txBody>
      </p:sp>
      <p:sp>
        <p:nvSpPr>
          <p:cNvPr id="7" name="text-6">
            <a:extLst xmlns:a="http://schemas.openxmlformats.org/drawingml/2006/main">
              <a:ext uri="{FF2B5EF4-FFF2-40B4-BE49-F238E27FC236}">
                <a16:creationId xmlns:a16="http://schemas.microsoft.com/office/drawing/2014/main" id="{A42FB844-4DAF-44C6-B699-CB3DEBEE4966}"/>
              </a:ext>
            </a:extLst>
          </p:cNvPr>
          <p:cNvSpPr>
            <a:spLocks xmlns:a="http://schemas.openxmlformats.org/drawingml/2006/main" noGrp="1"/>
          </p:cNvSpPr>
          <p:nvPr/>
        </p:nvSpPr>
        <p:spPr>
          <a:xfrm xmlns:a="http://schemas.openxmlformats.org/drawingml/2006/main">
            <a:off x="857250" y="2867025"/>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信用资产仍高于本研究140%停止线。若仅看信用安</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全，账户暂未失败；但200%达不到担保品转出</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要求。</a:t>
            </a:r>
          </a:p>
        </p:txBody>
      </p:sp>
      <p:sp>
        <p:nvSpPr>
          <p:cNvPr id="8" name="text-7">
            <a:extLst xmlns:a="http://schemas.openxmlformats.org/drawingml/2006/main">
              <a:ext uri="{FF2B5EF4-FFF2-40B4-BE49-F238E27FC236}">
                <a16:creationId xmlns:a16="http://schemas.microsoft.com/office/drawing/2014/main" id="{9FF5C073-2D52-46E6-A120-0B9714535DEB}"/>
              </a:ext>
            </a:extLst>
          </p:cNvPr>
          <p:cNvSpPr>
            <a:spLocks xmlns:a="http://schemas.openxmlformats.org/drawingml/2006/main" noGrp="1"/>
          </p:cNvSpPr>
          <p:nvPr/>
        </p:nvSpPr>
        <p:spPr>
          <a:xfrm xmlns:a="http://schemas.openxmlformats.org/drawingml/2006/main">
            <a:off x="7953375" y="2333625"/>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普通账户已经没有钱</a:t>
            </a:r>
          </a:p>
        </p:txBody>
      </p:sp>
      <p:sp>
        <p:nvSpPr>
          <p:cNvPr id="9" name="text-8">
            <a:extLst xmlns:a="http://schemas.openxmlformats.org/drawingml/2006/main">
              <a:ext uri="{FF2B5EF4-FFF2-40B4-BE49-F238E27FC236}">
                <a16:creationId xmlns:a16="http://schemas.microsoft.com/office/drawing/2014/main" id="{703B13BD-340A-4E15-A826-0613EEA55F26}"/>
              </a:ext>
            </a:extLst>
          </p:cNvPr>
          <p:cNvSpPr>
            <a:spLocks xmlns:a="http://schemas.openxmlformats.org/drawingml/2006/main" noGrp="1"/>
          </p:cNvSpPr>
          <p:nvPr/>
        </p:nvSpPr>
        <p:spPr>
          <a:xfrm xmlns:a="http://schemas.openxmlformats.org/drawingml/2006/main">
            <a:off x="7953375" y="2867025"/>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无法从信用账户划出自有股票，也没有普通证券可</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卖。“信用买入、普通卖出”的生活费安排因而失</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去另一端资产。</a:t>
            </a:r>
          </a:p>
        </p:txBody>
      </p:sp>
      <p:sp>
        <p:nvSpPr>
          <p:cNvPr id="10" name="text-9">
            <a:extLst xmlns:a="http://schemas.openxmlformats.org/drawingml/2006/main">
              <a:ext uri="{FF2B5EF4-FFF2-40B4-BE49-F238E27FC236}">
                <a16:creationId xmlns:a16="http://schemas.microsoft.com/office/drawing/2014/main" id="{2ABF7CDD-87EB-426D-9394-5272F067DB6F}"/>
              </a:ext>
            </a:extLst>
          </p:cNvPr>
          <p:cNvSpPr>
            <a:spLocks xmlns:a="http://schemas.openxmlformats.org/drawingml/2006/main" noGrp="1"/>
          </p:cNvSpPr>
          <p:nvPr/>
        </p:nvSpPr>
        <p:spPr>
          <a:xfrm xmlns:a="http://schemas.openxmlformats.org/drawingml/2006/main">
            <a:off x="857250" y="4686300"/>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上涨未必马上解决</a:t>
            </a:r>
          </a:p>
        </p:txBody>
      </p:sp>
      <p:sp>
        <p:nvSpPr>
          <p:cNvPr id="11" name="text-10">
            <a:extLst xmlns:a="http://schemas.openxmlformats.org/drawingml/2006/main">
              <a:ext uri="{FF2B5EF4-FFF2-40B4-BE49-F238E27FC236}">
                <a16:creationId xmlns:a16="http://schemas.microsoft.com/office/drawing/2014/main" id="{0ED79690-FD5B-4C25-B23D-F44E14E9EFD3}"/>
              </a:ext>
            </a:extLst>
          </p:cNvPr>
          <p:cNvSpPr>
            <a:spLocks xmlns:a="http://schemas.openxmlformats.org/drawingml/2006/main" noGrp="1"/>
          </p:cNvSpPr>
          <p:nvPr/>
        </p:nvSpPr>
        <p:spPr>
          <a:xfrm xmlns:a="http://schemas.openxmlformats.org/drawingml/2006/main">
            <a:off x="857250" y="5219700"/>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维持率从200%回升到250%，信用状态改善，但担</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保品仍不能自由转出；期间每年的生活费用不能暂</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停。</a:t>
            </a:r>
          </a:p>
        </p:txBody>
      </p:sp>
      <p:sp>
        <p:nvSpPr>
          <p:cNvPr id="12" name="text-11">
            <a:extLst xmlns:a="http://schemas.openxmlformats.org/drawingml/2006/main">
              <a:ext uri="{FF2B5EF4-FFF2-40B4-BE49-F238E27FC236}">
                <a16:creationId xmlns:a16="http://schemas.microsoft.com/office/drawing/2014/main" id="{70E5FF2C-1698-45C5-ACB5-587C19334986}"/>
              </a:ext>
            </a:extLst>
          </p:cNvPr>
          <p:cNvSpPr>
            <a:spLocks xmlns:a="http://schemas.openxmlformats.org/drawingml/2006/main" noGrp="1"/>
          </p:cNvSpPr>
          <p:nvPr/>
        </p:nvSpPr>
        <p:spPr>
          <a:xfrm xmlns:a="http://schemas.openxmlformats.org/drawingml/2006/main">
            <a:off x="7953375" y="4686300"/>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退休需要两项同时成立</a:t>
            </a:r>
          </a:p>
        </p:txBody>
      </p:sp>
      <p:sp>
        <p:nvSpPr>
          <p:cNvPr id="13" name="text-12">
            <a:extLst xmlns:a="http://schemas.openxmlformats.org/drawingml/2006/main">
              <a:ext uri="{FF2B5EF4-FFF2-40B4-BE49-F238E27FC236}">
                <a16:creationId xmlns:a16="http://schemas.microsoft.com/office/drawing/2014/main" id="{9CEF85BC-B523-4114-A61D-748283D801D6}"/>
              </a:ext>
            </a:extLst>
          </p:cNvPr>
          <p:cNvSpPr>
            <a:spLocks xmlns:a="http://schemas.openxmlformats.org/drawingml/2006/main" noGrp="1"/>
          </p:cNvSpPr>
          <p:nvPr/>
        </p:nvSpPr>
        <p:spPr>
          <a:xfrm xmlns:a="http://schemas.openxmlformats.org/drawingml/2006/main">
            <a:off x="7953375" y="5219700"/>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信用账户要能抵御追加担保或强制处置，普通账户</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还要在支付日拿得出完整预算。两者必须分别</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检查。</a:t>
            </a:r>
          </a:p>
        </p:txBody>
      </p:sp>
    </p:spTree>
    <p:extLst>
      <p:ext uri="{BB962C8B-B14F-4D97-AF65-F5344CB8AC3E}">
        <p14:creationId xmlns:p14="http://schemas.microsoft.com/office/powerpoint/2010/main" val="828128470"/>
      </p:ext>
    </p:extLst>
  </p:cSld>
</p:sld>
</file>

<file path=ppt/slides/slide1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53E5F1E2-025C-44B6-9285-6846A48DC7B9}"/>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只补到最低担保，仍可能耗尽普通账户</a:t>
            </a:r>
          </a:p>
        </p:txBody>
      </p:sp>
      <p:sp>
        <p:nvSpPr>
          <p:cNvPr id="2" name="text-1">
            <a:extLst xmlns:a="http://schemas.openxmlformats.org/drawingml/2006/main">
              <a:ext uri="{FF2B5EF4-FFF2-40B4-BE49-F238E27FC236}">
                <a16:creationId xmlns:a16="http://schemas.microsoft.com/office/drawing/2014/main" id="{3CB8E76E-760A-44BB-9855-C0C96139EBA7}"/>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前期80/20模拟的低谷示意，说明资产向信用账户单向流动的问题</a:t>
            </a:r>
          </a:p>
        </p:txBody>
      </p:sp>
      <p:sp>
        <p:nvSpPr>
          <p:cNvPr id="3" name="text-2">
            <a:extLst xmlns:a="http://schemas.openxmlformats.org/drawingml/2006/main">
              <a:ext uri="{FF2B5EF4-FFF2-40B4-BE49-F238E27FC236}">
                <a16:creationId xmlns:a16="http://schemas.microsoft.com/office/drawing/2014/main" id="{1A60F0CF-E690-429E-AFE5-DDD14A2F63B0}"/>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尽量少转担保品，仍无法单独解决多年无法转出时的生活来源。</a:t>
            </a:r>
          </a:p>
        </p:txBody>
      </p:sp>
      <p:sp>
        <p:nvSpPr>
          <p:cNvPr id="4" name="text-3">
            <a:extLst xmlns:a="http://schemas.openxmlformats.org/drawingml/2006/main">
              <a:ext uri="{FF2B5EF4-FFF2-40B4-BE49-F238E27FC236}">
                <a16:creationId xmlns:a16="http://schemas.microsoft.com/office/drawing/2014/main" id="{A37748AA-2A98-489D-937B-9DABE343B9F7}"/>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这是前期机制示例，非正式现金接力逐日账。20万按总债务近似，若仅为本金，需另计利息。</a:t>
            </a:r>
          </a:p>
        </p:txBody>
      </p:sp>
      <p:sp>
        <p:nvSpPr>
          <p:cNvPr id="5" name="text-4">
            <a:extLst xmlns:a="http://schemas.openxmlformats.org/drawingml/2006/main">
              <a:ext uri="{FF2B5EF4-FFF2-40B4-BE49-F238E27FC236}">
                <a16:creationId xmlns:a16="http://schemas.microsoft.com/office/drawing/2014/main" id="{B0DFAB45-FEA8-412D-9EC5-CCF721B6AC3B}"/>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14</a:t>
            </a:r>
          </a:p>
        </p:txBody>
      </p:sp>
      <p:graphicFrame>
        <p:nvGraphicFramePr>
          <p:cNvPr id="13" name=""/>
          <p:cNvGraphicFramePr/>
          <p:nvPr/>
        </p:nvGraphicFramePr>
        <p:xfrm>
          <a:off xmlns:a="http://schemas.openxmlformats.org/drawingml/2006/main" x="857250" y="2257425"/>
          <a:ext xmlns:a="http://schemas.openxmlformats.org/drawingml/2006/main" cx="13525500" cy="3238500"/>
        </p:xfrm>
        <a:graphic xmlns:a="http://schemas.openxmlformats.org/drawingml/2006/main">
          <a:graphicData uri="http://schemas.openxmlformats.org/drawingml/2006/table">
            <a:tbl>
              <a:tblPr firstRow="1" bandRow="0"/>
              <a:tblGrid>
                <a:gridCol w="4192905"/>
                <a:gridCol w="4328160"/>
                <a:gridCol w="5004435"/>
              </a:tblGrid>
              <a:tr h="533400">
                <a:tc>
                  <a:txBody>
                    <a:bodyPr wrap="square" lIns="161925" tIns="95250" rIns="161925" bIns="95250">
                      <a:noAutofit/>
                    </a:bodyPr>
                    <a:lstStyle/>
                    <a:p>
                      <a:pPr algn="l"/>
                      <a:r>
                        <a:rPr sz="1875" b="1">
                          <a:solidFill>
                            <a:srgbClr val="18323D"/>
                          </a:solidFill>
                          <a:latin typeface="Microsoft YaHei"/>
                          <a:ea typeface="Microsoft YaHei"/>
                          <a:cs typeface="Microsoft YaHei"/>
                        </a:rPr>
                        <a:t>简化状态</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计算</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含义</a:t>
                      </a:r>
                    </a:p>
                  </a:txBody>
                  <a:tcPr marL="91440" marR="91440" marT="45720" marB="45720" anchor="ctr">
                    <a:solidFill>
                      <a:srgbClr val="E8EEEB"/>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总资产 / 总债务</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154%</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来自前期总账户模拟口径</a:t>
                      </a:r>
                    </a:p>
                  </a:txBody>
                  <a:tcPr marL="91440" marR="91440" marT="45720" marB="45720" anchor="ctr">
                    <a:solidFill>
                      <a:srgbClr val="FAFAF7"/>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信用资产 / 总债务</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140%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假设只转入最低需要的担保品</a:t>
                      </a:r>
                    </a:p>
                  </a:txBody>
                  <a:tcPr marL="91440" marR="91440" marT="45720" marB="45720" anchor="ctr">
                    <a:solidFill>
                      <a:srgbClr val="FAFAF7"/>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普通资产 / 总债务</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154%－140%＝14%</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留在普通账户的资产已经很少</a:t>
                      </a:r>
                    </a:p>
                  </a:txBody>
                  <a:tcPr marL="91440" marR="91440" marT="45720" marB="45720" anchor="ctr">
                    <a:solidFill>
                      <a:srgbClr val="FAFAF7"/>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若总债务约20万元</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20万×14%＝2.8万元</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按每年2万元支出，只够约1.4年</a:t>
                      </a:r>
                    </a:p>
                  </a:txBody>
                  <a:tcPr marL="91440" marR="91440" marT="45720" marB="45720" anchor="ctr">
                    <a:solidFill>
                      <a:srgbClr val="FAFAF7"/>
                    </a:solidFill>
                  </a:tcPr>
                </a:tc>
              </a:tr>
            </a:tbl>
          </a:graphicData>
        </a:graphic>
      </p:graphicFrame>
      <p:sp>
        <p:nvSpPr>
          <p:cNvPr id="7" name="text-5">
            <a:extLst xmlns:a="http://schemas.openxmlformats.org/drawingml/2006/main">
              <a:ext uri="{FF2B5EF4-FFF2-40B4-BE49-F238E27FC236}">
                <a16:creationId xmlns:a16="http://schemas.microsoft.com/office/drawing/2014/main" id="{3292D026-B1B8-4C32-BBE1-ACA3BED83707}"/>
              </a:ext>
            </a:extLst>
          </p:cNvPr>
          <p:cNvSpPr>
            <a:spLocks xmlns:a="http://schemas.openxmlformats.org/drawingml/2006/main" noGrp="1"/>
          </p:cNvSpPr>
          <p:nvPr/>
        </p:nvSpPr>
        <p:spPr>
          <a:xfrm xmlns:a="http://schemas.openxmlformats.org/drawingml/2006/main">
            <a:off x="857250" y="5781675"/>
            <a:ext cx="13525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025" b="0">
                <a:solidFill>
                  <a:srgbClr val="384B53"/>
                </a:solidFill>
                <a:latin typeface="Microsoft YaHei"/>
                <a:ea typeface="Microsoft YaHei"/>
                <a:cs typeface="Microsoft YaHei"/>
              </a:defRPr>
            </a:pPr>
            <a:r>
              <a:rPr sz="2025" b="0">
                <a:solidFill>
                  <a:srgbClr val="384B53"/>
                </a:solidFill>
                <a:latin typeface="Microsoft YaHei"/>
                <a:ea typeface="Microsoft YaHei"/>
                <a:cs typeface="Microsoft YaHei"/>
              </a:rPr>
              <a:t>2000年3月入场后，前期模拟在2009年3月附近遇到低谷。大跌期不断补担保，普通资产持续减少；随后即使市场回</a:t>
            </a:r>
          </a:p>
          <a:p xmlns:a="http://schemas.openxmlformats.org/drawingml/2006/main">
            <a:pPr algn="l">
              <a:lnSpc>
                <a:spcPct val="122000"/>
              </a:lnSpc>
              <a:buNone/>
              <a:defRPr sz="2025" b="0">
                <a:solidFill>
                  <a:srgbClr val="384B53"/>
                </a:solidFill>
                <a:latin typeface="Microsoft YaHei"/>
                <a:ea typeface="Microsoft YaHei"/>
                <a:cs typeface="Microsoft YaHei"/>
              </a:defRPr>
            </a:pPr>
            <a:r>
              <a:rPr sz="2025" b="0">
                <a:solidFill>
                  <a:srgbClr val="384B53"/>
                </a:solidFill>
                <a:latin typeface="Microsoft YaHei"/>
                <a:ea typeface="Microsoft YaHei"/>
                <a:cs typeface="Microsoft YaHei"/>
              </a:rPr>
              <a:t>升，信用维持率恢复到可转出水平仍需时间，生活储备可能先耗尽。</a:t>
            </a:r>
          </a:p>
        </p:txBody>
      </p:sp>
    </p:spTree>
    <p:extLst>
      <p:ext uri="{BB962C8B-B14F-4D97-AF65-F5344CB8AC3E}">
        <p14:creationId xmlns:p14="http://schemas.microsoft.com/office/powerpoint/2010/main" val="995675789"/>
      </p:ext>
    </p:extLst>
  </p:cSld>
</p:sld>
</file>

<file path=ppt/slides/slide1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BA4A5204-45ED-4936-B22F-04C9D7316B3A}"/>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现金接力：给无法融资的年份预留预算</a:t>
            </a:r>
          </a:p>
        </p:txBody>
      </p:sp>
      <p:sp>
        <p:nvSpPr>
          <p:cNvPr id="2" name="text-1">
            <a:extLst xmlns:a="http://schemas.openxmlformats.org/drawingml/2006/main">
              <a:ext uri="{FF2B5EF4-FFF2-40B4-BE49-F238E27FC236}">
                <a16:creationId xmlns:a16="http://schemas.microsoft.com/office/drawing/2014/main" id="{CAD11D0F-ECB5-4F59-AA35-D9B2875C7766}"/>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融资条件允许时借款生活，受限时由普通现金继续支付</a:t>
            </a:r>
          </a:p>
        </p:txBody>
      </p:sp>
      <p:sp>
        <p:nvSpPr>
          <p:cNvPr id="3" name="text-2">
            <a:extLst xmlns:a="http://schemas.openxmlformats.org/drawingml/2006/main">
              <a:ext uri="{FF2B5EF4-FFF2-40B4-BE49-F238E27FC236}">
                <a16:creationId xmlns:a16="http://schemas.microsoft.com/office/drawing/2014/main" id="{B2DED512-03ED-4E70-A378-3B69774C0C85}"/>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接受部分年份花自有现金，换取融资受限时生活费不中断的机会。</a:t>
            </a:r>
          </a:p>
        </p:txBody>
      </p:sp>
      <p:sp>
        <p:nvSpPr>
          <p:cNvPr id="4" name="text-3">
            <a:extLst xmlns:a="http://schemas.openxmlformats.org/drawingml/2006/main">
              <a:ext uri="{FF2B5EF4-FFF2-40B4-BE49-F238E27FC236}">
                <a16:creationId xmlns:a16="http://schemas.microsoft.com/office/drawing/2014/main" id="{453FCB4B-81E8-4603-AD25-8E488B1F97FA}"/>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主版本不主动还本付息，但并非从不卖股票、从不动用自有资产，也不能保证现金永远足够。</a:t>
            </a:r>
          </a:p>
        </p:txBody>
      </p:sp>
      <p:sp>
        <p:nvSpPr>
          <p:cNvPr id="5" name="text-4">
            <a:extLst xmlns:a="http://schemas.openxmlformats.org/drawingml/2006/main">
              <a:ext uri="{FF2B5EF4-FFF2-40B4-BE49-F238E27FC236}">
                <a16:creationId xmlns:a16="http://schemas.microsoft.com/office/drawing/2014/main" id="{21EC0BBA-90FC-4EBD-81BC-3474ED7809F8}"/>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15</a:t>
            </a:r>
          </a:p>
        </p:txBody>
      </p:sp>
      <p:sp>
        <p:nvSpPr>
          <p:cNvPr id="6" name="text-5">
            <a:extLst xmlns:a="http://schemas.openxmlformats.org/drawingml/2006/main">
              <a:ext uri="{FF2B5EF4-FFF2-40B4-BE49-F238E27FC236}">
                <a16:creationId xmlns:a16="http://schemas.microsoft.com/office/drawing/2014/main" id="{8205F218-E8E5-41E9-B61E-CCA7579A9C8B}"/>
              </a:ext>
            </a:extLst>
          </p:cNvPr>
          <p:cNvSpPr>
            <a:spLocks xmlns:a="http://schemas.openxmlformats.org/drawingml/2006/main" noGrp="1"/>
          </p:cNvSpPr>
          <p:nvPr/>
        </p:nvSpPr>
        <p:spPr>
          <a:xfrm xmlns:a="http://schemas.openxmlformats.org/drawingml/2006/main">
            <a:off x="857250" y="2333625"/>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初始就分开两种用途</a:t>
            </a:r>
          </a:p>
        </p:txBody>
      </p:sp>
      <p:sp>
        <p:nvSpPr>
          <p:cNvPr id="7" name="text-6">
            <a:extLst xmlns:a="http://schemas.openxmlformats.org/drawingml/2006/main">
              <a:ext uri="{FF2B5EF4-FFF2-40B4-BE49-F238E27FC236}">
                <a16:creationId xmlns:a16="http://schemas.microsoft.com/office/drawing/2014/main" id="{51871E3B-4A7F-4633-A8B2-E66CFC538C54}"/>
              </a:ext>
            </a:extLst>
          </p:cNvPr>
          <p:cNvSpPr>
            <a:spLocks xmlns:a="http://schemas.openxmlformats.org/drawingml/2006/main" noGrp="1"/>
          </p:cNvSpPr>
          <p:nvPr/>
        </p:nvSpPr>
        <p:spPr>
          <a:xfrm xmlns:a="http://schemas.openxmlformats.org/drawingml/2006/main">
            <a:off x="857250" y="2867025"/>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信用账户持有自有纳指资产，普通账户保留多年的</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现金类储备。普通储备平时不计入信用担保，保持</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生活支出的可支配性。</a:t>
            </a:r>
          </a:p>
        </p:txBody>
      </p:sp>
      <p:sp>
        <p:nvSpPr>
          <p:cNvPr id="8" name="text-7">
            <a:extLst xmlns:a="http://schemas.openxmlformats.org/drawingml/2006/main">
              <a:ext uri="{FF2B5EF4-FFF2-40B4-BE49-F238E27FC236}">
                <a16:creationId xmlns:a16="http://schemas.microsoft.com/office/drawing/2014/main" id="{41E5F06B-B943-4525-927A-B55D0BF50CC0}"/>
              </a:ext>
            </a:extLst>
          </p:cNvPr>
          <p:cNvSpPr>
            <a:spLocks xmlns:a="http://schemas.openxmlformats.org/drawingml/2006/main" noGrp="1"/>
          </p:cNvSpPr>
          <p:nvPr/>
        </p:nvSpPr>
        <p:spPr>
          <a:xfrm xmlns:a="http://schemas.openxmlformats.org/drawingml/2006/main">
            <a:off x="7953375" y="2333625"/>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能融资时保留现金</a:t>
            </a:r>
          </a:p>
        </p:txBody>
      </p:sp>
      <p:sp>
        <p:nvSpPr>
          <p:cNvPr id="9" name="text-8">
            <a:extLst xmlns:a="http://schemas.openxmlformats.org/drawingml/2006/main">
              <a:ext uri="{FF2B5EF4-FFF2-40B4-BE49-F238E27FC236}">
                <a16:creationId xmlns:a16="http://schemas.microsoft.com/office/drawing/2014/main" id="{F80720CC-88E8-4175-B97D-F15018767DE9}"/>
              </a:ext>
            </a:extLst>
          </p:cNvPr>
          <p:cNvSpPr>
            <a:spLocks xmlns:a="http://schemas.openxmlformats.org/drawingml/2006/main" noGrp="1"/>
          </p:cNvSpPr>
          <p:nvPr/>
        </p:nvSpPr>
        <p:spPr>
          <a:xfrm xmlns:a="http://schemas.openxmlformats.org/drawingml/2006/main">
            <a:off x="7953375" y="2867025"/>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当新融资、等额自有证券转出和结算都可完成时，</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用融资安排当年生活费，尽量保留普通现金的续航</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能力。</a:t>
            </a:r>
          </a:p>
        </p:txBody>
      </p:sp>
      <p:sp>
        <p:nvSpPr>
          <p:cNvPr id="10" name="text-9">
            <a:extLst xmlns:a="http://schemas.openxmlformats.org/drawingml/2006/main">
              <a:ext uri="{FF2B5EF4-FFF2-40B4-BE49-F238E27FC236}">
                <a16:creationId xmlns:a16="http://schemas.microsoft.com/office/drawing/2014/main" id="{5E508B92-E99B-470F-8B9B-59265C1816DB}"/>
              </a:ext>
            </a:extLst>
          </p:cNvPr>
          <p:cNvSpPr>
            <a:spLocks xmlns:a="http://schemas.openxmlformats.org/drawingml/2006/main" noGrp="1"/>
          </p:cNvSpPr>
          <p:nvPr/>
        </p:nvSpPr>
        <p:spPr>
          <a:xfrm xmlns:a="http://schemas.openxmlformats.org/drawingml/2006/main">
            <a:off x="857250" y="4686300"/>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不能融资时现金接力</a:t>
            </a:r>
          </a:p>
        </p:txBody>
      </p:sp>
      <p:sp>
        <p:nvSpPr>
          <p:cNvPr id="11" name="text-10">
            <a:extLst xmlns:a="http://schemas.openxmlformats.org/drawingml/2006/main">
              <a:ext uri="{FF2B5EF4-FFF2-40B4-BE49-F238E27FC236}">
                <a16:creationId xmlns:a16="http://schemas.microsoft.com/office/drawing/2014/main" id="{4CA30CDE-B91C-40FF-A728-53E215E1898E}"/>
              </a:ext>
            </a:extLst>
          </p:cNvPr>
          <p:cNvSpPr>
            <a:spLocks xmlns:a="http://schemas.openxmlformats.org/drawingml/2006/main" noGrp="1"/>
          </p:cNvSpPr>
          <p:nvPr/>
        </p:nvSpPr>
        <p:spPr>
          <a:xfrm xmlns:a="http://schemas.openxmlformats.org/drawingml/2006/main">
            <a:off x="857250" y="5219700"/>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当年不新增这笔生活借款，改用普通现金付预算。</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暂停不会主动偿还旧债，下一年度仍会重新检查能</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否恢复。</a:t>
            </a:r>
          </a:p>
        </p:txBody>
      </p:sp>
      <p:sp>
        <p:nvSpPr>
          <p:cNvPr id="12" name="text-11">
            <a:extLst xmlns:a="http://schemas.openxmlformats.org/drawingml/2006/main">
              <a:ext uri="{FF2B5EF4-FFF2-40B4-BE49-F238E27FC236}">
                <a16:creationId xmlns:a16="http://schemas.microsoft.com/office/drawing/2014/main" id="{656B4960-940D-4FB7-8278-107F191A2CD3}"/>
              </a:ext>
            </a:extLst>
          </p:cNvPr>
          <p:cNvSpPr>
            <a:spLocks xmlns:a="http://schemas.openxmlformats.org/drawingml/2006/main" noGrp="1"/>
          </p:cNvSpPr>
          <p:nvPr/>
        </p:nvSpPr>
        <p:spPr>
          <a:xfrm xmlns:a="http://schemas.openxmlformats.org/drawingml/2006/main">
            <a:off x="7953375" y="4686300"/>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储备也承担紧急担保</a:t>
            </a:r>
          </a:p>
        </p:txBody>
      </p:sp>
      <p:sp>
        <p:nvSpPr>
          <p:cNvPr id="13" name="text-12">
            <a:extLst xmlns:a="http://schemas.openxmlformats.org/drawingml/2006/main">
              <a:ext uri="{FF2B5EF4-FFF2-40B4-BE49-F238E27FC236}">
                <a16:creationId xmlns:a16="http://schemas.microsoft.com/office/drawing/2014/main" id="{B9F0D60F-278A-4552-A491-552BD13CC86B}"/>
              </a:ext>
            </a:extLst>
          </p:cNvPr>
          <p:cNvSpPr>
            <a:spLocks xmlns:a="http://schemas.openxmlformats.org/drawingml/2006/main" noGrp="1"/>
          </p:cNvSpPr>
          <p:nvPr/>
        </p:nvSpPr>
        <p:spPr>
          <a:xfrm xmlns:a="http://schemas.openxmlformats.org/drawingml/2006/main">
            <a:off x="7953375" y="5219700"/>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信用维持率降到触发值时，按规则把部分普通现金</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转换为合格现金类证券并划入信用账户。生活与救</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险共享储备，不能重复使用。</a:t>
            </a:r>
          </a:p>
        </p:txBody>
      </p:sp>
    </p:spTree>
    <p:extLst>
      <p:ext uri="{BB962C8B-B14F-4D97-AF65-F5344CB8AC3E}">
        <p14:creationId xmlns:p14="http://schemas.microsoft.com/office/powerpoint/2010/main" val="70515740"/>
      </p:ext>
    </p:extLst>
  </p:cSld>
</p:sld>
</file>

<file path=ppt/slides/slide1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A3FC285F-5566-481D-8146-881E9A4E097E}"/>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70/30与80/20：初始现金相差五年开销</a:t>
            </a:r>
          </a:p>
        </p:txBody>
      </p:sp>
      <p:sp>
        <p:nvSpPr>
          <p:cNvPr id="2" name="text-1">
            <a:extLst xmlns:a="http://schemas.openxmlformats.org/drawingml/2006/main">
              <a:ext uri="{FF2B5EF4-FFF2-40B4-BE49-F238E27FC236}">
                <a16:creationId xmlns:a16="http://schemas.microsoft.com/office/drawing/2014/main" id="{2C256025-BD69-4BDC-8B30-E7E591A32FF5}"/>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初始100万元，每年支出固定为初始资产的2%，即2万元</a:t>
            </a:r>
          </a:p>
        </p:txBody>
      </p:sp>
      <p:sp>
        <p:nvSpPr>
          <p:cNvPr id="3" name="text-2">
            <a:extLst xmlns:a="http://schemas.openxmlformats.org/drawingml/2006/main">
              <a:ext uri="{FF2B5EF4-FFF2-40B4-BE49-F238E27FC236}">
                <a16:creationId xmlns:a16="http://schemas.microsoft.com/office/drawing/2014/main" id="{BB6F599A-FF14-40D4-819A-42C81529F49D}"/>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现金底线只限制买股；生活支出和紧急补担保都可以使余额低于底线。</a:t>
            </a:r>
          </a:p>
        </p:txBody>
      </p:sp>
      <p:sp>
        <p:nvSpPr>
          <p:cNvPr id="4" name="text-3">
            <a:extLst xmlns:a="http://schemas.openxmlformats.org/drawingml/2006/main">
              <a:ext uri="{FF2B5EF4-FFF2-40B4-BE49-F238E27FC236}">
                <a16:creationId xmlns:a16="http://schemas.microsoft.com/office/drawing/2014/main" id="{141E498A-7BD7-4ED9-AEEE-AB025E1402EF}"/>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15年和10年是按固定预算换算的初始储备，不是保证的最低余额，也未自动覆盖通胀或大额临时开销。</a:t>
            </a:r>
          </a:p>
        </p:txBody>
      </p:sp>
      <p:sp>
        <p:nvSpPr>
          <p:cNvPr id="5" name="text-4">
            <a:extLst xmlns:a="http://schemas.openxmlformats.org/drawingml/2006/main">
              <a:ext uri="{FF2B5EF4-FFF2-40B4-BE49-F238E27FC236}">
                <a16:creationId xmlns:a16="http://schemas.microsoft.com/office/drawing/2014/main" id="{BEB6FEB6-EC76-4463-A292-E214F5855B37}"/>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16</a:t>
            </a:r>
          </a:p>
        </p:txBody>
      </p:sp>
      <p:graphicFrame>
        <p:nvGraphicFramePr>
          <p:cNvPr id="13" name=""/>
          <p:cNvGraphicFramePr/>
          <p:nvPr/>
        </p:nvGraphicFramePr>
        <p:xfrm>
          <a:off xmlns:a="http://schemas.openxmlformats.org/drawingml/2006/main" x="857250" y="2257425"/>
          <a:ext xmlns:a="http://schemas.openxmlformats.org/drawingml/2006/main" cx="13525500" cy="3238500"/>
        </p:xfrm>
        <a:graphic xmlns:a="http://schemas.openxmlformats.org/drawingml/2006/main">
          <a:graphicData uri="http://schemas.openxmlformats.org/drawingml/2006/table">
            <a:tbl>
              <a:tblPr firstRow="1" bandRow="0"/>
              <a:tblGrid>
                <a:gridCol w="5139690"/>
                <a:gridCol w="4192905"/>
                <a:gridCol w="4192905"/>
              </a:tblGrid>
              <a:tr h="533400">
                <a:tc>
                  <a:txBody>
                    <a:bodyPr wrap="square" lIns="161925" tIns="95250" rIns="161925" bIns="95250">
                      <a:noAutofit/>
                    </a:bodyPr>
                    <a:lstStyle/>
                    <a:p>
                      <a:pPr algn="l"/>
                      <a:r>
                        <a:rPr sz="1875" b="1">
                          <a:solidFill>
                            <a:srgbClr val="18323D"/>
                          </a:solidFill>
                          <a:latin typeface="Microsoft YaHei"/>
                          <a:ea typeface="Microsoft YaHei"/>
                          <a:cs typeface="Microsoft YaHei"/>
                        </a:rPr>
                        <a:t>初始安排</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70/30现金接力</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80/20现金接力</a:t>
                      </a:r>
                    </a:p>
                  </a:txBody>
                  <a:tcPr marL="91440" marR="91440" marT="45720" marB="45720" anchor="ctr">
                    <a:solidFill>
                      <a:srgbClr val="E8EEEB"/>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信用账户自有纳指</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70万元</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80万元</a:t>
                      </a:r>
                    </a:p>
                  </a:txBody>
                  <a:tcPr marL="91440" marR="91440" marT="45720" marB="45720" anchor="ctr">
                    <a:solidFill>
                      <a:srgbClr val="FAFAF7"/>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普通账户现金类资产</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30万元</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20万元</a:t>
                      </a:r>
                    </a:p>
                  </a:txBody>
                  <a:tcPr marL="91440" marR="91440" marT="45720" marB="45720" anchor="ctr">
                    <a:solidFill>
                      <a:srgbClr val="FAFAF7"/>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初始现金折合年开销</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15年</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10年</a:t>
                      </a:r>
                    </a:p>
                  </a:txBody>
                  <a:tcPr marL="91440" marR="91440" marT="45720" marB="45720" anchor="ctr">
                    <a:solidFill>
                      <a:srgbClr val="FAFAF7"/>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再平衡买股的现金底线</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30万元</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20万元</a:t>
                      </a:r>
                    </a:p>
                  </a:txBody>
                  <a:tcPr marL="91440" marR="91440" marT="45720" marB="45720" anchor="ctr">
                    <a:solidFill>
                      <a:srgbClr val="FAFAF7"/>
                    </a:solidFill>
                  </a:tcPr>
                </a:tc>
              </a:tr>
            </a:tbl>
          </a:graphicData>
        </a:graphic>
      </p:graphicFrame>
      <p:sp>
        <p:nvSpPr>
          <p:cNvPr id="7" name="text-5">
            <a:extLst xmlns:a="http://schemas.openxmlformats.org/drawingml/2006/main">
              <a:ext uri="{FF2B5EF4-FFF2-40B4-BE49-F238E27FC236}">
                <a16:creationId xmlns:a16="http://schemas.microsoft.com/office/drawing/2014/main" id="{3A43C9AD-4E96-4ED0-A9A4-CDFCAFB255B8}"/>
              </a:ext>
            </a:extLst>
          </p:cNvPr>
          <p:cNvSpPr>
            <a:spLocks xmlns:a="http://schemas.openxmlformats.org/drawingml/2006/main" noGrp="1"/>
          </p:cNvSpPr>
          <p:nvPr/>
        </p:nvSpPr>
        <p:spPr>
          <a:xfrm xmlns:a="http://schemas.openxmlformats.org/drawingml/2006/main">
            <a:off x="857250" y="5781675"/>
            <a:ext cx="13525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025" b="0">
                <a:solidFill>
                  <a:srgbClr val="384B53"/>
                </a:solidFill>
                <a:latin typeface="Microsoft YaHei"/>
                <a:ea typeface="Microsoft YaHei"/>
                <a:cs typeface="Microsoft YaHei"/>
              </a:defRPr>
            </a:pPr>
            <a:r>
              <a:rPr sz="2025" b="0">
                <a:solidFill>
                  <a:srgbClr val="384B53"/>
                </a:solidFill>
                <a:latin typeface="Microsoft YaHei"/>
                <a:ea typeface="Microsoft YaHei"/>
                <a:cs typeface="Microsoft YaHei"/>
              </a:rPr>
              <a:t>目标股票比例以“普通＋信用＋在途”的总资产为分母，尚未扣除负债。债务累积后，股票市值÷净资产可能高于</a:t>
            </a:r>
          </a:p>
          <a:p xmlns:a="http://schemas.openxmlformats.org/drawingml/2006/main">
            <a:pPr algn="l">
              <a:lnSpc>
                <a:spcPct val="122000"/>
              </a:lnSpc>
              <a:buNone/>
              <a:defRPr sz="2025" b="0">
                <a:solidFill>
                  <a:srgbClr val="384B53"/>
                </a:solidFill>
                <a:latin typeface="Microsoft YaHei"/>
                <a:ea typeface="Microsoft YaHei"/>
                <a:cs typeface="Microsoft YaHei"/>
              </a:defRPr>
            </a:pPr>
            <a:r>
              <a:rPr sz="2025" b="0">
                <a:solidFill>
                  <a:srgbClr val="384B53"/>
                </a:solidFill>
                <a:latin typeface="Microsoft YaHei"/>
                <a:ea typeface="Microsoft YaHei"/>
                <a:cs typeface="Microsoft YaHei"/>
              </a:rPr>
              <a:t>70%或80%，因此目标股现比例不能直接当成净资产风险倍数。</a:t>
            </a:r>
          </a:p>
        </p:txBody>
      </p:sp>
    </p:spTree>
    <p:extLst>
      <p:ext uri="{BB962C8B-B14F-4D97-AF65-F5344CB8AC3E}">
        <p14:creationId xmlns:p14="http://schemas.microsoft.com/office/powerpoint/2010/main" val="2074649319"/>
      </p:ext>
    </p:extLst>
  </p:cSld>
</p:sld>
</file>

<file path=ppt/slides/slide1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CBBE304-1301-406D-96EA-3DFC6E64B651}"/>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年度操作：先支付生活费，再按规则调仓</a:t>
            </a:r>
          </a:p>
        </p:txBody>
      </p:sp>
      <p:sp>
        <p:nvSpPr>
          <p:cNvPr id="2" name="text-1">
            <a:extLst xmlns:a="http://schemas.openxmlformats.org/drawingml/2006/main">
              <a:ext uri="{FF2B5EF4-FFF2-40B4-BE49-F238E27FC236}">
                <a16:creationId xmlns:a16="http://schemas.microsoft.com/office/drawing/2014/main" id="{E9003E86-B0F7-449A-8B69-263059CA4979}"/>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年初发起，包含证券划转与资金可取的交收时间</a:t>
            </a:r>
          </a:p>
        </p:txBody>
      </p:sp>
      <p:sp>
        <p:nvSpPr>
          <p:cNvPr id="3" name="text-2">
            <a:extLst xmlns:a="http://schemas.openxmlformats.org/drawingml/2006/main">
              <a:ext uri="{FF2B5EF4-FFF2-40B4-BE49-F238E27FC236}">
                <a16:creationId xmlns:a16="http://schemas.microsoft.com/office/drawing/2014/main" id="{6F9D2638-72D5-4751-8B00-0F66AD2457EE}"/>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在生活费支付日，普通现金不足以付满全年预算，才记生活流动性失败。</a:t>
            </a:r>
          </a:p>
        </p:txBody>
      </p:sp>
      <p:sp>
        <p:nvSpPr>
          <p:cNvPr id="4" name="text-3">
            <a:extLst xmlns:a="http://schemas.openxmlformats.org/drawingml/2006/main">
              <a:ext uri="{FF2B5EF4-FFF2-40B4-BE49-F238E27FC236}">
                <a16:creationId xmlns:a16="http://schemas.microsoft.com/office/drawing/2014/main" id="{AF0E5F69-BE47-4DCF-A8B5-3C2E451ABB8D}"/>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同一证券的自有份额识别和划转应以券商实际系统为准；不能直接假定融资买入证券可自由转出。</a:t>
            </a:r>
          </a:p>
        </p:txBody>
      </p:sp>
      <p:sp>
        <p:nvSpPr>
          <p:cNvPr id="5" name="text-4">
            <a:extLst xmlns:a="http://schemas.openxmlformats.org/drawingml/2006/main">
              <a:ext uri="{FF2B5EF4-FFF2-40B4-BE49-F238E27FC236}">
                <a16:creationId xmlns:a16="http://schemas.microsoft.com/office/drawing/2014/main" id="{755B357A-E950-4C14-B621-2792FE7D56B4}"/>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17</a:t>
            </a:r>
          </a:p>
        </p:txBody>
      </p:sp>
      <p:graphicFrame>
        <p:nvGraphicFramePr>
          <p:cNvPr id="12" name=""/>
          <p:cNvGraphicFramePr/>
          <p:nvPr/>
        </p:nvGraphicFramePr>
        <p:xfrm>
          <a:off xmlns:a="http://schemas.openxmlformats.org/drawingml/2006/main" x="857250" y="2257425"/>
          <a:ext xmlns:a="http://schemas.openxmlformats.org/drawingml/2006/main" cx="13525500" cy="4191000"/>
        </p:xfrm>
        <a:graphic xmlns:a="http://schemas.openxmlformats.org/drawingml/2006/main">
          <a:graphicData uri="http://schemas.openxmlformats.org/drawingml/2006/table">
            <a:tbl>
              <a:tblPr firstRow="1" bandRow="0"/>
              <a:tblGrid>
                <a:gridCol w="2434590"/>
                <a:gridCol w="5004435"/>
                <a:gridCol w="6086475"/>
              </a:tblGrid>
              <a:tr h="533400">
                <a:tc>
                  <a:txBody>
                    <a:bodyPr wrap="square" lIns="161925" tIns="95250" rIns="161925" bIns="95250">
                      <a:noAutofit/>
                    </a:bodyPr>
                    <a:lstStyle/>
                    <a:p>
                      <a:pPr algn="l"/>
                      <a:r>
                        <a:rPr sz="1875" b="1">
                          <a:solidFill>
                            <a:srgbClr val="18323D"/>
                          </a:solidFill>
                          <a:latin typeface="Microsoft YaHei"/>
                          <a:ea typeface="Microsoft YaHei"/>
                          <a:cs typeface="Microsoft YaHei"/>
                        </a:rPr>
                        <a:t>顺序</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需要检查</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执行与记录</a:t>
                      </a:r>
                    </a:p>
                  </a:txBody>
                  <a:tcPr marL="91440" marR="91440" marT="45720" marB="45720" anchor="ctr">
                    <a:solidFill>
                      <a:srgbClr val="E8EEEB"/>
                    </a:solidFill>
                  </a:tcPr>
                </a:tc>
              </a:tr>
              <a:tr h="914400">
                <a:tc>
                  <a:txBody>
                    <a:bodyPr wrap="square" lIns="161925" tIns="95250" rIns="161925" bIns="95250">
                      <a:noAutofit/>
                    </a:bodyPr>
                    <a:lstStyle/>
                    <a:p>
                      <a:pPr algn="l"/>
                      <a:r>
                        <a:rPr sz="1950" b="1">
                          <a:solidFill>
                            <a:srgbClr val="384B53"/>
                          </a:solidFill>
                          <a:latin typeface="Microsoft YaHei"/>
                          <a:ea typeface="Microsoft YaHei"/>
                          <a:cs typeface="Microsoft YaHei"/>
                        </a:rPr>
                        <a:t>1. 年度快照</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普通现金、信用自有/融资持仓、本息、</a:t>
                      </a:r>
                    </a:p>
                    <a:p>
                      <a:pPr algn="l"/>
                      <a:r>
                        <a:rPr sz="1950" b="0">
                          <a:solidFill>
                            <a:srgbClr val="384B53"/>
                          </a:solidFill>
                          <a:latin typeface="Microsoft YaHei"/>
                          <a:ea typeface="Microsoft YaHei"/>
                          <a:cs typeface="Microsoft YaHei"/>
                        </a:rPr>
                        <a:t>到期合约</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确认预算及实际可用资产，不把待赎回或在途额度</a:t>
                      </a:r>
                    </a:p>
                    <a:p>
                      <a:pPr algn="l"/>
                      <a:r>
                        <a:rPr sz="1950" b="0">
                          <a:solidFill>
                            <a:srgbClr val="384B53"/>
                          </a:solidFill>
                          <a:latin typeface="Microsoft YaHei"/>
                          <a:ea typeface="Microsoft YaHei"/>
                          <a:cs typeface="Microsoft YaHei"/>
                        </a:rPr>
                        <a:t>当现金</a:t>
                      </a:r>
                    </a:p>
                  </a:txBody>
                  <a:tcPr marL="91440" marR="91440" marT="45720" marB="45720" anchor="ctr">
                    <a:solidFill>
                      <a:srgbClr val="FAFAF7"/>
                    </a:solidFill>
                  </a:tcPr>
                </a:tc>
              </a:tr>
              <a:tr h="914400">
                <a:tc>
                  <a:txBody>
                    <a:bodyPr wrap="square" lIns="161925" tIns="95250" rIns="161925" bIns="95250">
                      <a:noAutofit/>
                    </a:bodyPr>
                    <a:lstStyle/>
                    <a:p>
                      <a:pPr algn="l"/>
                      <a:r>
                        <a:rPr sz="1950" b="1">
                          <a:solidFill>
                            <a:srgbClr val="384B53"/>
                          </a:solidFill>
                          <a:latin typeface="Microsoft YaHei"/>
                          <a:ea typeface="Microsoft YaHei"/>
                          <a:cs typeface="Microsoft YaHei"/>
                        </a:rPr>
                        <a:t>2. 融资生活</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操作后≥300%，保证金足够，自有可转</a:t>
                      </a:r>
                    </a:p>
                    <a:p>
                      <a:pPr algn="l"/>
                      <a:r>
                        <a:rPr sz="1950" b="0">
                          <a:solidFill>
                            <a:srgbClr val="384B53"/>
                          </a:solidFill>
                          <a:latin typeface="Microsoft YaHei"/>
                          <a:ea typeface="Microsoft YaHei"/>
                          <a:cs typeface="Microsoft YaHei"/>
                        </a:rPr>
                        <a:t>证券≥预算</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信用融资买入，等额自有证券划出、到账卖出，再</a:t>
                      </a:r>
                    </a:p>
                    <a:p>
                      <a:pPr algn="l"/>
                      <a:r>
                        <a:rPr sz="1950" b="0">
                          <a:solidFill>
                            <a:srgbClr val="384B53"/>
                          </a:solidFill>
                          <a:latin typeface="Microsoft YaHei"/>
                          <a:ea typeface="Microsoft YaHei"/>
                          <a:cs typeface="Microsoft YaHei"/>
                        </a:rPr>
                        <a:t>支取生活费</a:t>
                      </a:r>
                    </a:p>
                  </a:txBody>
                  <a:tcPr marL="91440" marR="91440" marT="45720" marB="45720" anchor="ctr">
                    <a:solidFill>
                      <a:srgbClr val="FAFAF7"/>
                    </a:solidFill>
                  </a:tcPr>
                </a:tc>
              </a:tr>
              <a:tr h="914400">
                <a:tc>
                  <a:txBody>
                    <a:bodyPr wrap="square" lIns="161925" tIns="95250" rIns="161925" bIns="95250">
                      <a:noAutofit/>
                    </a:bodyPr>
                    <a:lstStyle/>
                    <a:p>
                      <a:pPr algn="l"/>
                      <a:r>
                        <a:rPr sz="1950" b="1">
                          <a:solidFill>
                            <a:srgbClr val="384B53"/>
                          </a:solidFill>
                          <a:latin typeface="Microsoft YaHei"/>
                          <a:ea typeface="Microsoft YaHei"/>
                          <a:cs typeface="Microsoft YaHei"/>
                        </a:rPr>
                        <a:t>3. 现金接力</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上述任一条件不满足</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当年改用普通现金，不主动还旧债，记录暂停原因</a:t>
                      </a:r>
                    </a:p>
                  </a:txBody>
                  <a:tcPr marL="91440" marR="91440" marT="45720" marB="45720" anchor="ctr">
                    <a:solidFill>
                      <a:srgbClr val="FAFAF7"/>
                    </a:solidFill>
                  </a:tcPr>
                </a:tc>
              </a:tr>
              <a:tr h="914400">
                <a:tc>
                  <a:txBody>
                    <a:bodyPr wrap="square" lIns="161925" tIns="95250" rIns="161925" bIns="95250">
                      <a:noAutofit/>
                    </a:bodyPr>
                    <a:lstStyle/>
                    <a:p>
                      <a:pPr algn="l"/>
                      <a:r>
                        <a:rPr sz="1950" b="1">
                          <a:solidFill>
                            <a:srgbClr val="384B53"/>
                          </a:solidFill>
                          <a:latin typeface="Microsoft YaHei"/>
                          <a:ea typeface="Microsoft YaHei"/>
                          <a:cs typeface="Microsoft YaHei"/>
                        </a:rPr>
                        <a:t>4. 年度再平衡</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生活费支付后计算当前股现比例</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只执行允许的买卖，保留未完成差额，次年重新检</a:t>
                      </a:r>
                    </a:p>
                    <a:p>
                      <a:pPr algn="l"/>
                      <a:r>
                        <a:rPr sz="1950" b="0">
                          <a:solidFill>
                            <a:srgbClr val="384B53"/>
                          </a:solidFill>
                          <a:latin typeface="Microsoft YaHei"/>
                          <a:ea typeface="Microsoft YaHei"/>
                          <a:cs typeface="Microsoft YaHei"/>
                        </a:rPr>
                        <a:t>查</a:t>
                      </a:r>
                    </a:p>
                  </a:txBody>
                  <a:tcPr marL="91440" marR="91440" marT="45720" marB="45720" anchor="ctr">
                    <a:solidFill>
                      <a:srgbClr val="FAFAF7"/>
                    </a:solidFill>
                  </a:tcPr>
                </a:tc>
              </a:tr>
            </a:tbl>
          </a:graphicData>
        </a:graphic>
      </p:graphicFrame>
    </p:spTree>
    <p:extLst>
      <p:ext uri="{BB962C8B-B14F-4D97-AF65-F5344CB8AC3E}">
        <p14:creationId xmlns:p14="http://schemas.microsoft.com/office/powerpoint/2010/main" val="70326632"/>
      </p:ext>
    </p:extLst>
  </p:cSld>
</p:sld>
</file>

<file path=ppt/slides/slide1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EA409E0-7EFE-4773-B9A2-61E43364D615}"/>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再平衡：现金底线只约束买股</a:t>
            </a:r>
          </a:p>
        </p:txBody>
      </p:sp>
      <p:sp>
        <p:nvSpPr>
          <p:cNvPr id="2" name="text-1">
            <a:extLst xmlns:a="http://schemas.openxmlformats.org/drawingml/2006/main">
              <a:ext uri="{FF2B5EF4-FFF2-40B4-BE49-F238E27FC236}">
                <a16:creationId xmlns:a16="http://schemas.microsoft.com/office/drawing/2014/main" id="{ED1D373E-4D6E-4626-B3E9-7F8503190FCC}"/>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目标股票市值＝当前总资产×目标股票比例，允许在约束下暂时偏离</a:t>
            </a:r>
          </a:p>
        </p:txBody>
      </p:sp>
      <p:sp>
        <p:nvSpPr>
          <p:cNvPr id="3" name="text-2">
            <a:extLst xmlns:a="http://schemas.openxmlformats.org/drawingml/2006/main">
              <a:ext uri="{FF2B5EF4-FFF2-40B4-BE49-F238E27FC236}">
                <a16:creationId xmlns:a16="http://schemas.microsoft.com/office/drawing/2014/main" id="{0F11826C-EDDA-4B39-B25C-3E5771660C86}"/>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普通现金低于底仓时停止买股，但仍允许通过卖股补充现金。</a:t>
            </a:r>
          </a:p>
        </p:txBody>
      </p:sp>
      <p:sp>
        <p:nvSpPr>
          <p:cNvPr id="4" name="text-3">
            <a:extLst xmlns:a="http://schemas.openxmlformats.org/drawingml/2006/main">
              <a:ext uri="{FF2B5EF4-FFF2-40B4-BE49-F238E27FC236}">
                <a16:creationId xmlns:a16="http://schemas.microsoft.com/office/drawing/2014/main" id="{83B051BF-B495-4EB2-B7C2-2885ECAF1AE1}"/>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示例以总资产配比计算；卖股需可转自有库存、转出后300%维持率和保证金条件同时满足。</a:t>
            </a:r>
          </a:p>
        </p:txBody>
      </p:sp>
      <p:sp>
        <p:nvSpPr>
          <p:cNvPr id="5" name="text-4">
            <a:extLst xmlns:a="http://schemas.openxmlformats.org/drawingml/2006/main">
              <a:ext uri="{FF2B5EF4-FFF2-40B4-BE49-F238E27FC236}">
                <a16:creationId xmlns:a16="http://schemas.microsoft.com/office/drawing/2014/main" id="{4DDBF9D0-2827-4612-9862-B324F6A5EB2C}"/>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18</a:t>
            </a:r>
          </a:p>
        </p:txBody>
      </p:sp>
      <p:graphicFrame>
        <p:nvGraphicFramePr>
          <p:cNvPr id="12" name=""/>
          <p:cNvGraphicFramePr/>
          <p:nvPr/>
        </p:nvGraphicFramePr>
        <p:xfrm>
          <a:off xmlns:a="http://schemas.openxmlformats.org/drawingml/2006/main" x="857250" y="2257425"/>
          <a:ext xmlns:a="http://schemas.openxmlformats.org/drawingml/2006/main" cx="13525500" cy="4191000"/>
        </p:xfrm>
        <a:graphic xmlns:a="http://schemas.openxmlformats.org/drawingml/2006/main">
          <a:graphicData uri="http://schemas.openxmlformats.org/drawingml/2006/table">
            <a:tbl>
              <a:tblPr firstRow="1" bandRow="0"/>
              <a:tblGrid>
                <a:gridCol w="3110865"/>
                <a:gridCol w="5004435"/>
                <a:gridCol w="5410200"/>
              </a:tblGrid>
              <a:tr h="533400">
                <a:tc>
                  <a:txBody>
                    <a:bodyPr wrap="square" lIns="161925" tIns="95250" rIns="161925" bIns="95250">
                      <a:noAutofit/>
                    </a:bodyPr>
                    <a:lstStyle/>
                    <a:p>
                      <a:pPr algn="l"/>
                      <a:r>
                        <a:rPr sz="1875" b="1">
                          <a:solidFill>
                            <a:srgbClr val="18323D"/>
                          </a:solidFill>
                          <a:latin typeface="Microsoft YaHei"/>
                          <a:ea typeface="Microsoft YaHei"/>
                          <a:cs typeface="Microsoft YaHei"/>
                        </a:rPr>
                        <a:t>组合状态</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执行规则</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70/30简例</a:t>
                      </a:r>
                    </a:p>
                  </a:txBody>
                  <a:tcPr marL="91440" marR="91440" marT="45720" marB="45720" anchor="ctr">
                    <a:solidFill>
                      <a:srgbClr val="E8EEEB"/>
                    </a:solidFill>
                  </a:tcPr>
                </a:tc>
              </a:tr>
              <a:tr h="914400">
                <a:tc>
                  <a:txBody>
                    <a:bodyPr wrap="square" lIns="161925" tIns="95250" rIns="161925" bIns="95250">
                      <a:noAutofit/>
                    </a:bodyPr>
                    <a:lstStyle/>
                    <a:p>
                      <a:pPr algn="l"/>
                      <a:r>
                        <a:rPr sz="1950" b="1">
                          <a:solidFill>
                            <a:srgbClr val="384B53"/>
                          </a:solidFill>
                          <a:latin typeface="Microsoft YaHei"/>
                          <a:ea typeface="Microsoft YaHei"/>
                          <a:cs typeface="Microsoft YaHei"/>
                        </a:rPr>
                        <a:t>股票低于目标</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只用普通现金超过初始30万元的部分补仓</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现金31万、股票69万，可买1万，留下30万</a:t>
                      </a:r>
                    </a:p>
                  </a:txBody>
                  <a:tcPr marL="91440" marR="91440" marT="45720" marB="45720" anchor="ctr">
                    <a:solidFill>
                      <a:srgbClr val="FAFAF7"/>
                    </a:solidFill>
                  </a:tcPr>
                </a:tc>
              </a:tr>
              <a:tr h="914400">
                <a:tc>
                  <a:txBody>
                    <a:bodyPr wrap="square" lIns="161925" tIns="95250" rIns="161925" bIns="95250">
                      <a:noAutofit/>
                    </a:bodyPr>
                    <a:lstStyle/>
                    <a:p>
                      <a:pPr algn="l"/>
                      <a:r>
                        <a:rPr sz="1950" b="1">
                          <a:solidFill>
                            <a:srgbClr val="384B53"/>
                          </a:solidFill>
                          <a:latin typeface="Microsoft YaHei"/>
                          <a:ea typeface="Microsoft YaHei"/>
                          <a:cs typeface="Microsoft YaHei"/>
                        </a:rPr>
                        <a:t>超额现金不足以完全补</a:t>
                      </a:r>
                    </a:p>
                    <a:p>
                      <a:pPr algn="l"/>
                      <a:r>
                        <a:rPr sz="1950" b="1">
                          <a:solidFill>
                            <a:srgbClr val="384B53"/>
                          </a:solidFill>
                          <a:latin typeface="Microsoft YaHei"/>
                          <a:ea typeface="Microsoft YaHei"/>
                          <a:cs typeface="Microsoft YaHei"/>
                        </a:rPr>
                        <a:t>仓</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买入不超过目标缺口，也不超过超额现金</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现金30.5万、股票69万，目标缺口0.65万，</a:t>
                      </a:r>
                    </a:p>
                    <a:p>
                      <a:pPr algn="l"/>
                      <a:r>
                        <a:rPr sz="1950" b="0">
                          <a:solidFill>
                            <a:srgbClr val="384B53"/>
                          </a:solidFill>
                          <a:latin typeface="Microsoft YaHei"/>
                          <a:ea typeface="Microsoft YaHei"/>
                          <a:cs typeface="Microsoft YaHei"/>
                        </a:rPr>
                        <a:t>只买0.5万</a:t>
                      </a:r>
                    </a:p>
                  </a:txBody>
                  <a:tcPr marL="91440" marR="91440" marT="45720" marB="45720" anchor="ctr">
                    <a:solidFill>
                      <a:srgbClr val="FAFAF7"/>
                    </a:solidFill>
                  </a:tcPr>
                </a:tc>
              </a:tr>
              <a:tr h="914400">
                <a:tc>
                  <a:txBody>
                    <a:bodyPr wrap="square" lIns="161925" tIns="95250" rIns="161925" bIns="95250">
                      <a:noAutofit/>
                    </a:bodyPr>
                    <a:lstStyle/>
                    <a:p>
                      <a:pPr algn="l"/>
                      <a:r>
                        <a:rPr sz="1950" b="1">
                          <a:solidFill>
                            <a:srgbClr val="384B53"/>
                          </a:solidFill>
                          <a:latin typeface="Microsoft YaHei"/>
                          <a:ea typeface="Microsoft YaHei"/>
                          <a:cs typeface="Microsoft YaHei"/>
                        </a:rPr>
                        <a:t>股票高于目标</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合法划出自有股票，在普通账户卖出补现</a:t>
                      </a:r>
                    </a:p>
                    <a:p>
                      <a:pPr algn="l"/>
                      <a:r>
                        <a:rPr sz="1950" b="0">
                          <a:solidFill>
                            <a:srgbClr val="384B53"/>
                          </a:solidFill>
                          <a:latin typeface="Microsoft YaHei"/>
                          <a:ea typeface="Microsoft YaHei"/>
                          <a:cs typeface="Microsoft YaHei"/>
                        </a:rPr>
                        <a:t>金</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现金20万、股票80万，可转条件满足时，卖</a:t>
                      </a:r>
                    </a:p>
                    <a:p>
                      <a:pPr algn="l"/>
                      <a:r>
                        <a:rPr sz="1950" b="0">
                          <a:solidFill>
                            <a:srgbClr val="384B53"/>
                          </a:solidFill>
                          <a:latin typeface="Microsoft YaHei"/>
                          <a:ea typeface="Microsoft YaHei"/>
                          <a:cs typeface="Microsoft YaHei"/>
                        </a:rPr>
                        <a:t>10万恢复70/30</a:t>
                      </a:r>
                    </a:p>
                  </a:txBody>
                  <a:tcPr marL="91440" marR="91440" marT="45720" marB="45720" anchor="ctr">
                    <a:solidFill>
                      <a:srgbClr val="FAFAF7"/>
                    </a:solidFill>
                  </a:tcPr>
                </a:tc>
              </a:tr>
              <a:tr h="914400">
                <a:tc>
                  <a:txBody>
                    <a:bodyPr wrap="square" lIns="161925" tIns="95250" rIns="161925" bIns="95250">
                      <a:noAutofit/>
                    </a:bodyPr>
                    <a:lstStyle/>
                    <a:p>
                      <a:pPr algn="l"/>
                      <a:r>
                        <a:rPr sz="1950" b="1">
                          <a:solidFill>
                            <a:srgbClr val="384B53"/>
                          </a:solidFill>
                          <a:latin typeface="Microsoft YaHei"/>
                          <a:ea typeface="Microsoft YaHei"/>
                          <a:cs typeface="Microsoft YaHei"/>
                        </a:rPr>
                        <a:t>转出条件不满足</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能调多少调多少，剩余偏离保留</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不为恢复精确比例，自动卖信用持仓偿债</a:t>
                      </a:r>
                    </a:p>
                  </a:txBody>
                  <a:tcPr marL="91440" marR="91440" marT="45720" marB="45720" anchor="ctr">
                    <a:solidFill>
                      <a:srgbClr val="FAFAF7"/>
                    </a:solidFill>
                  </a:tcPr>
                </a:tc>
              </a:tr>
            </a:tbl>
          </a:graphicData>
        </a:graphic>
      </p:graphicFrame>
    </p:spTree>
    <p:extLst>
      <p:ext uri="{BB962C8B-B14F-4D97-AF65-F5344CB8AC3E}">
        <p14:creationId xmlns:p14="http://schemas.microsoft.com/office/powerpoint/2010/main" val="246336994"/>
      </p:ext>
    </p:extLst>
  </p:cSld>
</p:sld>
</file>

<file path=ppt/slides/slide1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81209D1C-E359-4529-9722-FFDE9E9438AE}"/>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补担保：160%触发，目标200%</a:t>
            </a:r>
          </a:p>
        </p:txBody>
      </p:sp>
      <p:sp>
        <p:nvSpPr>
          <p:cNvPr id="2" name="text-1">
            <a:extLst xmlns:a="http://schemas.openxmlformats.org/drawingml/2006/main">
              <a:ext uri="{FF2B5EF4-FFF2-40B4-BE49-F238E27FC236}">
                <a16:creationId xmlns:a16="http://schemas.microsoft.com/office/drawing/2014/main" id="{FAC00426-E4AA-4FA1-90A1-9692967538E7}"/>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年度操作之外持续检查信用风险，不能等到下一次再平衡</a:t>
            </a:r>
          </a:p>
        </p:txBody>
      </p:sp>
      <p:sp>
        <p:nvSpPr>
          <p:cNvPr id="3" name="text-2">
            <a:extLst xmlns:a="http://schemas.openxmlformats.org/drawingml/2006/main">
              <a:ext uri="{FF2B5EF4-FFF2-40B4-BE49-F238E27FC236}">
                <a16:creationId xmlns:a16="http://schemas.microsoft.com/office/drawing/2014/main" id="{7DDDFABF-B8B2-4822-8CA0-C3B4B780D7C2}"/>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补担保提升信用安全，也会减少普通生活现金，两者不能同时占用同一笔钱。</a:t>
            </a:r>
          </a:p>
        </p:txBody>
      </p:sp>
      <p:sp>
        <p:nvSpPr>
          <p:cNvPr id="4" name="text-3">
            <a:extLst xmlns:a="http://schemas.openxmlformats.org/drawingml/2006/main">
              <a:ext uri="{FF2B5EF4-FFF2-40B4-BE49-F238E27FC236}">
                <a16:creationId xmlns:a16="http://schemas.microsoft.com/office/drawing/2014/main" id="{E572AEFC-C2A1-4630-845C-C72F1B7F77CB}"/>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纯股票信用账户从160%跌到140%，静态仅需再跌12.5%；实际有现金类担保品时须按股票占比分开计算。</a:t>
            </a:r>
          </a:p>
        </p:txBody>
      </p:sp>
      <p:sp>
        <p:nvSpPr>
          <p:cNvPr id="5" name="text-4">
            <a:extLst xmlns:a="http://schemas.openxmlformats.org/drawingml/2006/main">
              <a:ext uri="{FF2B5EF4-FFF2-40B4-BE49-F238E27FC236}">
                <a16:creationId xmlns:a16="http://schemas.microsoft.com/office/drawing/2014/main" id="{73EBEFE2-6D9D-4614-8DB1-1768015462A6}"/>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19</a:t>
            </a:r>
          </a:p>
        </p:txBody>
      </p:sp>
      <p:sp>
        <p:nvSpPr>
          <p:cNvPr id="6" name="text-5">
            <a:extLst xmlns:a="http://schemas.openxmlformats.org/drawingml/2006/main">
              <a:ext uri="{FF2B5EF4-FFF2-40B4-BE49-F238E27FC236}">
                <a16:creationId xmlns:a16="http://schemas.microsoft.com/office/drawing/2014/main" id="{087E1B70-7F87-4055-A372-5041AEB31C36}"/>
              </a:ext>
            </a:extLst>
          </p:cNvPr>
          <p:cNvSpPr>
            <a:spLocks xmlns:a="http://schemas.openxmlformats.org/drawingml/2006/main" noGrp="1"/>
          </p:cNvSpPr>
          <p:nvPr/>
        </p:nvSpPr>
        <p:spPr>
          <a:xfrm xmlns:a="http://schemas.openxmlformats.org/drawingml/2006/main">
            <a:off x="857250" y="2333625"/>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触发与金额</a:t>
            </a:r>
          </a:p>
        </p:txBody>
      </p:sp>
      <p:sp>
        <p:nvSpPr>
          <p:cNvPr id="7" name="text-6">
            <a:extLst xmlns:a="http://schemas.openxmlformats.org/drawingml/2006/main">
              <a:ext uri="{FF2B5EF4-FFF2-40B4-BE49-F238E27FC236}">
                <a16:creationId xmlns:a16="http://schemas.microsoft.com/office/drawing/2014/main" id="{83D083EE-7385-45EA-989B-B5F1A3C24BDE}"/>
              </a:ext>
            </a:extLst>
          </p:cNvPr>
          <p:cNvSpPr>
            <a:spLocks xmlns:a="http://schemas.openxmlformats.org/drawingml/2006/main" noGrp="1"/>
          </p:cNvSpPr>
          <p:nvPr/>
        </p:nvSpPr>
        <p:spPr>
          <a:xfrm xmlns:a="http://schemas.openxmlformats.org/drawingml/2006/main">
            <a:off x="857250" y="2867025"/>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信用维持率低于160%时，所需补入市值＝max</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（0，2×信用债务－信用资产）。例如信用资产150</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万、债务100万，补到200%需要50万担保品。</a:t>
            </a:r>
          </a:p>
        </p:txBody>
      </p:sp>
      <p:sp>
        <p:nvSpPr>
          <p:cNvPr id="8" name="text-7">
            <a:extLst xmlns:a="http://schemas.openxmlformats.org/drawingml/2006/main">
              <a:ext uri="{FF2B5EF4-FFF2-40B4-BE49-F238E27FC236}">
                <a16:creationId xmlns:a16="http://schemas.microsoft.com/office/drawing/2014/main" id="{38815983-F069-4B24-8DE2-E6F62E0F2A55}"/>
              </a:ext>
            </a:extLst>
          </p:cNvPr>
          <p:cNvSpPr>
            <a:spLocks xmlns:a="http://schemas.openxmlformats.org/drawingml/2006/main" noGrp="1"/>
          </p:cNvSpPr>
          <p:nvPr/>
        </p:nvSpPr>
        <p:spPr>
          <a:xfrm xmlns:a="http://schemas.openxmlformats.org/drawingml/2006/main">
            <a:off x="7953375" y="2333625"/>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优先补现金类证券</a:t>
            </a:r>
          </a:p>
        </p:txBody>
      </p:sp>
      <p:sp>
        <p:nvSpPr>
          <p:cNvPr id="9" name="text-8">
            <a:extLst xmlns:a="http://schemas.openxmlformats.org/drawingml/2006/main">
              <a:ext uri="{FF2B5EF4-FFF2-40B4-BE49-F238E27FC236}">
                <a16:creationId xmlns:a16="http://schemas.microsoft.com/office/drawing/2014/main" id="{C2E1A253-3F49-49F8-A711-C4F6BF3D8AFF}"/>
              </a:ext>
            </a:extLst>
          </p:cNvPr>
          <p:cNvSpPr>
            <a:spLocks xmlns:a="http://schemas.openxmlformats.org/drawingml/2006/main" noGrp="1"/>
          </p:cNvSpPr>
          <p:nvPr/>
        </p:nvSpPr>
        <p:spPr>
          <a:xfrm xmlns:a="http://schemas.openxmlformats.org/drawingml/2006/main">
            <a:off x="7953375" y="2867025"/>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普通现金买入合格低波动证券，划入信用账户。股</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票和债务不变，通过增加担保资产提高维持率，符</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合不主动还本付息的目标。</a:t>
            </a:r>
          </a:p>
        </p:txBody>
      </p:sp>
      <p:sp>
        <p:nvSpPr>
          <p:cNvPr id="10" name="text-9">
            <a:extLst xmlns:a="http://schemas.openxmlformats.org/drawingml/2006/main">
              <a:ext uri="{FF2B5EF4-FFF2-40B4-BE49-F238E27FC236}">
                <a16:creationId xmlns:a16="http://schemas.microsoft.com/office/drawing/2014/main" id="{4334EED5-700E-44E5-9E4E-21D1A7EAB1BA}"/>
              </a:ext>
            </a:extLst>
          </p:cNvPr>
          <p:cNvSpPr>
            <a:spLocks xmlns:a="http://schemas.openxmlformats.org/drawingml/2006/main" noGrp="1"/>
          </p:cNvSpPr>
          <p:nvPr/>
        </p:nvSpPr>
        <p:spPr>
          <a:xfrm xmlns:a="http://schemas.openxmlformats.org/drawingml/2006/main">
            <a:off x="857250" y="4686300"/>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可用现金与到账约束</a:t>
            </a:r>
          </a:p>
        </p:txBody>
      </p:sp>
      <p:sp>
        <p:nvSpPr>
          <p:cNvPr id="11" name="text-10">
            <a:extLst xmlns:a="http://schemas.openxmlformats.org/drawingml/2006/main">
              <a:ext uri="{FF2B5EF4-FFF2-40B4-BE49-F238E27FC236}">
                <a16:creationId xmlns:a16="http://schemas.microsoft.com/office/drawing/2014/main" id="{5BB0AA83-314E-4874-A8F3-635E474C2310}"/>
              </a:ext>
            </a:extLst>
          </p:cNvPr>
          <p:cNvSpPr>
            <a:spLocks xmlns:a="http://schemas.openxmlformats.org/drawingml/2006/main" noGrp="1"/>
          </p:cNvSpPr>
          <p:nvPr/>
        </p:nvSpPr>
        <p:spPr>
          <a:xfrm xmlns:a="http://schemas.openxmlformats.org/drawingml/2006/main">
            <a:off x="857250" y="5219700"/>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允许用到普通账户现金底线以内，甚至用尽储备；</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不足则只补实际金额。在途担保品还未进入信用分</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子，到账前继续下跌仍有风险。</a:t>
            </a:r>
          </a:p>
        </p:txBody>
      </p:sp>
      <p:sp>
        <p:nvSpPr>
          <p:cNvPr id="12" name="text-11">
            <a:extLst xmlns:a="http://schemas.openxmlformats.org/drawingml/2006/main">
              <a:ext uri="{FF2B5EF4-FFF2-40B4-BE49-F238E27FC236}">
                <a16:creationId xmlns:a16="http://schemas.microsoft.com/office/drawing/2014/main" id="{82A9B7EB-35F0-4760-9BEB-29D5F3CF731B}"/>
              </a:ext>
            </a:extLst>
          </p:cNvPr>
          <p:cNvSpPr>
            <a:spLocks xmlns:a="http://schemas.openxmlformats.org/drawingml/2006/main" noGrp="1"/>
          </p:cNvSpPr>
          <p:nvPr/>
        </p:nvSpPr>
        <p:spPr>
          <a:xfrm xmlns:a="http://schemas.openxmlformats.org/drawingml/2006/main">
            <a:off x="7953375" y="4686300"/>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释放与失败处理</a:t>
            </a:r>
          </a:p>
        </p:txBody>
      </p:sp>
      <p:sp>
        <p:nvSpPr>
          <p:cNvPr id="13" name="text-12">
            <a:extLst xmlns:a="http://schemas.openxmlformats.org/drawingml/2006/main">
              <a:ext uri="{FF2B5EF4-FFF2-40B4-BE49-F238E27FC236}">
                <a16:creationId xmlns:a16="http://schemas.microsoft.com/office/drawing/2014/main" id="{9AE790D6-B91A-477B-9E0E-265A56481D3A}"/>
              </a:ext>
            </a:extLst>
          </p:cNvPr>
          <p:cNvSpPr>
            <a:spLocks xmlns:a="http://schemas.openxmlformats.org/drawingml/2006/main" noGrp="1"/>
          </p:cNvSpPr>
          <p:nvPr/>
        </p:nvSpPr>
        <p:spPr>
          <a:xfrm xmlns:a="http://schemas.openxmlformats.org/drawingml/2006/main">
            <a:off x="7953375" y="5219700"/>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以后年度满足转出条件时，优先释放可转现金类担</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保品。低于140%记研究失败，不能靠后续反弹</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改写；必须偿债才能存续的情况另列。</a:t>
            </a:r>
          </a:p>
        </p:txBody>
      </p:sp>
    </p:spTree>
    <p:extLst>
      <p:ext uri="{BB962C8B-B14F-4D97-AF65-F5344CB8AC3E}">
        <p14:creationId xmlns:p14="http://schemas.microsoft.com/office/powerpoint/2010/main" val="1407556786"/>
      </p:ext>
    </p:extLst>
  </p:cSld>
</p:sld>
</file>

<file path=ppt/slides/slide2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3E98D15D-2CB9-4024-B383-60BFFA47A445}"/>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统一回测口径与结果含义</a:t>
            </a:r>
          </a:p>
        </p:txBody>
      </p:sp>
      <p:sp>
        <p:nvSpPr>
          <p:cNvPr id="2" name="text-1">
            <a:extLst xmlns:a="http://schemas.openxmlformats.org/drawingml/2006/main">
              <a:ext uri="{FF2B5EF4-FFF2-40B4-BE49-F238E27FC236}">
                <a16:creationId xmlns:a16="http://schemas.microsoft.com/office/drawing/2014/main" id="{103BAF9B-707B-473E-B06A-9D54EE34F452}"/>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把相同生活预算放入不同市场起点，逐日检查双账户运行</a:t>
            </a:r>
          </a:p>
        </p:txBody>
      </p:sp>
      <p:sp>
        <p:nvSpPr>
          <p:cNvPr id="3" name="text-2">
            <a:extLst xmlns:a="http://schemas.openxmlformats.org/drawingml/2006/main">
              <a:ext uri="{FF2B5EF4-FFF2-40B4-BE49-F238E27FC236}">
                <a16:creationId xmlns:a16="http://schemas.microsoft.com/office/drawing/2014/main" id="{786A6DAC-A122-4458-89E7-3F8E6B696398}"/>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以下数值均为这一套参数下的历史模拟，不混用旧版策略结果。</a:t>
            </a:r>
          </a:p>
        </p:txBody>
      </p:sp>
      <p:sp>
        <p:nvSpPr>
          <p:cNvPr id="4" name="text-3">
            <a:extLst xmlns:a="http://schemas.openxmlformats.org/drawingml/2006/main">
              <a:ext uri="{FF2B5EF4-FFF2-40B4-BE49-F238E27FC236}">
                <a16:creationId xmlns:a16="http://schemas.microsoft.com/office/drawing/2014/main" id="{6B843478-91B7-4548-911D-AD8143D8C088}"/>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万元按初始100万归一化；尚未模拟人民币汇率、境内ETF真实成交、溢折价、跟踪误差、税费和授信变化。</a:t>
            </a:r>
          </a:p>
        </p:txBody>
      </p:sp>
      <p:sp>
        <p:nvSpPr>
          <p:cNvPr id="5" name="text-4">
            <a:extLst xmlns:a="http://schemas.openxmlformats.org/drawingml/2006/main">
              <a:ext uri="{FF2B5EF4-FFF2-40B4-BE49-F238E27FC236}">
                <a16:creationId xmlns:a16="http://schemas.microsoft.com/office/drawing/2014/main" id="{96D6678A-6877-4808-901A-A099CEA6DDA3}"/>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20</a:t>
            </a:r>
          </a:p>
        </p:txBody>
      </p:sp>
      <p:graphicFrame>
        <p:nvGraphicFramePr>
          <p:cNvPr id="13" name=""/>
          <p:cNvGraphicFramePr/>
          <p:nvPr/>
        </p:nvGraphicFramePr>
        <p:xfrm>
          <a:off xmlns:a="http://schemas.openxmlformats.org/drawingml/2006/main" x="857250" y="2257425"/>
          <a:ext xmlns:a="http://schemas.openxmlformats.org/drawingml/2006/main" cx="13525500" cy="3571875"/>
        </p:xfrm>
        <a:graphic xmlns:a="http://schemas.openxmlformats.org/drawingml/2006/main">
          <a:graphicData uri="http://schemas.openxmlformats.org/drawingml/2006/table">
            <a:tbl>
              <a:tblPr firstRow="1" bandRow="0"/>
              <a:tblGrid>
                <a:gridCol w="3787140"/>
                <a:gridCol w="9738360"/>
              </a:tblGrid>
              <a:tr h="533400">
                <a:tc>
                  <a:txBody>
                    <a:bodyPr wrap="square" lIns="161925" tIns="95250" rIns="161925" bIns="95250">
                      <a:noAutofit/>
                    </a:bodyPr>
                    <a:lstStyle/>
                    <a:p>
                      <a:pPr algn="l"/>
                      <a:r>
                        <a:rPr sz="1875" b="1">
                          <a:solidFill>
                            <a:srgbClr val="18323D"/>
                          </a:solidFill>
                          <a:latin typeface="Microsoft YaHei"/>
                          <a:ea typeface="Microsoft YaHei"/>
                          <a:cs typeface="Microsoft YaHei"/>
                        </a:rPr>
                        <a:t>项目</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本轮统一设定</a:t>
                      </a:r>
                    </a:p>
                  </a:txBody>
                  <a:tcPr marL="91440" marR="91440" marT="45720" marB="45720" anchor="ctr">
                    <a:solidFill>
                      <a:srgbClr val="E8EEEB"/>
                    </a:solidFill>
                  </a:tcPr>
                </a:tc>
              </a:tr>
              <a:tr h="607695">
                <a:tc>
                  <a:txBody>
                    <a:bodyPr wrap="square" lIns="161925" tIns="95250" rIns="161925" bIns="95250">
                      <a:noAutofit/>
                    </a:bodyPr>
                    <a:lstStyle/>
                    <a:p>
                      <a:pPr algn="l"/>
                      <a:r>
                        <a:rPr sz="1950" b="1">
                          <a:solidFill>
                            <a:srgbClr val="384B53"/>
                          </a:solidFill>
                          <a:latin typeface="Microsoft YaHei"/>
                          <a:ea typeface="Microsoft YaHei"/>
                          <a:cs typeface="Microsoft YaHei"/>
                        </a:rPr>
                        <a:t>历史代理与数据截止</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QQQ复权日线，1999-03-10至2026-09-08，共6,917条</a:t>
                      </a:r>
                    </a:p>
                  </a:txBody>
                  <a:tcPr marL="91440" marR="91440" marT="45720" marB="45720" anchor="ctr">
                    <a:solidFill>
                      <a:srgbClr val="FAFAF7"/>
                    </a:solidFill>
                  </a:tcPr>
                </a:tc>
              </a:tr>
              <a:tr h="607695">
                <a:tc>
                  <a:txBody>
                    <a:bodyPr wrap="square" lIns="161925" tIns="95250" rIns="161925" bIns="95250">
                      <a:noAutofit/>
                    </a:bodyPr>
                    <a:lstStyle/>
                    <a:p>
                      <a:pPr algn="l"/>
                      <a:r>
                        <a:rPr sz="1950" b="1">
                          <a:solidFill>
                            <a:srgbClr val="384B53"/>
                          </a:solidFill>
                          <a:latin typeface="Microsoft YaHei"/>
                          <a:ea typeface="Microsoft YaHei"/>
                          <a:cs typeface="Microsoft YaHei"/>
                        </a:rPr>
                        <a:t>压力起点 / 上涨起点</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2000-03-27（当月最高收盘）/ 2009-03-09（当年最低收盘）</a:t>
                      </a:r>
                    </a:p>
                  </a:txBody>
                  <a:tcPr marL="91440" marR="91440" marT="45720" marB="45720" anchor="ctr">
                    <a:solidFill>
                      <a:srgbClr val="FAFAF7"/>
                    </a:solidFill>
                  </a:tcPr>
                </a:tc>
              </a:tr>
              <a:tr h="607695">
                <a:tc>
                  <a:txBody>
                    <a:bodyPr wrap="square" lIns="161925" tIns="95250" rIns="161925" bIns="95250">
                      <a:noAutofit/>
                    </a:bodyPr>
                    <a:lstStyle/>
                    <a:p>
                      <a:pPr algn="l"/>
                      <a:r>
                        <a:rPr sz="1950" b="1">
                          <a:solidFill>
                            <a:srgbClr val="384B53"/>
                          </a:solidFill>
                          <a:latin typeface="Microsoft YaHei"/>
                          <a:ea typeface="Microsoft YaHei"/>
                          <a:cs typeface="Microsoft YaHei"/>
                        </a:rPr>
                        <a:t>初始资产与支出</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初始100万元，每年固定2万元，首末年也支取全年预算</a:t>
                      </a:r>
                    </a:p>
                  </a:txBody>
                  <a:tcPr marL="91440" marR="91440" marT="45720" marB="45720" anchor="ctr">
                    <a:solidFill>
                      <a:srgbClr val="FAFAF7"/>
                    </a:solidFill>
                  </a:tcPr>
                </a:tc>
              </a:tr>
              <a:tr h="607695">
                <a:tc>
                  <a:txBody>
                    <a:bodyPr wrap="square" lIns="161925" tIns="95250" rIns="161925" bIns="95250">
                      <a:noAutofit/>
                    </a:bodyPr>
                    <a:lstStyle/>
                    <a:p>
                      <a:pPr algn="l"/>
                      <a:r>
                        <a:rPr sz="1950" b="1">
                          <a:solidFill>
                            <a:srgbClr val="384B53"/>
                          </a:solidFill>
                          <a:latin typeface="Microsoft YaHei"/>
                          <a:ea typeface="Microsoft YaHei"/>
                          <a:cs typeface="Microsoft YaHei"/>
                        </a:rPr>
                        <a:t>利息与现金收益</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融资年化2.8%单利挂息，现金类资产年化2%平滑增长</a:t>
                      </a:r>
                    </a:p>
                  </a:txBody>
                  <a:tcPr marL="91440" marR="91440" marT="45720" marB="45720" anchor="ctr">
                    <a:solidFill>
                      <a:srgbClr val="FAFAF7"/>
                    </a:solidFill>
                  </a:tcPr>
                </a:tc>
              </a:tr>
              <a:tr h="607695">
                <a:tc>
                  <a:txBody>
                    <a:bodyPr wrap="square" lIns="161925" tIns="95250" rIns="161925" bIns="95250">
                      <a:noAutofit/>
                    </a:bodyPr>
                    <a:lstStyle/>
                    <a:p>
                      <a:pPr algn="l"/>
                      <a:r>
                        <a:rPr sz="1950" b="1">
                          <a:solidFill>
                            <a:srgbClr val="384B53"/>
                          </a:solidFill>
                          <a:latin typeface="Microsoft YaHei"/>
                          <a:ea typeface="Microsoft YaHei"/>
                          <a:cs typeface="Microsoft YaHei"/>
                        </a:rPr>
                        <a:t>账户与风险规则</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含保证金、自有库存、交收，300%转出，160%/200%补担保，140%停止</a:t>
                      </a:r>
                    </a:p>
                  </a:txBody>
                  <a:tcPr marL="91440" marR="91440" marT="45720" marB="45720" anchor="ctr">
                    <a:solidFill>
                      <a:srgbClr val="FAFAF7"/>
                    </a:solidFill>
                  </a:tcPr>
                </a:tc>
              </a:tr>
            </a:tbl>
          </a:graphicData>
        </a:graphic>
      </p:graphicFrame>
      <p:sp>
        <p:nvSpPr>
          <p:cNvPr id="7" name="text-5">
            <a:extLst xmlns:a="http://schemas.openxmlformats.org/drawingml/2006/main">
              <a:ext uri="{FF2B5EF4-FFF2-40B4-BE49-F238E27FC236}">
                <a16:creationId xmlns:a16="http://schemas.microsoft.com/office/drawing/2014/main" id="{4A397FDD-FB0A-4F82-B884-6155546FD336}"/>
              </a:ext>
            </a:extLst>
          </p:cNvPr>
          <p:cNvSpPr>
            <a:spLocks xmlns:a="http://schemas.openxmlformats.org/drawingml/2006/main" noGrp="1"/>
          </p:cNvSpPr>
          <p:nvPr/>
        </p:nvSpPr>
        <p:spPr>
          <a:xfrm xmlns:a="http://schemas.openxmlformats.org/drawingml/2006/main">
            <a:off x="857250" y="6115050"/>
            <a:ext cx="13525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025" b="0">
                <a:solidFill>
                  <a:srgbClr val="384B53"/>
                </a:solidFill>
                <a:latin typeface="Microsoft YaHei"/>
                <a:ea typeface="Microsoft YaHei"/>
                <a:cs typeface="Microsoft YaHei"/>
              </a:defRPr>
            </a:pPr>
            <a:r>
              <a:rPr sz="2025" b="0">
                <a:solidFill>
                  <a:srgbClr val="384B53"/>
                </a:solidFill>
                <a:latin typeface="Microsoft YaHei"/>
                <a:ea typeface="Microsoft YaHei"/>
                <a:cs typeface="Microsoft YaHei"/>
              </a:rPr>
              <a:t>2000起点覆盖27个日历年，共支出54万元；2009起点覆盖18个日历年，共支出36万元。期末净资产均已扣全部本息</a:t>
            </a:r>
          </a:p>
          <a:p xmlns:a="http://schemas.openxmlformats.org/drawingml/2006/main">
            <a:pPr algn="l">
              <a:lnSpc>
                <a:spcPct val="122000"/>
              </a:lnSpc>
              <a:buNone/>
              <a:defRPr sz="2025" b="0">
                <a:solidFill>
                  <a:srgbClr val="384B53"/>
                </a:solidFill>
                <a:latin typeface="Microsoft YaHei"/>
                <a:ea typeface="Microsoft YaHei"/>
                <a:cs typeface="Microsoft YaHei"/>
              </a:defRPr>
            </a:pPr>
            <a:r>
              <a:rPr sz="2025" b="0">
                <a:solidFill>
                  <a:srgbClr val="384B53"/>
                </a:solidFill>
                <a:latin typeface="Microsoft YaHei"/>
                <a:ea typeface="Microsoft YaHei"/>
                <a:cs typeface="Microsoft YaHei"/>
              </a:rPr>
              <a:t>负债与已支付生活费，不把融资进账或跨账户划转当成收益。</a:t>
            </a:r>
          </a:p>
        </p:txBody>
      </p:sp>
    </p:spTree>
    <p:extLst>
      <p:ext uri="{BB962C8B-B14F-4D97-AF65-F5344CB8AC3E}">
        <p14:creationId xmlns:p14="http://schemas.microsoft.com/office/powerpoint/2010/main" val="819171546"/>
      </p:ext>
    </p:extLst>
  </p:cSld>
</p:sld>
</file>

<file path=ppt/slides/slide2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96FD341A-6A6B-41A8-9A82-9C2E10B27CED}"/>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2000高点入场：两种配比均完成回测</a:t>
            </a:r>
          </a:p>
        </p:txBody>
      </p:sp>
      <p:sp>
        <p:nvSpPr>
          <p:cNvPr id="2" name="text-1">
            <a:extLst xmlns:a="http://schemas.openxmlformats.org/drawingml/2006/main">
              <a:ext uri="{FF2B5EF4-FFF2-40B4-BE49-F238E27FC236}">
                <a16:creationId xmlns:a16="http://schemas.microsoft.com/office/drawing/2014/main" id="{E7A652FB-FA5A-4CB0-B6D3-919F2A5BE9B4}"/>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2000-03-27至2026-09-08，初始100万元，累计生活费54万元</a:t>
            </a:r>
          </a:p>
        </p:txBody>
      </p:sp>
      <p:sp>
        <p:nvSpPr>
          <p:cNvPr id="3" name="text-2">
            <a:extLst xmlns:a="http://schemas.openxmlformats.org/drawingml/2006/main">
              <a:ext uri="{FF2B5EF4-FFF2-40B4-BE49-F238E27FC236}">
                <a16:creationId xmlns:a16="http://schemas.microsoft.com/office/drawing/2014/main" id="{B81BE2BB-6F0F-47CD-8C57-186991A9DB68}"/>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两种配置在这条历史路径上都通过了本息零偿还检验，安全余量并不相同。</a:t>
            </a:r>
          </a:p>
        </p:txBody>
      </p:sp>
      <p:sp>
        <p:nvSpPr>
          <p:cNvPr id="4" name="text-3">
            <a:extLst xmlns:a="http://schemas.openxmlformats.org/drawingml/2006/main">
              <a:ext uri="{FF2B5EF4-FFF2-40B4-BE49-F238E27FC236}">
                <a16:creationId xmlns:a16="http://schemas.microsoft.com/office/drawing/2014/main" id="{152B26BA-C458-450B-9C58-78F1844A790C}"/>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“完成”指预算支付完整且未触发模型停止线；不代表实盘不会发生追保、强制付息或合同变化。</a:t>
            </a:r>
          </a:p>
        </p:txBody>
      </p:sp>
      <p:sp>
        <p:nvSpPr>
          <p:cNvPr id="5" name="text-4">
            <a:extLst xmlns:a="http://schemas.openxmlformats.org/drawingml/2006/main">
              <a:ext uri="{FF2B5EF4-FFF2-40B4-BE49-F238E27FC236}">
                <a16:creationId xmlns:a16="http://schemas.microsoft.com/office/drawing/2014/main" id="{6C457E36-2CFD-4976-A3EA-835F18F660FB}"/>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21</a:t>
            </a:r>
          </a:p>
        </p:txBody>
      </p:sp>
      <p:graphicFrame>
        <p:nvGraphicFramePr>
          <p:cNvPr id="13" name=""/>
          <p:cNvGraphicFramePr/>
          <p:nvPr/>
        </p:nvGraphicFramePr>
        <p:xfrm>
          <a:off xmlns:a="http://schemas.openxmlformats.org/drawingml/2006/main" x="857250" y="2257425"/>
          <a:ext xmlns:a="http://schemas.openxmlformats.org/drawingml/2006/main" cx="13525500" cy="3571875"/>
        </p:xfrm>
        <a:graphic xmlns:a="http://schemas.openxmlformats.org/drawingml/2006/main">
          <a:graphicData uri="http://schemas.openxmlformats.org/drawingml/2006/table">
            <a:tbl>
              <a:tblPr firstRow="1" bandRow="0"/>
              <a:tblGrid>
                <a:gridCol w="5139690"/>
                <a:gridCol w="4192905"/>
                <a:gridCol w="4192905"/>
              </a:tblGrid>
              <a:tr h="533400">
                <a:tc>
                  <a:txBody>
                    <a:bodyPr wrap="square" lIns="161925" tIns="95250" rIns="161925" bIns="95250">
                      <a:noAutofit/>
                    </a:bodyPr>
                    <a:lstStyle/>
                    <a:p>
                      <a:pPr algn="l"/>
                      <a:r>
                        <a:rPr sz="1875" b="1">
                          <a:solidFill>
                            <a:srgbClr val="18323D"/>
                          </a:solidFill>
                          <a:latin typeface="Microsoft YaHei"/>
                          <a:ea typeface="Microsoft YaHei"/>
                          <a:cs typeface="Microsoft YaHei"/>
                        </a:rPr>
                        <a:t>指标</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70/30现金接力</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80/20现金接力</a:t>
                      </a:r>
                    </a:p>
                  </a:txBody>
                  <a:tcPr marL="91440" marR="91440" marT="45720" marB="45720" anchor="ctr">
                    <a:solidFill>
                      <a:srgbClr val="E8EEEB"/>
                    </a:solidFill>
                  </a:tcPr>
                </a:tc>
              </a:tr>
              <a:tr h="607695">
                <a:tc>
                  <a:txBody>
                    <a:bodyPr wrap="square" lIns="161925" tIns="95250" rIns="161925" bIns="95250">
                      <a:noAutofit/>
                    </a:bodyPr>
                    <a:lstStyle/>
                    <a:p>
                      <a:pPr algn="l"/>
                      <a:r>
                        <a:rPr sz="1950" b="1">
                          <a:solidFill>
                            <a:srgbClr val="384B53"/>
                          </a:solidFill>
                          <a:latin typeface="Microsoft YaHei"/>
                          <a:ea typeface="Microsoft YaHei"/>
                          <a:cs typeface="Microsoft YaHei"/>
                        </a:rPr>
                        <a:t>期末净资产</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372.39万元</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409.73万元</a:t>
                      </a:r>
                    </a:p>
                  </a:txBody>
                  <a:tcPr marL="91440" marR="91440" marT="45720" marB="45720" anchor="ctr">
                    <a:solidFill>
                      <a:srgbClr val="FAFAF7"/>
                    </a:solidFill>
                  </a:tcPr>
                </a:tc>
              </a:tr>
              <a:tr h="607695">
                <a:tc>
                  <a:txBody>
                    <a:bodyPr wrap="square" lIns="161925" tIns="95250" rIns="161925" bIns="95250">
                      <a:noAutofit/>
                    </a:bodyPr>
                    <a:lstStyle/>
                    <a:p>
                      <a:pPr algn="l"/>
                      <a:r>
                        <a:rPr sz="1950" b="1">
                          <a:solidFill>
                            <a:srgbClr val="384B53"/>
                          </a:solidFill>
                          <a:latin typeface="Microsoft YaHei"/>
                          <a:ea typeface="Microsoft YaHei"/>
                          <a:cs typeface="Microsoft YaHei"/>
                        </a:rPr>
                        <a:t>期末本息负债</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47.43万元</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50.20万元</a:t>
                      </a:r>
                    </a:p>
                  </a:txBody>
                  <a:tcPr marL="91440" marR="91440" marT="45720" marB="45720" anchor="ctr">
                    <a:solidFill>
                      <a:srgbClr val="FAFAF7"/>
                    </a:solidFill>
                  </a:tcPr>
                </a:tc>
              </a:tr>
              <a:tr h="607695">
                <a:tc>
                  <a:txBody>
                    <a:bodyPr wrap="square" lIns="161925" tIns="95250" rIns="161925" bIns="95250">
                      <a:noAutofit/>
                    </a:bodyPr>
                    <a:lstStyle/>
                    <a:p>
                      <a:pPr algn="l"/>
                      <a:r>
                        <a:rPr sz="1950" b="1">
                          <a:solidFill>
                            <a:srgbClr val="384B53"/>
                          </a:solidFill>
                          <a:latin typeface="Microsoft YaHei"/>
                          <a:ea typeface="Microsoft YaHei"/>
                          <a:cs typeface="Microsoft YaHei"/>
                        </a:rPr>
                        <a:t>最低信用维持率</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166.72%</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155.33%</a:t>
                      </a:r>
                    </a:p>
                  </a:txBody>
                  <a:tcPr marL="91440" marR="91440" marT="45720" marB="45720" anchor="ctr">
                    <a:solidFill>
                      <a:srgbClr val="FAFAF7"/>
                    </a:solidFill>
                  </a:tcPr>
                </a:tc>
              </a:tr>
              <a:tr h="607695">
                <a:tc>
                  <a:txBody>
                    <a:bodyPr wrap="square" lIns="161925" tIns="95250" rIns="161925" bIns="95250">
                      <a:noAutofit/>
                    </a:bodyPr>
                    <a:lstStyle/>
                    <a:p>
                      <a:pPr algn="l"/>
                      <a:r>
                        <a:rPr sz="1950" b="1">
                          <a:solidFill>
                            <a:srgbClr val="384B53"/>
                          </a:solidFill>
                          <a:latin typeface="Microsoft YaHei"/>
                          <a:ea typeface="Microsoft YaHei"/>
                          <a:cs typeface="Microsoft YaHei"/>
                        </a:rPr>
                        <a:t>净资产最大回撤</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71.58%</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81.16%</a:t>
                      </a:r>
                    </a:p>
                  </a:txBody>
                  <a:tcPr marL="91440" marR="91440" marT="45720" marB="45720" anchor="ctr">
                    <a:solidFill>
                      <a:srgbClr val="FAFAF7"/>
                    </a:solidFill>
                  </a:tcPr>
                </a:tc>
              </a:tr>
              <a:tr h="607695">
                <a:tc>
                  <a:txBody>
                    <a:bodyPr wrap="square" lIns="161925" tIns="95250" rIns="161925" bIns="95250">
                      <a:noAutofit/>
                    </a:bodyPr>
                    <a:lstStyle/>
                    <a:p>
                      <a:pPr algn="l"/>
                      <a:r>
                        <a:rPr sz="1950" b="1">
                          <a:solidFill>
                            <a:srgbClr val="384B53"/>
                          </a:solidFill>
                          <a:latin typeface="Microsoft YaHei"/>
                          <a:ea typeface="Microsoft YaHei"/>
                          <a:cs typeface="Microsoft YaHei"/>
                        </a:rPr>
                        <a:t>实际归还本金 / 支付利息</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均为0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均为0</a:t>
                      </a:r>
                    </a:p>
                  </a:txBody>
                  <a:tcPr marL="91440" marR="91440" marT="45720" marB="45720" anchor="ctr">
                    <a:solidFill>
                      <a:srgbClr val="FAFAF7"/>
                    </a:solidFill>
                  </a:tcPr>
                </a:tc>
              </a:tr>
            </a:tbl>
          </a:graphicData>
        </a:graphic>
      </p:graphicFrame>
      <p:sp>
        <p:nvSpPr>
          <p:cNvPr id="7" name="text-5">
            <a:extLst xmlns:a="http://schemas.openxmlformats.org/drawingml/2006/main">
              <a:ext uri="{FF2B5EF4-FFF2-40B4-BE49-F238E27FC236}">
                <a16:creationId xmlns:a16="http://schemas.microsoft.com/office/drawing/2014/main" id="{917016BD-5AA1-46EA-B380-85D3FA36D799}"/>
              </a:ext>
            </a:extLst>
          </p:cNvPr>
          <p:cNvSpPr>
            <a:spLocks xmlns:a="http://schemas.openxmlformats.org/drawingml/2006/main" noGrp="1"/>
          </p:cNvSpPr>
          <p:nvPr/>
        </p:nvSpPr>
        <p:spPr>
          <a:xfrm xmlns:a="http://schemas.openxmlformats.org/drawingml/2006/main">
            <a:off x="857250" y="6115050"/>
            <a:ext cx="13525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025" b="0">
                <a:solidFill>
                  <a:srgbClr val="384B53"/>
                </a:solidFill>
                <a:latin typeface="Microsoft YaHei"/>
                <a:ea typeface="Microsoft YaHei"/>
                <a:cs typeface="Microsoft YaHei"/>
              </a:defRPr>
            </a:pPr>
            <a:r>
              <a:rPr sz="2025" b="0">
                <a:solidFill>
                  <a:srgbClr val="384B53"/>
                </a:solidFill>
                <a:latin typeface="Microsoft YaHei"/>
                <a:ea typeface="Microsoft YaHei"/>
                <a:cs typeface="Microsoft YaHei"/>
              </a:rPr>
              <a:t>80/20期末净资产多37.34万元，约高10.03%，但净资产回撤更深，最低信用维持率也更接近研究停止线。仅凭期末</a:t>
            </a:r>
          </a:p>
          <a:p xmlns:a="http://schemas.openxmlformats.org/drawingml/2006/main">
            <a:pPr algn="l">
              <a:lnSpc>
                <a:spcPct val="122000"/>
              </a:lnSpc>
              <a:buNone/>
              <a:defRPr sz="2025" b="0">
                <a:solidFill>
                  <a:srgbClr val="384B53"/>
                </a:solidFill>
                <a:latin typeface="Microsoft YaHei"/>
                <a:ea typeface="Microsoft YaHei"/>
                <a:cs typeface="Microsoft YaHei"/>
              </a:defRPr>
            </a:pPr>
            <a:r>
              <a:rPr sz="2025" b="0">
                <a:solidFill>
                  <a:srgbClr val="384B53"/>
                </a:solidFill>
                <a:latin typeface="Microsoft YaHei"/>
                <a:ea typeface="Microsoft YaHei"/>
                <a:cs typeface="Microsoft YaHei"/>
              </a:rPr>
              <a:t>金额，无法判断哪种配置更适合靠它支付生活费。</a:t>
            </a:r>
          </a:p>
        </p:txBody>
      </p:sp>
    </p:spTree>
    <p:extLst>
      <p:ext uri="{BB962C8B-B14F-4D97-AF65-F5344CB8AC3E}">
        <p14:creationId xmlns:p14="http://schemas.microsoft.com/office/powerpoint/2010/main" val="1796616719"/>
      </p:ext>
    </p:extLst>
  </p:cSld>
</p:sld>
</file>

<file path=ppt/slides/slide2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484CCA05-2A8D-4E51-BBFB-89FE9A8F5168}"/>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现金接力实际承担了8—9年的生活费</a:t>
            </a:r>
          </a:p>
        </p:txBody>
      </p:sp>
      <p:sp>
        <p:nvSpPr>
          <p:cNvPr id="2" name="text-1">
            <a:extLst xmlns:a="http://schemas.openxmlformats.org/drawingml/2006/main">
              <a:ext uri="{FF2B5EF4-FFF2-40B4-BE49-F238E27FC236}">
                <a16:creationId xmlns:a16="http://schemas.microsoft.com/office/drawing/2014/main" id="{37253841-5F4D-4F14-B5F0-C1E207E36E27}"/>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同一条2000年高点路径，最低普通现金的差异比期末财富更值得关注</a:t>
            </a:r>
          </a:p>
        </p:txBody>
      </p:sp>
      <p:sp>
        <p:nvSpPr>
          <p:cNvPr id="3" name="text-2">
            <a:extLst xmlns:a="http://schemas.openxmlformats.org/drawingml/2006/main">
              <a:ext uri="{FF2B5EF4-FFF2-40B4-BE49-F238E27FC236}">
                <a16:creationId xmlns:a16="http://schemas.microsoft.com/office/drawing/2014/main" id="{6EE5B8FE-245B-47AF-B9DA-31ED0B947A81}"/>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70/30在不利路径上留下了更长的普通账户现金续航。</a:t>
            </a:r>
          </a:p>
        </p:txBody>
      </p:sp>
      <p:sp>
        <p:nvSpPr>
          <p:cNvPr id="4" name="text-3">
            <a:extLst xmlns:a="http://schemas.openxmlformats.org/drawingml/2006/main">
              <a:ext uri="{FF2B5EF4-FFF2-40B4-BE49-F238E27FC236}">
                <a16:creationId xmlns:a16="http://schemas.microsoft.com/office/drawing/2014/main" id="{7313EBB5-04C8-41EA-BBE9-64ED4619DD65}"/>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图为年末普通现金，精确最低余额取逐日账，年末曲线未必触及该最低值；现金支付年数为累计数。</a:t>
            </a:r>
          </a:p>
        </p:txBody>
      </p:sp>
      <p:sp>
        <p:nvSpPr>
          <p:cNvPr id="5" name="text-4">
            <a:extLst xmlns:a="http://schemas.openxmlformats.org/drawingml/2006/main">
              <a:ext uri="{FF2B5EF4-FFF2-40B4-BE49-F238E27FC236}">
                <a16:creationId xmlns:a16="http://schemas.microsoft.com/office/drawing/2014/main" id="{95CB5FD3-527F-4070-8A7C-13143DC2332D}"/>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22</a:t>
            </a:r>
          </a:p>
        </p:txBody>
      </p:sp>
      <p:sp>
        <p:nvSpPr>
          <p:cNvPr id="6" name="text-5">
            <a:extLst xmlns:a="http://schemas.openxmlformats.org/drawingml/2006/main">
              <a:ext uri="{FF2B5EF4-FFF2-40B4-BE49-F238E27FC236}">
                <a16:creationId xmlns:a16="http://schemas.microsoft.com/office/drawing/2014/main" id="{9C4B07EA-725C-488C-9769-59E314536D9B}"/>
              </a:ext>
            </a:extLst>
          </p:cNvPr>
          <p:cNvSpPr>
            <a:spLocks xmlns:a="http://schemas.openxmlformats.org/drawingml/2006/main" noGrp="1"/>
          </p:cNvSpPr>
          <p:nvPr/>
        </p:nvSpPr>
        <p:spPr>
          <a:xfrm xmlns:a="http://schemas.openxmlformats.org/drawingml/2006/main">
            <a:off x="9810750" y="23431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1">
                <a:solidFill>
                  <a:srgbClr val="18323D"/>
                </a:solidFill>
                <a:latin typeface="Microsoft YaHei"/>
                <a:ea typeface="Microsoft YaHei"/>
                <a:cs typeface="Microsoft YaHei"/>
              </a:defRPr>
            </a:pPr>
            <a:r>
              <a:rPr sz="1950" b="1">
                <a:solidFill>
                  <a:srgbClr val="18323D"/>
                </a:solidFill>
                <a:latin typeface="Microsoft YaHei"/>
                <a:ea typeface="Microsoft YaHei"/>
                <a:cs typeface="Microsoft YaHei"/>
              </a:rPr>
              <a:t>70/30：9年现金接力</a:t>
            </a:r>
          </a:p>
        </p:txBody>
      </p:sp>
      <p:sp>
        <p:nvSpPr>
          <p:cNvPr id="7" name="text-6">
            <a:extLst xmlns:a="http://schemas.openxmlformats.org/drawingml/2006/main">
              <a:ext uri="{FF2B5EF4-FFF2-40B4-BE49-F238E27FC236}">
                <a16:creationId xmlns:a16="http://schemas.microsoft.com/office/drawing/2014/main" id="{8D2E37E7-AF4F-4A58-9605-7C5BC8AB6DF3}"/>
              </a:ext>
            </a:extLst>
          </p:cNvPr>
          <p:cNvSpPr>
            <a:spLocks xmlns:a="http://schemas.openxmlformats.org/drawingml/2006/main" noGrp="1"/>
          </p:cNvSpPr>
          <p:nvPr/>
        </p:nvSpPr>
        <p:spPr>
          <a:xfrm xmlns:a="http://schemas.openxmlformats.org/drawingml/2006/main">
            <a:off x="9810750" y="2752725"/>
            <a:ext cx="4572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27次年度支出中，18年融资、9年用普通</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现金。最低普通现金18.50万元，约9.25年</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固定开销。</a:t>
            </a:r>
          </a:p>
        </p:txBody>
      </p:sp>
      <p:sp>
        <p:nvSpPr>
          <p:cNvPr id="8" name="text-7">
            <a:extLst xmlns:a="http://schemas.openxmlformats.org/drawingml/2006/main">
              <a:ext uri="{FF2B5EF4-FFF2-40B4-BE49-F238E27FC236}">
                <a16:creationId xmlns:a16="http://schemas.microsoft.com/office/drawing/2014/main" id="{F0FB63BA-1FC3-459A-B652-91740141D298}"/>
              </a:ext>
            </a:extLst>
          </p:cNvPr>
          <p:cNvSpPr>
            <a:spLocks xmlns:a="http://schemas.openxmlformats.org/drawingml/2006/main" noGrp="1"/>
          </p:cNvSpPr>
          <p:nvPr/>
        </p:nvSpPr>
        <p:spPr>
          <a:xfrm xmlns:a="http://schemas.openxmlformats.org/drawingml/2006/main">
            <a:off x="9810750" y="3933825"/>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1">
                <a:solidFill>
                  <a:srgbClr val="18323D"/>
                </a:solidFill>
                <a:latin typeface="Microsoft YaHei"/>
                <a:ea typeface="Microsoft YaHei"/>
                <a:cs typeface="Microsoft YaHei"/>
              </a:defRPr>
            </a:pPr>
            <a:r>
              <a:rPr sz="1950" b="1">
                <a:solidFill>
                  <a:srgbClr val="18323D"/>
                </a:solidFill>
                <a:latin typeface="Microsoft YaHei"/>
                <a:ea typeface="Microsoft YaHei"/>
                <a:cs typeface="Microsoft YaHei"/>
              </a:rPr>
              <a:t>80/20：8年现金接力</a:t>
            </a:r>
          </a:p>
        </p:txBody>
      </p:sp>
      <p:sp>
        <p:nvSpPr>
          <p:cNvPr id="9" name="text-8">
            <a:extLst xmlns:a="http://schemas.openxmlformats.org/drawingml/2006/main">
              <a:ext uri="{FF2B5EF4-FFF2-40B4-BE49-F238E27FC236}">
                <a16:creationId xmlns:a16="http://schemas.microsoft.com/office/drawing/2014/main" id="{4B5D7198-DB5F-4366-A195-4FE0F507D25E}"/>
              </a:ext>
            </a:extLst>
          </p:cNvPr>
          <p:cNvSpPr>
            <a:spLocks xmlns:a="http://schemas.openxmlformats.org/drawingml/2006/main" noGrp="1"/>
          </p:cNvSpPr>
          <p:nvPr/>
        </p:nvSpPr>
        <p:spPr>
          <a:xfrm xmlns:a="http://schemas.openxmlformats.org/drawingml/2006/main">
            <a:off x="9810750" y="4343400"/>
            <a:ext cx="4572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19年融资、8年用普通现金。最低普通现金</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7.13万元，约3.57年固定开销。</a:t>
            </a:r>
          </a:p>
        </p:txBody>
      </p:sp>
      <p:sp>
        <p:nvSpPr>
          <p:cNvPr id="10" name="text-9">
            <a:extLst xmlns:a="http://schemas.openxmlformats.org/drawingml/2006/main">
              <a:ext uri="{FF2B5EF4-FFF2-40B4-BE49-F238E27FC236}">
                <a16:creationId xmlns:a16="http://schemas.microsoft.com/office/drawing/2014/main" id="{7272D514-4DDB-401B-8E32-F374D2714FCF}"/>
              </a:ext>
            </a:extLst>
          </p:cNvPr>
          <p:cNvSpPr>
            <a:spLocks xmlns:a="http://schemas.openxmlformats.org/drawingml/2006/main" noGrp="1"/>
          </p:cNvSpPr>
          <p:nvPr/>
        </p:nvSpPr>
        <p:spPr>
          <a:xfrm xmlns:a="http://schemas.openxmlformats.org/drawingml/2006/main">
            <a:off x="9810750" y="552450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1">
                <a:solidFill>
                  <a:srgbClr val="18323D"/>
                </a:solidFill>
                <a:latin typeface="Microsoft YaHei"/>
                <a:ea typeface="Microsoft YaHei"/>
                <a:cs typeface="Microsoft YaHei"/>
              </a:defRPr>
            </a:pPr>
            <a:r>
              <a:rPr sz="1950" b="1">
                <a:solidFill>
                  <a:srgbClr val="18323D"/>
                </a:solidFill>
                <a:latin typeface="Microsoft YaHei"/>
                <a:ea typeface="Microsoft YaHei"/>
                <a:cs typeface="Microsoft YaHei"/>
              </a:rPr>
              <a:t>更多融资年份不等于更安全</a:t>
            </a:r>
          </a:p>
        </p:txBody>
      </p:sp>
      <p:sp>
        <p:nvSpPr>
          <p:cNvPr id="11" name="text-10">
            <a:extLst xmlns:a="http://schemas.openxmlformats.org/drawingml/2006/main">
              <a:ext uri="{FF2B5EF4-FFF2-40B4-BE49-F238E27FC236}">
                <a16:creationId xmlns:a16="http://schemas.microsoft.com/office/drawing/2014/main" id="{818C3A0B-909E-4B7F-9B26-5FF717ECD840}"/>
              </a:ext>
            </a:extLst>
          </p:cNvPr>
          <p:cNvSpPr>
            <a:spLocks xmlns:a="http://schemas.openxmlformats.org/drawingml/2006/main" noGrp="1"/>
          </p:cNvSpPr>
          <p:nvPr/>
        </p:nvSpPr>
        <p:spPr>
          <a:xfrm xmlns:a="http://schemas.openxmlformats.org/drawingml/2006/main">
            <a:off x="9810750" y="5934075"/>
            <a:ext cx="4572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80/20少用一年普通现金，但初始储备</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更少。深跌与补担保之后，生活费缓冲明</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显薄于70/30。</a:t>
            </a:r>
          </a:p>
        </p:txBody>
      </p:sp>
      <p:graphicFrame>
        <p:nvGraphicFramePr>
          <p:cNvPr id="24" name="Chart"/>
          <p:cNvGraphicFramePr/>
          <p:nvPr/>
        </p:nvGraphicFramePr>
        <p:xfrm>
          <a:off xmlns:a="http://schemas.openxmlformats.org/drawingml/2006/main" x="809625" y="2381250"/>
          <a:ext xmlns:a="http://schemas.openxmlformats.org/drawingml/2006/main" cx="8477250" cy="4476750"/>
        </p:xfrm>
        <a:graphic xmlns:a="http://schemas.openxmlformats.org/drawingml/2006/main">
          <a:graphicData uri="http://schemas.openxmlformats.org/drawingml/2006/chart">
            <c:chart xmlns:r="http://schemas.openxmlformats.org/officeDocument/2006/relationships" xmlns:c="http://schemas.openxmlformats.org/drawingml/2006/chart" r:id="Rdc29cbd3e74d4767"/>
          </a:graphicData>
        </a:graphic>
      </p:graphicFrame>
    </p:spTree>
    <p:extLst>
      <p:ext uri="{BB962C8B-B14F-4D97-AF65-F5344CB8AC3E}">
        <p14:creationId xmlns:p14="http://schemas.microsoft.com/office/powerpoint/2010/main" val="1730405752"/>
      </p:ext>
    </p:extLst>
  </p:cSld>
</p:sld>
</file>

<file path=ppt/slides/slide2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912CE713-0F27-4EE7-8550-D2E6B35C2F88}"/>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现金接力、直接卖资产与理想化PAL</a:t>
            </a:r>
          </a:p>
        </p:txBody>
      </p:sp>
      <p:sp>
        <p:nvSpPr>
          <p:cNvPr id="2" name="text-1">
            <a:extLst xmlns:a="http://schemas.openxmlformats.org/drawingml/2006/main">
              <a:ext uri="{FF2B5EF4-FFF2-40B4-BE49-F238E27FC236}">
                <a16:creationId xmlns:a16="http://schemas.microsoft.com/office/drawing/2014/main" id="{EFB49CCA-804E-4152-A2CA-884C66F19DD5}"/>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2000高点起投，至2026-09-08；初始100万元，累计生活费54万元</a:t>
            </a:r>
          </a:p>
        </p:txBody>
      </p:sp>
      <p:sp>
        <p:nvSpPr>
          <p:cNvPr id="3" name="text-2">
            <a:extLst xmlns:a="http://schemas.openxmlformats.org/drawingml/2006/main">
              <a:ext uri="{FF2B5EF4-FFF2-40B4-BE49-F238E27FC236}">
                <a16:creationId xmlns:a16="http://schemas.microsoft.com/office/drawing/2014/main" id="{A2DE3722-765F-4443-B02E-308F2CD15EE8}"/>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该路径中现金接力优于卖资产基准，但没有超过理想化PAL。</a:t>
            </a:r>
          </a:p>
        </p:txBody>
      </p:sp>
      <p:sp>
        <p:nvSpPr>
          <p:cNvPr id="4" name="text-3">
            <a:extLst xmlns:a="http://schemas.openxmlformats.org/drawingml/2006/main">
              <a:ext uri="{FF2B5EF4-FFF2-40B4-BE49-F238E27FC236}">
                <a16:creationId xmlns:a16="http://schemas.microsoft.com/office/drawing/2014/main" id="{FE4D1E1B-D93E-4347-A3D4-6BA7B0954D3A}"/>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PAL无大陆300%划转限制，假设140%研究停止线；现金接力2.8%单利。条形数值为已扣债务的净资产，单位万元。</a:t>
            </a:r>
          </a:p>
        </p:txBody>
      </p:sp>
      <p:sp>
        <p:nvSpPr>
          <p:cNvPr id="5" name="text-4">
            <a:extLst xmlns:a="http://schemas.openxmlformats.org/drawingml/2006/main">
              <a:ext uri="{FF2B5EF4-FFF2-40B4-BE49-F238E27FC236}">
                <a16:creationId xmlns:a16="http://schemas.microsoft.com/office/drawing/2014/main" id="{CDE28EC7-FDD7-45A3-B213-8D0561C53EA9}"/>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23</a:t>
            </a:r>
          </a:p>
        </p:txBody>
      </p:sp>
      <p:sp>
        <p:nvSpPr>
          <p:cNvPr id="6" name="text-5">
            <a:extLst xmlns:a="http://schemas.openxmlformats.org/drawingml/2006/main">
              <a:ext uri="{FF2B5EF4-FFF2-40B4-BE49-F238E27FC236}">
                <a16:creationId xmlns:a16="http://schemas.microsoft.com/office/drawing/2014/main" id="{7D571488-9CD7-49CD-A31C-7A25B221B325}"/>
              </a:ext>
            </a:extLst>
          </p:cNvPr>
          <p:cNvSpPr>
            <a:spLocks xmlns:a="http://schemas.openxmlformats.org/drawingml/2006/main" noGrp="1"/>
          </p:cNvSpPr>
          <p:nvPr/>
        </p:nvSpPr>
        <p:spPr>
          <a:xfrm xmlns:a="http://schemas.openxmlformats.org/drawingml/2006/main">
            <a:off x="9810750" y="23431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1">
                <a:solidFill>
                  <a:srgbClr val="18323D"/>
                </a:solidFill>
                <a:latin typeface="Microsoft YaHei"/>
                <a:ea typeface="Microsoft YaHei"/>
                <a:cs typeface="Microsoft YaHei"/>
              </a:defRPr>
            </a:pPr>
            <a:r>
              <a:rPr sz="1950" b="1">
                <a:solidFill>
                  <a:srgbClr val="18323D"/>
                </a:solidFill>
                <a:latin typeface="Microsoft YaHei"/>
                <a:ea typeface="Microsoft YaHei"/>
                <a:cs typeface="Microsoft YaHei"/>
              </a:rPr>
              <a:t>现金接力高于卖资产基准</a:t>
            </a:r>
          </a:p>
        </p:txBody>
      </p:sp>
      <p:sp>
        <p:nvSpPr>
          <p:cNvPr id="7" name="text-6">
            <a:extLst xmlns:a="http://schemas.openxmlformats.org/drawingml/2006/main">
              <a:ext uri="{FF2B5EF4-FFF2-40B4-BE49-F238E27FC236}">
                <a16:creationId xmlns:a16="http://schemas.microsoft.com/office/drawing/2014/main" id="{526BFE90-FBA9-438C-B5EC-5FF488690D3D}"/>
              </a:ext>
            </a:extLst>
          </p:cNvPr>
          <p:cNvSpPr>
            <a:spLocks xmlns:a="http://schemas.openxmlformats.org/drawingml/2006/main" noGrp="1"/>
          </p:cNvSpPr>
          <p:nvPr/>
        </p:nvSpPr>
        <p:spPr>
          <a:xfrm xmlns:a="http://schemas.openxmlformats.org/drawingml/2006/main">
            <a:off x="9810750" y="2752725"/>
            <a:ext cx="4572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同配置比较，现金接力的期末净资产均较</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高。70/30和80/20的期末负债分别为</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47.43万、50.20万。</a:t>
            </a:r>
          </a:p>
        </p:txBody>
      </p:sp>
      <p:sp>
        <p:nvSpPr>
          <p:cNvPr id="8" name="text-7">
            <a:extLst xmlns:a="http://schemas.openxmlformats.org/drawingml/2006/main">
              <a:ext uri="{FF2B5EF4-FFF2-40B4-BE49-F238E27FC236}">
                <a16:creationId xmlns:a16="http://schemas.microsoft.com/office/drawing/2014/main" id="{5FD833B9-CB0C-4F9C-AD42-DFBDDB30FDE8}"/>
              </a:ext>
            </a:extLst>
          </p:cNvPr>
          <p:cNvSpPr>
            <a:spLocks xmlns:a="http://schemas.openxmlformats.org/drawingml/2006/main" noGrp="1"/>
          </p:cNvSpPr>
          <p:nvPr/>
        </p:nvSpPr>
        <p:spPr>
          <a:xfrm xmlns:a="http://schemas.openxmlformats.org/drawingml/2006/main">
            <a:off x="9810750" y="3933825"/>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1">
                <a:solidFill>
                  <a:srgbClr val="18323D"/>
                </a:solidFill>
                <a:latin typeface="Microsoft YaHei"/>
                <a:ea typeface="Microsoft YaHei"/>
                <a:cs typeface="Microsoft YaHei"/>
              </a:defRPr>
            </a:pPr>
            <a:r>
              <a:rPr sz="1950" b="1">
                <a:solidFill>
                  <a:srgbClr val="18323D"/>
                </a:solidFill>
                <a:latin typeface="Microsoft YaHei"/>
                <a:ea typeface="Microsoft YaHei"/>
                <a:cs typeface="Microsoft YaHei"/>
              </a:rPr>
              <a:t>理想化PAL的期末值更高</a:t>
            </a:r>
          </a:p>
        </p:txBody>
      </p:sp>
      <p:sp>
        <p:nvSpPr>
          <p:cNvPr id="9" name="text-8">
            <a:extLst xmlns:a="http://schemas.openxmlformats.org/drawingml/2006/main">
              <a:ext uri="{FF2B5EF4-FFF2-40B4-BE49-F238E27FC236}">
                <a16:creationId xmlns:a16="http://schemas.microsoft.com/office/drawing/2014/main" id="{34F68290-1430-42C4-9C68-13F5BB5F52A1}"/>
              </a:ext>
            </a:extLst>
          </p:cNvPr>
          <p:cNvSpPr>
            <a:spLocks xmlns:a="http://schemas.openxmlformats.org/drawingml/2006/main" noGrp="1"/>
          </p:cNvSpPr>
          <p:nvPr/>
        </p:nvSpPr>
        <p:spPr>
          <a:xfrm xmlns:a="http://schemas.openxmlformats.org/drawingml/2006/main">
            <a:off x="9810750" y="4343400"/>
            <a:ext cx="4572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PAL按80/20、3%复利模拟，全组合可质</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押，直接借现金。期末净资产572.76</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万元，负债83.07万元。</a:t>
            </a:r>
          </a:p>
        </p:txBody>
      </p:sp>
      <p:sp>
        <p:nvSpPr>
          <p:cNvPr id="10" name="text-9">
            <a:extLst xmlns:a="http://schemas.openxmlformats.org/drawingml/2006/main">
              <a:ext uri="{FF2B5EF4-FFF2-40B4-BE49-F238E27FC236}">
                <a16:creationId xmlns:a16="http://schemas.microsoft.com/office/drawing/2014/main" id="{7D31A9C7-0BE6-4AE3-92AD-61F5CB451DDD}"/>
              </a:ext>
            </a:extLst>
          </p:cNvPr>
          <p:cNvSpPr>
            <a:spLocks xmlns:a="http://schemas.openxmlformats.org/drawingml/2006/main" noGrp="1"/>
          </p:cNvSpPr>
          <p:nvPr/>
        </p:nvSpPr>
        <p:spPr>
          <a:xfrm xmlns:a="http://schemas.openxmlformats.org/drawingml/2006/main">
            <a:off x="9810750" y="552450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1">
                <a:solidFill>
                  <a:srgbClr val="18323D"/>
                </a:solidFill>
                <a:latin typeface="Microsoft YaHei"/>
                <a:ea typeface="Microsoft YaHei"/>
                <a:cs typeface="Microsoft YaHei"/>
              </a:defRPr>
            </a:pPr>
            <a:r>
              <a:rPr sz="1950" b="1">
                <a:solidFill>
                  <a:srgbClr val="18323D"/>
                </a:solidFill>
                <a:latin typeface="Microsoft YaHei"/>
                <a:ea typeface="Microsoft YaHei"/>
                <a:cs typeface="Microsoft YaHei"/>
              </a:rPr>
              <a:t>不能解释成单一融资收益</a:t>
            </a:r>
          </a:p>
        </p:txBody>
      </p:sp>
      <p:sp>
        <p:nvSpPr>
          <p:cNvPr id="11" name="text-10">
            <a:extLst xmlns:a="http://schemas.openxmlformats.org/drawingml/2006/main">
              <a:ext uri="{FF2B5EF4-FFF2-40B4-BE49-F238E27FC236}">
                <a16:creationId xmlns:a16="http://schemas.microsoft.com/office/drawing/2014/main" id="{C68111BD-0CEE-4B33-B6CC-93D7AC5C8443}"/>
              </a:ext>
            </a:extLst>
          </p:cNvPr>
          <p:cNvSpPr>
            <a:spLocks xmlns:a="http://schemas.openxmlformats.org/drawingml/2006/main" noGrp="1"/>
          </p:cNvSpPr>
          <p:nvPr/>
        </p:nvSpPr>
        <p:spPr>
          <a:xfrm xmlns:a="http://schemas.openxmlformats.org/drawingml/2006/main">
            <a:off x="9810750" y="5934075"/>
            <a:ext cx="4572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利率、计息、现金底线、再平衡和制度约</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束不同。给卖资产方案加同现金底线，也</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应单独对照。</a:t>
            </a:r>
          </a:p>
        </p:txBody>
      </p:sp>
      <p:graphicFrame>
        <p:nvGraphicFramePr>
          <p:cNvPr id="24" name="Chart"/>
          <p:cNvGraphicFramePr/>
          <p:nvPr/>
        </p:nvGraphicFramePr>
        <p:xfrm>
          <a:off xmlns:a="http://schemas.openxmlformats.org/drawingml/2006/main" x="809625" y="2381250"/>
          <a:ext xmlns:a="http://schemas.openxmlformats.org/drawingml/2006/main" cx="8477250" cy="4476750"/>
        </p:xfrm>
        <a:graphic xmlns:a="http://schemas.openxmlformats.org/drawingml/2006/main">
          <a:graphicData uri="http://schemas.openxmlformats.org/drawingml/2006/chart">
            <c:chart xmlns:r="http://schemas.openxmlformats.org/officeDocument/2006/relationships" xmlns:c="http://schemas.openxmlformats.org/drawingml/2006/chart" r:id="R77b927e77d374eba"/>
          </a:graphicData>
        </a:graphic>
      </p:graphicFrame>
    </p:spTree>
    <p:extLst>
      <p:ext uri="{BB962C8B-B14F-4D97-AF65-F5344CB8AC3E}">
        <p14:creationId xmlns:p14="http://schemas.microsoft.com/office/powerpoint/2010/main" val="1768395465"/>
      </p:ext>
    </p:extLst>
  </p:cSld>
</p:sld>
</file>

<file path=ppt/slides/slide2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8765985D-C73E-4389-8D88-AED41E8D046D}"/>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2009低点入场：80/20更受益于上涨</a:t>
            </a:r>
          </a:p>
        </p:txBody>
      </p:sp>
      <p:sp>
        <p:nvSpPr>
          <p:cNvPr id="2" name="text-1">
            <a:extLst xmlns:a="http://schemas.openxmlformats.org/drawingml/2006/main">
              <a:ext uri="{FF2B5EF4-FFF2-40B4-BE49-F238E27FC236}">
                <a16:creationId xmlns:a16="http://schemas.microsoft.com/office/drawing/2014/main" id="{87D8890F-50B5-4006-B0C5-B44EB131454C}"/>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2009-03-09至2026-09-08；初始100万元，累计生活费36万元</a:t>
            </a:r>
          </a:p>
        </p:txBody>
      </p:sp>
      <p:sp>
        <p:nvSpPr>
          <p:cNvPr id="3" name="text-2">
            <a:extLst xmlns:a="http://schemas.openxmlformats.org/drawingml/2006/main">
              <a:ext uri="{FF2B5EF4-FFF2-40B4-BE49-F238E27FC236}">
                <a16:creationId xmlns:a16="http://schemas.microsoft.com/office/drawing/2014/main" id="{AFEEC87F-EF94-49C6-AA85-EE8C336B1EA2}"/>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在同一起止日期内比较配置，才能看清收益差异，不能跨起点直接排名。</a:t>
            </a:r>
          </a:p>
        </p:txBody>
      </p:sp>
      <p:sp>
        <p:nvSpPr>
          <p:cNvPr id="4" name="text-3">
            <a:extLst xmlns:a="http://schemas.openxmlformats.org/drawingml/2006/main">
              <a:ext uri="{FF2B5EF4-FFF2-40B4-BE49-F238E27FC236}">
                <a16:creationId xmlns:a16="http://schemas.microsoft.com/office/drawing/2014/main" id="{74230FB9-72AA-4EF5-80F1-F834937AB1CB}"/>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图为年末净资产，含2026-09-08期末记录；不同起点持有期不同，不能与2000起点期末金额直接比较。</a:t>
            </a:r>
          </a:p>
        </p:txBody>
      </p:sp>
      <p:sp>
        <p:nvSpPr>
          <p:cNvPr id="5" name="text-4">
            <a:extLst xmlns:a="http://schemas.openxmlformats.org/drawingml/2006/main">
              <a:ext uri="{FF2B5EF4-FFF2-40B4-BE49-F238E27FC236}">
                <a16:creationId xmlns:a16="http://schemas.microsoft.com/office/drawing/2014/main" id="{FC0154DB-999A-4C84-B746-5309FF00353F}"/>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24</a:t>
            </a:r>
          </a:p>
        </p:txBody>
      </p:sp>
      <p:sp>
        <p:nvSpPr>
          <p:cNvPr id="6" name="text-5">
            <a:extLst xmlns:a="http://schemas.openxmlformats.org/drawingml/2006/main">
              <a:ext uri="{FF2B5EF4-FFF2-40B4-BE49-F238E27FC236}">
                <a16:creationId xmlns:a16="http://schemas.microsoft.com/office/drawing/2014/main" id="{0E2CED80-56AF-466E-81F3-A01D6285BA5B}"/>
              </a:ext>
            </a:extLst>
          </p:cNvPr>
          <p:cNvSpPr>
            <a:spLocks xmlns:a="http://schemas.openxmlformats.org/drawingml/2006/main" noGrp="1"/>
          </p:cNvSpPr>
          <p:nvPr/>
        </p:nvSpPr>
        <p:spPr>
          <a:xfrm xmlns:a="http://schemas.openxmlformats.org/drawingml/2006/main">
            <a:off x="9810750" y="23431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1">
                <a:solidFill>
                  <a:srgbClr val="18323D"/>
                </a:solidFill>
                <a:latin typeface="Microsoft YaHei"/>
                <a:ea typeface="Microsoft YaHei"/>
                <a:cs typeface="Microsoft YaHei"/>
              </a:defRPr>
            </a:pPr>
            <a:r>
              <a:rPr sz="1950" b="1">
                <a:solidFill>
                  <a:srgbClr val="18323D"/>
                </a:solidFill>
                <a:latin typeface="Microsoft YaHei"/>
                <a:ea typeface="Microsoft YaHei"/>
                <a:cs typeface="Microsoft YaHei"/>
              </a:rPr>
              <a:t>期末净资产差466.89万元</a:t>
            </a:r>
          </a:p>
        </p:txBody>
      </p:sp>
      <p:sp>
        <p:nvSpPr>
          <p:cNvPr id="7" name="text-6">
            <a:extLst xmlns:a="http://schemas.openxmlformats.org/drawingml/2006/main">
              <a:ext uri="{FF2B5EF4-FFF2-40B4-BE49-F238E27FC236}">
                <a16:creationId xmlns:a16="http://schemas.microsoft.com/office/drawing/2014/main" id="{2BE34264-C8DA-40A4-A697-23172EE56DFC}"/>
              </a:ext>
            </a:extLst>
          </p:cNvPr>
          <p:cNvSpPr>
            <a:spLocks xmlns:a="http://schemas.openxmlformats.org/drawingml/2006/main" noGrp="1"/>
          </p:cNvSpPr>
          <p:nvPr/>
        </p:nvSpPr>
        <p:spPr>
          <a:xfrm xmlns:a="http://schemas.openxmlformats.org/drawingml/2006/main">
            <a:off x="9810750" y="2752725"/>
            <a:ext cx="4572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70/30为1,395.94万元，80/20为1,862.83</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万元，80/20高33.45%。两者18次生活支</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出均可融资完成。</a:t>
            </a:r>
          </a:p>
        </p:txBody>
      </p:sp>
      <p:sp>
        <p:nvSpPr>
          <p:cNvPr id="8" name="text-7">
            <a:extLst xmlns:a="http://schemas.openxmlformats.org/drawingml/2006/main">
              <a:ext uri="{FF2B5EF4-FFF2-40B4-BE49-F238E27FC236}">
                <a16:creationId xmlns:a16="http://schemas.microsoft.com/office/drawing/2014/main" id="{A7D55ED2-6151-4012-8143-9C00F824A575}"/>
              </a:ext>
            </a:extLst>
          </p:cNvPr>
          <p:cNvSpPr>
            <a:spLocks xmlns:a="http://schemas.openxmlformats.org/drawingml/2006/main" noGrp="1"/>
          </p:cNvSpPr>
          <p:nvPr/>
        </p:nvSpPr>
        <p:spPr>
          <a:xfrm xmlns:a="http://schemas.openxmlformats.org/drawingml/2006/main">
            <a:off x="9810750" y="3933825"/>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1">
                <a:solidFill>
                  <a:srgbClr val="18323D"/>
                </a:solidFill>
                <a:latin typeface="Microsoft YaHei"/>
                <a:ea typeface="Microsoft YaHei"/>
                <a:cs typeface="Microsoft YaHei"/>
              </a:defRPr>
            </a:pPr>
            <a:r>
              <a:rPr sz="1950" b="1">
                <a:solidFill>
                  <a:srgbClr val="18323D"/>
                </a:solidFill>
                <a:latin typeface="Microsoft YaHei"/>
                <a:ea typeface="Microsoft YaHei"/>
                <a:cs typeface="Microsoft YaHei"/>
              </a:rPr>
              <a:t>上涨期现金底仓未受挤压</a:t>
            </a:r>
          </a:p>
        </p:txBody>
      </p:sp>
      <p:sp>
        <p:nvSpPr>
          <p:cNvPr id="9" name="text-8">
            <a:extLst xmlns:a="http://schemas.openxmlformats.org/drawingml/2006/main">
              <a:ext uri="{FF2B5EF4-FFF2-40B4-BE49-F238E27FC236}">
                <a16:creationId xmlns:a16="http://schemas.microsoft.com/office/drawing/2014/main" id="{B7E97852-E343-4EB2-9156-319EECF46BCD}"/>
              </a:ext>
            </a:extLst>
          </p:cNvPr>
          <p:cNvSpPr>
            <a:spLocks xmlns:a="http://schemas.openxmlformats.org/drawingml/2006/main" noGrp="1"/>
          </p:cNvSpPr>
          <p:nvPr/>
        </p:nvSpPr>
        <p:spPr>
          <a:xfrm xmlns:a="http://schemas.openxmlformats.org/drawingml/2006/main">
            <a:off x="9810750" y="4343400"/>
            <a:ext cx="4572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最低普通现金折合15年与10年开销，均未</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低于初始储备。上涨路径给两种配置都留</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下了充足现金。</a:t>
            </a:r>
          </a:p>
        </p:txBody>
      </p:sp>
      <p:sp>
        <p:nvSpPr>
          <p:cNvPr id="10" name="text-9">
            <a:extLst xmlns:a="http://schemas.openxmlformats.org/drawingml/2006/main">
              <a:ext uri="{FF2B5EF4-FFF2-40B4-BE49-F238E27FC236}">
                <a16:creationId xmlns:a16="http://schemas.microsoft.com/office/drawing/2014/main" id="{1AE78B10-3996-44B4-8921-8AB47C867058}"/>
              </a:ext>
            </a:extLst>
          </p:cNvPr>
          <p:cNvSpPr>
            <a:spLocks xmlns:a="http://schemas.openxmlformats.org/drawingml/2006/main" noGrp="1"/>
          </p:cNvSpPr>
          <p:nvPr/>
        </p:nvSpPr>
        <p:spPr>
          <a:xfrm xmlns:a="http://schemas.openxmlformats.org/drawingml/2006/main">
            <a:off x="9810750" y="552450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1">
                <a:solidFill>
                  <a:srgbClr val="18323D"/>
                </a:solidFill>
                <a:latin typeface="Microsoft YaHei"/>
                <a:ea typeface="Microsoft YaHei"/>
                <a:cs typeface="Microsoft YaHei"/>
              </a:defRPr>
            </a:pPr>
            <a:r>
              <a:rPr sz="1950" b="1">
                <a:solidFill>
                  <a:srgbClr val="18323D"/>
                </a:solidFill>
                <a:latin typeface="Microsoft YaHei"/>
                <a:ea typeface="Microsoft YaHei"/>
                <a:cs typeface="Microsoft YaHei"/>
              </a:rPr>
              <a:t>配比取舍随路径显现</a:t>
            </a:r>
          </a:p>
        </p:txBody>
      </p:sp>
      <p:sp>
        <p:nvSpPr>
          <p:cNvPr id="11" name="text-10">
            <a:extLst xmlns:a="http://schemas.openxmlformats.org/drawingml/2006/main">
              <a:ext uri="{FF2B5EF4-FFF2-40B4-BE49-F238E27FC236}">
                <a16:creationId xmlns:a16="http://schemas.microsoft.com/office/drawing/2014/main" id="{63F7A667-CE40-41FD-A752-8B42DE335E7C}"/>
              </a:ext>
            </a:extLst>
          </p:cNvPr>
          <p:cNvSpPr>
            <a:spLocks xmlns:a="http://schemas.openxmlformats.org/drawingml/2006/main" noGrp="1"/>
          </p:cNvSpPr>
          <p:nvPr/>
        </p:nvSpPr>
        <p:spPr>
          <a:xfrm xmlns:a="http://schemas.openxmlformats.org/drawingml/2006/main">
            <a:off x="9810750" y="5934075"/>
            <a:ext cx="4572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较高股票比例能保留更多上涨敞口，但会</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减少初始现金。不利起点下的生存能力，</a:t>
            </a:r>
          </a:p>
          <a:p xmlns:a="http://schemas.openxmlformats.org/drawingml/2006/main">
            <a:pPr algn="l">
              <a:lnSpc>
                <a:spcPct val="122000"/>
              </a:lnSpc>
              <a:buNone/>
              <a:defRPr sz="1800" b="0">
                <a:solidFill>
                  <a:srgbClr val="384B53"/>
                </a:solidFill>
                <a:latin typeface="Microsoft YaHei"/>
                <a:ea typeface="Microsoft YaHei"/>
                <a:cs typeface="Microsoft YaHei"/>
              </a:defRPr>
            </a:pPr>
            <a:r>
              <a:rPr sz="1800" b="0">
                <a:solidFill>
                  <a:srgbClr val="384B53"/>
                </a:solidFill>
                <a:latin typeface="Microsoft YaHei"/>
                <a:ea typeface="Microsoft YaHei"/>
                <a:cs typeface="Microsoft YaHei"/>
              </a:rPr>
              <a:t>不能被低点起投的高收益替代。</a:t>
            </a:r>
          </a:p>
        </p:txBody>
      </p:sp>
      <p:graphicFrame>
        <p:nvGraphicFramePr>
          <p:cNvPr id="24" name="Chart"/>
          <p:cNvGraphicFramePr/>
          <p:nvPr/>
        </p:nvGraphicFramePr>
        <p:xfrm>
          <a:off xmlns:a="http://schemas.openxmlformats.org/drawingml/2006/main" x="809625" y="2381250"/>
          <a:ext xmlns:a="http://schemas.openxmlformats.org/drawingml/2006/main" cx="8477250" cy="4476750"/>
        </p:xfrm>
        <a:graphic xmlns:a="http://schemas.openxmlformats.org/drawingml/2006/main">
          <a:graphicData uri="http://schemas.openxmlformats.org/drawingml/2006/chart">
            <c:chart xmlns:r="http://schemas.openxmlformats.org/officeDocument/2006/relationships" xmlns:c="http://schemas.openxmlformats.org/drawingml/2006/chart" r:id="Rc0f66e7582f64805"/>
          </a:graphicData>
        </a:graphic>
      </p:graphicFrame>
    </p:spTree>
    <p:extLst>
      <p:ext uri="{BB962C8B-B14F-4D97-AF65-F5344CB8AC3E}">
        <p14:creationId xmlns:p14="http://schemas.microsoft.com/office/powerpoint/2010/main" val="1930365433"/>
      </p:ext>
    </p:extLst>
  </p:cSld>
</p:sld>
</file>

<file path=ppt/slides/slide2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F1E1B7BD-0629-46A3-9833-8DE3B930831C}"/>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滚动窗口与90/10的反例</a:t>
            </a:r>
          </a:p>
        </p:txBody>
      </p:sp>
      <p:sp>
        <p:nvSpPr>
          <p:cNvPr id="2" name="text-1">
            <a:extLst xmlns:a="http://schemas.openxmlformats.org/drawingml/2006/main">
              <a:ext uri="{FF2B5EF4-FFF2-40B4-BE49-F238E27FC236}">
                <a16:creationId xmlns:a16="http://schemas.microsoft.com/office/drawing/2014/main" id="{1597476F-598A-4549-AFE7-2B9B7D9B61D9}"/>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每季度首个可用日入场，检验完整10年及20年历史窗口</a:t>
            </a:r>
          </a:p>
        </p:txBody>
      </p:sp>
      <p:sp>
        <p:nvSpPr>
          <p:cNvPr id="3" name="text-2">
            <a:extLst xmlns:a="http://schemas.openxmlformats.org/drawingml/2006/main">
              <a:ext uri="{FF2B5EF4-FFF2-40B4-BE49-F238E27FC236}">
                <a16:creationId xmlns:a16="http://schemas.microsoft.com/office/drawing/2014/main" id="{E7D45259-E4CB-40D5-8A48-99B2DAC06F98}"/>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股票配比提高，历史上涨收益更高的同时，也可能先耗尽生活费。</a:t>
            </a:r>
          </a:p>
        </p:txBody>
      </p:sp>
      <p:sp>
        <p:nvSpPr>
          <p:cNvPr id="4" name="text-3">
            <a:extLst xmlns:a="http://schemas.openxmlformats.org/drawingml/2006/main">
              <a:ext uri="{FF2B5EF4-FFF2-40B4-BE49-F238E27FC236}">
                <a16:creationId xmlns:a16="http://schemas.microsoft.com/office/drawing/2014/main" id="{5AFBEEC5-3CD3-4307-8010-D81FB6BCD68F}"/>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窗口高度重叠，非独立随机样本；历史0次失败不能解释为未来失败概率0。失败案例不作完整期末收益排名。</a:t>
            </a:r>
          </a:p>
        </p:txBody>
      </p:sp>
      <p:sp>
        <p:nvSpPr>
          <p:cNvPr id="5" name="text-4">
            <a:extLst xmlns:a="http://schemas.openxmlformats.org/drawingml/2006/main">
              <a:ext uri="{FF2B5EF4-FFF2-40B4-BE49-F238E27FC236}">
                <a16:creationId xmlns:a16="http://schemas.microsoft.com/office/drawing/2014/main" id="{74EE0BFD-D9F3-46E5-9D48-C3A8FAA733E3}"/>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25</a:t>
            </a:r>
          </a:p>
        </p:txBody>
      </p:sp>
      <p:graphicFrame>
        <p:nvGraphicFramePr>
          <p:cNvPr id="13" name=""/>
          <p:cNvGraphicFramePr/>
          <p:nvPr/>
        </p:nvGraphicFramePr>
        <p:xfrm>
          <a:off xmlns:a="http://schemas.openxmlformats.org/drawingml/2006/main" x="857250" y="2257425"/>
          <a:ext xmlns:a="http://schemas.openxmlformats.org/drawingml/2006/main" cx="13525500" cy="3571875"/>
        </p:xfrm>
        <a:graphic xmlns:a="http://schemas.openxmlformats.org/drawingml/2006/main">
          <a:graphicData uri="http://schemas.openxmlformats.org/drawingml/2006/table">
            <a:tbl>
              <a:tblPr firstRow="1" bandRow="0"/>
              <a:tblGrid>
                <a:gridCol w="2975610"/>
                <a:gridCol w="3381375"/>
                <a:gridCol w="3381375"/>
                <a:gridCol w="3787140"/>
              </a:tblGrid>
              <a:tr h="533400">
                <a:tc>
                  <a:txBody>
                    <a:bodyPr wrap="square" lIns="161925" tIns="95250" rIns="161925" bIns="95250">
                      <a:noAutofit/>
                    </a:bodyPr>
                    <a:lstStyle/>
                    <a:p>
                      <a:pPr algn="l"/>
                      <a:r>
                        <a:rPr sz="1875" b="1">
                          <a:solidFill>
                            <a:srgbClr val="18323D"/>
                          </a:solidFill>
                          <a:latin typeface="Microsoft YaHei"/>
                          <a:ea typeface="Microsoft YaHei"/>
                          <a:cs typeface="Microsoft YaHei"/>
                        </a:rPr>
                        <a:t>现金接力配置</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10年完成 / 总数</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20年完成 / 总数</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2000高点完整路径</a:t>
                      </a:r>
                    </a:p>
                  </a:txBody>
                  <a:tcPr marL="91440" marR="91440" marT="45720" marB="45720" anchor="ctr">
                    <a:solidFill>
                      <a:srgbClr val="E8EEEB"/>
                    </a:solidFill>
                  </a:tcPr>
                </a:tc>
              </a:tr>
              <a:tr h="607695">
                <a:tc>
                  <a:txBody>
                    <a:bodyPr wrap="square" lIns="161925" tIns="95250" rIns="161925" bIns="95250">
                      <a:noAutofit/>
                    </a:bodyPr>
                    <a:lstStyle/>
                    <a:p>
                      <a:pPr algn="l"/>
                      <a:r>
                        <a:rPr sz="1950" b="1">
                          <a:solidFill>
                            <a:srgbClr val="384B53"/>
                          </a:solidFill>
                          <a:latin typeface="Microsoft YaHei"/>
                          <a:ea typeface="Microsoft YaHei"/>
                          <a:cs typeface="Microsoft YaHei"/>
                        </a:rPr>
                        <a:t>50/50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71 / 71</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31 / 31</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完成</a:t>
                      </a:r>
                    </a:p>
                  </a:txBody>
                  <a:tcPr marL="91440" marR="91440" marT="45720" marB="45720" anchor="ctr">
                    <a:solidFill>
                      <a:srgbClr val="FAFAF7"/>
                    </a:solidFill>
                  </a:tcPr>
                </a:tc>
              </a:tr>
              <a:tr h="607695">
                <a:tc>
                  <a:txBody>
                    <a:bodyPr wrap="square" lIns="161925" tIns="95250" rIns="161925" bIns="95250">
                      <a:noAutofit/>
                    </a:bodyPr>
                    <a:lstStyle/>
                    <a:p>
                      <a:pPr algn="l"/>
                      <a:r>
                        <a:rPr sz="1950" b="1">
                          <a:solidFill>
                            <a:srgbClr val="384B53"/>
                          </a:solidFill>
                          <a:latin typeface="Microsoft YaHei"/>
                          <a:ea typeface="Microsoft YaHei"/>
                          <a:cs typeface="Microsoft YaHei"/>
                        </a:rPr>
                        <a:t>60/40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71 / 71</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31 / 31</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完成</a:t>
                      </a:r>
                    </a:p>
                  </a:txBody>
                  <a:tcPr marL="91440" marR="91440" marT="45720" marB="45720" anchor="ctr">
                    <a:solidFill>
                      <a:srgbClr val="FAFAF7"/>
                    </a:solidFill>
                  </a:tcPr>
                </a:tc>
              </a:tr>
              <a:tr h="607695">
                <a:tc>
                  <a:txBody>
                    <a:bodyPr wrap="square" lIns="161925" tIns="95250" rIns="161925" bIns="95250">
                      <a:noAutofit/>
                    </a:bodyPr>
                    <a:lstStyle/>
                    <a:p>
                      <a:pPr algn="l"/>
                      <a:r>
                        <a:rPr sz="1950" b="1">
                          <a:solidFill>
                            <a:srgbClr val="384B53"/>
                          </a:solidFill>
                          <a:latin typeface="Microsoft YaHei"/>
                          <a:ea typeface="Microsoft YaHei"/>
                          <a:cs typeface="Microsoft YaHei"/>
                        </a:rPr>
                        <a:t>70/30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71 / 71</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31 / 31</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完成</a:t>
                      </a:r>
                    </a:p>
                  </a:txBody>
                  <a:tcPr marL="91440" marR="91440" marT="45720" marB="45720" anchor="ctr">
                    <a:solidFill>
                      <a:srgbClr val="FAFAF7"/>
                    </a:solidFill>
                  </a:tcPr>
                </a:tc>
              </a:tr>
              <a:tr h="607695">
                <a:tc>
                  <a:txBody>
                    <a:bodyPr wrap="square" lIns="161925" tIns="95250" rIns="161925" bIns="95250">
                      <a:noAutofit/>
                    </a:bodyPr>
                    <a:lstStyle/>
                    <a:p>
                      <a:pPr algn="l"/>
                      <a:r>
                        <a:rPr sz="1950" b="1">
                          <a:solidFill>
                            <a:srgbClr val="384B53"/>
                          </a:solidFill>
                          <a:latin typeface="Microsoft YaHei"/>
                          <a:ea typeface="Microsoft YaHei"/>
                          <a:cs typeface="Microsoft YaHei"/>
                        </a:rPr>
                        <a:t>80/20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71 / 71</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31 / 31</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完成</a:t>
                      </a:r>
                    </a:p>
                  </a:txBody>
                  <a:tcPr marL="91440" marR="91440" marT="45720" marB="45720" anchor="ctr">
                    <a:solidFill>
                      <a:srgbClr val="FAFAF7"/>
                    </a:solidFill>
                  </a:tcPr>
                </a:tc>
              </a:tr>
              <a:tr h="607695">
                <a:tc>
                  <a:txBody>
                    <a:bodyPr wrap="square" lIns="161925" tIns="95250" rIns="161925" bIns="95250">
                      <a:noAutofit/>
                    </a:bodyPr>
                    <a:lstStyle/>
                    <a:p>
                      <a:pPr algn="l"/>
                      <a:r>
                        <a:rPr sz="1950" b="1">
                          <a:solidFill>
                            <a:srgbClr val="384B53"/>
                          </a:solidFill>
                          <a:latin typeface="Microsoft YaHei"/>
                          <a:ea typeface="Microsoft YaHei"/>
                          <a:cs typeface="Microsoft YaHei"/>
                        </a:rPr>
                        <a:t>90/10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68 / 71</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27 / 31</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2011年生活费不足</a:t>
                      </a:r>
                    </a:p>
                  </a:txBody>
                  <a:tcPr marL="91440" marR="91440" marT="45720" marB="45720" anchor="ctr">
                    <a:solidFill>
                      <a:srgbClr val="FAFAF7"/>
                    </a:solidFill>
                  </a:tcPr>
                </a:tc>
              </a:tr>
            </a:tbl>
          </a:graphicData>
        </a:graphic>
      </p:graphicFrame>
      <p:sp>
        <p:nvSpPr>
          <p:cNvPr id="7" name="text-5">
            <a:extLst xmlns:a="http://schemas.openxmlformats.org/drawingml/2006/main">
              <a:ext uri="{FF2B5EF4-FFF2-40B4-BE49-F238E27FC236}">
                <a16:creationId xmlns:a16="http://schemas.microsoft.com/office/drawing/2014/main" id="{B5CB6134-FC14-4270-897B-BF12E2FBFF15}"/>
              </a:ext>
            </a:extLst>
          </p:cNvPr>
          <p:cNvSpPr>
            <a:spLocks xmlns:a="http://schemas.openxmlformats.org/drawingml/2006/main" noGrp="1"/>
          </p:cNvSpPr>
          <p:nvPr/>
        </p:nvSpPr>
        <p:spPr>
          <a:xfrm xmlns:a="http://schemas.openxmlformats.org/drawingml/2006/main">
            <a:off x="857250" y="6115050"/>
            <a:ext cx="13525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025" b="0">
                <a:solidFill>
                  <a:srgbClr val="384B53"/>
                </a:solidFill>
                <a:latin typeface="Microsoft YaHei"/>
                <a:ea typeface="Microsoft YaHei"/>
                <a:cs typeface="Microsoft YaHei"/>
              </a:defRPr>
            </a:pPr>
            <a:r>
              <a:rPr sz="2025" b="0">
                <a:solidFill>
                  <a:srgbClr val="384B53"/>
                </a:solidFill>
                <a:latin typeface="Microsoft YaHei"/>
                <a:ea typeface="Microsoft YaHei"/>
                <a:cs typeface="Microsoft YaHei"/>
              </a:rPr>
              <a:t>90/10只有相当于5年固定开销的初始现金。它在2009低点起投时收益很高，但2000起点中途生活现金不足；这种失</a:t>
            </a:r>
          </a:p>
          <a:p xmlns:a="http://schemas.openxmlformats.org/drawingml/2006/main">
            <a:pPr algn="l">
              <a:lnSpc>
                <a:spcPct val="122000"/>
              </a:lnSpc>
              <a:buNone/>
              <a:defRPr sz="2025" b="0">
                <a:solidFill>
                  <a:srgbClr val="384B53"/>
                </a:solidFill>
                <a:latin typeface="Microsoft YaHei"/>
                <a:ea typeface="Microsoft YaHei"/>
                <a:cs typeface="Microsoft YaHei"/>
              </a:defRPr>
            </a:pPr>
            <a:r>
              <a:rPr sz="2025" b="0">
                <a:solidFill>
                  <a:srgbClr val="384B53"/>
                </a:solidFill>
                <a:latin typeface="Microsoft YaHei"/>
                <a:ea typeface="Microsoft YaHei"/>
                <a:cs typeface="Microsoft YaHei"/>
              </a:rPr>
              <a:t>败不能用后来的上涨或停止日资产金额掩盖。</a:t>
            </a:r>
          </a:p>
        </p:txBody>
      </p:sp>
    </p:spTree>
    <p:extLst>
      <p:ext uri="{BB962C8B-B14F-4D97-AF65-F5344CB8AC3E}">
        <p14:creationId xmlns:p14="http://schemas.microsoft.com/office/powerpoint/2010/main" val="1979730903"/>
      </p:ext>
    </p:extLst>
  </p:cSld>
</p:sld>
</file>

<file path=ppt/slides/slide2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1144B367-CCCC-4B96-A557-55323443B5C7}"/>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压力测试：现金接力仍会失败</a:t>
            </a:r>
          </a:p>
        </p:txBody>
      </p:sp>
      <p:sp>
        <p:nvSpPr>
          <p:cNvPr id="2" name="text-1">
            <a:extLst xmlns:a="http://schemas.openxmlformats.org/drawingml/2006/main">
              <a:ext uri="{FF2B5EF4-FFF2-40B4-BE49-F238E27FC236}">
                <a16:creationId xmlns:a16="http://schemas.microsoft.com/office/drawing/2014/main" id="{CF7AE3C9-83A2-4331-B167-78D5E7D8DE97}"/>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各行是独立施加的情景，不能将完成历史路径解释成终身保证</a:t>
            </a:r>
          </a:p>
        </p:txBody>
      </p:sp>
      <p:sp>
        <p:nvSpPr>
          <p:cNvPr id="3" name="text-2">
            <a:extLst xmlns:a="http://schemas.openxmlformats.org/drawingml/2006/main">
              <a:ext uri="{FF2B5EF4-FFF2-40B4-BE49-F238E27FC236}">
                <a16:creationId xmlns:a16="http://schemas.microsoft.com/office/drawing/2014/main" id="{9DEFBF8E-A74F-492C-ADC7-1E2AD2FFDAB7}"/>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信用安全与生活储备都存在边界，必要偿债须作为改变零还款目标的应急分支。</a:t>
            </a:r>
          </a:p>
        </p:txBody>
      </p:sp>
      <p:sp>
        <p:nvSpPr>
          <p:cNvPr id="4" name="text-3">
            <a:extLst xmlns:a="http://schemas.openxmlformats.org/drawingml/2006/main">
              <a:ext uri="{FF2B5EF4-FFF2-40B4-BE49-F238E27FC236}">
                <a16:creationId xmlns:a16="http://schemas.microsoft.com/office/drawing/2014/main" id="{18333813-8F6C-4027-AF34-426712AF5655}"/>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后两项为人工反例，非历史事实或预测；20%冲击自2008-11-20起永久作用于后续价格。</a:t>
            </a:r>
          </a:p>
        </p:txBody>
      </p:sp>
      <p:sp>
        <p:nvSpPr>
          <p:cNvPr id="5" name="text-4">
            <a:extLst xmlns:a="http://schemas.openxmlformats.org/drawingml/2006/main">
              <a:ext uri="{FF2B5EF4-FFF2-40B4-BE49-F238E27FC236}">
                <a16:creationId xmlns:a16="http://schemas.microsoft.com/office/drawing/2014/main" id="{E8D2686C-FCBF-4EB2-98AB-10E2A2127535}"/>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26</a:t>
            </a:r>
          </a:p>
        </p:txBody>
      </p:sp>
      <p:graphicFrame>
        <p:nvGraphicFramePr>
          <p:cNvPr id="13" name=""/>
          <p:cNvGraphicFramePr/>
          <p:nvPr/>
        </p:nvGraphicFramePr>
        <p:xfrm>
          <a:off xmlns:a="http://schemas.openxmlformats.org/drawingml/2006/main" x="857250" y="2257425"/>
          <a:ext xmlns:a="http://schemas.openxmlformats.org/drawingml/2006/main" cx="13525500" cy="3238500"/>
        </p:xfrm>
        <a:graphic xmlns:a="http://schemas.openxmlformats.org/drawingml/2006/main">
          <a:graphicData uri="http://schemas.openxmlformats.org/drawingml/2006/table">
            <a:tbl>
              <a:tblPr firstRow="1" bandRow="0"/>
              <a:tblGrid>
                <a:gridCol w="5410200"/>
                <a:gridCol w="4057650"/>
                <a:gridCol w="4057650"/>
              </a:tblGrid>
              <a:tr h="533400">
                <a:tc>
                  <a:txBody>
                    <a:bodyPr wrap="square" lIns="161925" tIns="95250" rIns="161925" bIns="95250">
                      <a:noAutofit/>
                    </a:bodyPr>
                    <a:lstStyle/>
                    <a:p>
                      <a:pPr algn="l"/>
                      <a:r>
                        <a:rPr sz="1875" b="1">
                          <a:solidFill>
                            <a:srgbClr val="18323D"/>
                          </a:solidFill>
                          <a:latin typeface="Microsoft YaHei"/>
                          <a:ea typeface="Microsoft YaHei"/>
                          <a:cs typeface="Microsoft YaHei"/>
                        </a:rPr>
                        <a:t>压力情景</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70/30</a:t>
                      </a:r>
                    </a:p>
                  </a:txBody>
                  <a:tcPr marL="91440" marR="91440" marT="45720" marB="45720" anchor="ctr">
                    <a:solidFill>
                      <a:srgbClr val="E8EEEB"/>
                    </a:solidFill>
                  </a:tcPr>
                </a:tc>
                <a:tc>
                  <a:txBody>
                    <a:bodyPr wrap="square" lIns="161925" tIns="95250" rIns="161925" bIns="95250">
                      <a:noAutofit/>
                    </a:bodyPr>
                    <a:lstStyle/>
                    <a:p>
                      <a:pPr algn="l"/>
                      <a:r>
                        <a:rPr sz="1875" b="1">
                          <a:solidFill>
                            <a:srgbClr val="18323D"/>
                          </a:solidFill>
                          <a:latin typeface="Microsoft YaHei"/>
                          <a:ea typeface="Microsoft YaHei"/>
                          <a:cs typeface="Microsoft YaHei"/>
                        </a:rPr>
                        <a:t>80/20</a:t>
                      </a:r>
                    </a:p>
                  </a:txBody>
                  <a:tcPr marL="91440" marR="91440" marT="45720" marB="45720" anchor="ctr">
                    <a:solidFill>
                      <a:srgbClr val="E8EEEB"/>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融资利率提高至6%</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完成，期末331.06万</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完成，期末360.48万</a:t>
                      </a:r>
                    </a:p>
                  </a:txBody>
                  <a:tcPr marL="91440" marR="91440" marT="45720" marB="45720" anchor="ctr">
                    <a:solidFill>
                      <a:srgbClr val="FAFAF7"/>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生活费每年增长2%</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完成，期末300.19万</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完成，期末300.37万</a:t>
                      </a:r>
                    </a:p>
                  </a:txBody>
                  <a:tcPr marL="91440" marR="91440" marT="45720" marB="45720" anchor="ctr">
                    <a:solidFill>
                      <a:srgbClr val="FAFAF7"/>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2008低位额外下跌20%</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2008-11-20触及140%线</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2008-11-20触及140%线</a:t>
                      </a:r>
                    </a:p>
                  </a:txBody>
                  <a:tcPr marL="91440" marR="91440" marT="45720" marB="45720" anchor="ctr">
                    <a:solidFill>
                      <a:srgbClr val="FAFAF7"/>
                    </a:solidFill>
                  </a:tcPr>
                </a:tc>
              </a:tr>
              <a:tr h="676275">
                <a:tc>
                  <a:txBody>
                    <a:bodyPr wrap="square" lIns="161925" tIns="95250" rIns="161925" bIns="95250">
                      <a:noAutofit/>
                    </a:bodyPr>
                    <a:lstStyle/>
                    <a:p>
                      <a:pPr algn="l"/>
                      <a:r>
                        <a:rPr sz="1950" b="1">
                          <a:solidFill>
                            <a:srgbClr val="384B53"/>
                          </a:solidFill>
                          <a:latin typeface="Microsoft YaHei"/>
                          <a:ea typeface="Microsoft YaHei"/>
                          <a:cs typeface="Microsoft YaHei"/>
                        </a:rPr>
                        <a:t>股票价格连续40年不变</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2030年生活费不足</a:t>
                      </a:r>
                    </a:p>
                  </a:txBody>
                  <a:tcPr marL="91440" marR="91440" marT="45720" marB="45720" anchor="ctr">
                    <a:solidFill>
                      <a:srgbClr val="FAFAF7"/>
                    </a:solidFill>
                  </a:tcPr>
                </a:tc>
                <a:tc>
                  <a:txBody>
                    <a:bodyPr wrap="square" lIns="161925" tIns="95250" rIns="161925" bIns="95250">
                      <a:noAutofit/>
                    </a:bodyPr>
                    <a:lstStyle/>
                    <a:p>
                      <a:pPr algn="l"/>
                      <a:r>
                        <a:rPr sz="1950" b="0">
                          <a:solidFill>
                            <a:srgbClr val="384B53"/>
                          </a:solidFill>
                          <a:latin typeface="Microsoft YaHei"/>
                          <a:ea typeface="Microsoft YaHei"/>
                          <a:cs typeface="Microsoft YaHei"/>
                        </a:rPr>
                        <a:t>2023年生活费不足</a:t>
                      </a:r>
                    </a:p>
                  </a:txBody>
                  <a:tcPr marL="91440" marR="91440" marT="45720" marB="45720" anchor="ctr">
                    <a:solidFill>
                      <a:srgbClr val="FAFAF7"/>
                    </a:solidFill>
                  </a:tcPr>
                </a:tc>
              </a:tr>
            </a:tbl>
          </a:graphicData>
        </a:graphic>
      </p:graphicFrame>
      <p:sp>
        <p:nvSpPr>
          <p:cNvPr id="7" name="text-5">
            <a:extLst xmlns:a="http://schemas.openxmlformats.org/drawingml/2006/main">
              <a:ext uri="{FF2B5EF4-FFF2-40B4-BE49-F238E27FC236}">
                <a16:creationId xmlns:a16="http://schemas.microsoft.com/office/drawing/2014/main" id="{BBDE2C94-1302-4AFA-90B6-07E5DBA2D4A4}"/>
              </a:ext>
            </a:extLst>
          </p:cNvPr>
          <p:cNvSpPr>
            <a:spLocks xmlns:a="http://schemas.openxmlformats.org/drawingml/2006/main" noGrp="1"/>
          </p:cNvSpPr>
          <p:nvPr/>
        </p:nvSpPr>
        <p:spPr>
          <a:xfrm xmlns:a="http://schemas.openxmlformats.org/drawingml/2006/main">
            <a:off x="857250" y="5781675"/>
            <a:ext cx="13525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025" b="0">
                <a:solidFill>
                  <a:srgbClr val="384B53"/>
                </a:solidFill>
                <a:latin typeface="Microsoft YaHei"/>
                <a:ea typeface="Microsoft YaHei"/>
                <a:cs typeface="Microsoft YaHei"/>
              </a:defRPr>
            </a:pPr>
            <a:r>
              <a:rPr sz="2025" b="0">
                <a:solidFill>
                  <a:srgbClr val="384B53"/>
                </a:solidFill>
                <a:latin typeface="Microsoft YaHei"/>
                <a:ea typeface="Microsoft YaHei"/>
                <a:cs typeface="Microsoft YaHei"/>
              </a:rPr>
              <a:t>160%触发补担保保留了更多普通现金，但对突发下跌的缓冲有限。额外下跌20%的人工场景在历史熊市上进一步压</a:t>
            </a:r>
          </a:p>
          <a:p xmlns:a="http://schemas.openxmlformats.org/drawingml/2006/main">
            <a:pPr algn="l">
              <a:lnSpc>
                <a:spcPct val="122000"/>
              </a:lnSpc>
              <a:buNone/>
              <a:defRPr sz="2025" b="0">
                <a:solidFill>
                  <a:srgbClr val="384B53"/>
                </a:solidFill>
                <a:latin typeface="Microsoft YaHei"/>
                <a:ea typeface="Microsoft YaHei"/>
                <a:cs typeface="Microsoft YaHei"/>
              </a:defRPr>
            </a:pPr>
            <a:r>
              <a:rPr sz="2025" b="0">
                <a:solidFill>
                  <a:srgbClr val="384B53"/>
                </a:solidFill>
                <a:latin typeface="Microsoft YaHei"/>
                <a:ea typeface="Microsoft YaHei"/>
                <a:cs typeface="Microsoft YaHei"/>
              </a:rPr>
              <a:t>低担保资产，即使普通账户还有现金，也不能假定它已到账救险。</a:t>
            </a:r>
          </a:p>
        </p:txBody>
      </p:sp>
    </p:spTree>
    <p:extLst>
      <p:ext uri="{BB962C8B-B14F-4D97-AF65-F5344CB8AC3E}">
        <p14:creationId xmlns:p14="http://schemas.microsoft.com/office/powerpoint/2010/main" val="816522090"/>
      </p:ext>
    </p:extLst>
  </p:cSld>
</p:sld>
</file>

<file path=ppt/slides/slide2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2AE55F27-70D2-4E1C-BDED-0CFBAB8BBDE3}"/>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实施时，哪些条件仍需落到账户上</a:t>
            </a:r>
          </a:p>
        </p:txBody>
      </p:sp>
      <p:sp>
        <p:nvSpPr>
          <p:cNvPr id="2" name="text-1">
            <a:extLst xmlns:a="http://schemas.openxmlformats.org/drawingml/2006/main">
              <a:ext uri="{FF2B5EF4-FFF2-40B4-BE49-F238E27FC236}">
                <a16:creationId xmlns:a16="http://schemas.microsoft.com/office/drawing/2014/main" id="{00089473-1FD9-4C9D-B7E0-03A1D070C38E}"/>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回测研究了资金机制，真实交易还受产品、合同与结算条件约束</a:t>
            </a:r>
          </a:p>
        </p:txBody>
      </p:sp>
      <p:sp>
        <p:nvSpPr>
          <p:cNvPr id="3" name="text-2">
            <a:extLst xmlns:a="http://schemas.openxmlformats.org/drawingml/2006/main">
              <a:ext uri="{FF2B5EF4-FFF2-40B4-BE49-F238E27FC236}">
                <a16:creationId xmlns:a16="http://schemas.microsoft.com/office/drawing/2014/main" id="{AA36B146-E12C-4492-BDB8-4B8E8ED49167}"/>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可以把策略写成明确规则，但仍需账户条款支持，不能把模拟结果当作授信承诺。</a:t>
            </a:r>
          </a:p>
        </p:txBody>
      </p:sp>
      <p:sp>
        <p:nvSpPr>
          <p:cNvPr id="4" name="text-3">
            <a:extLst xmlns:a="http://schemas.openxmlformats.org/drawingml/2006/main">
              <a:ext uri="{FF2B5EF4-FFF2-40B4-BE49-F238E27FC236}">
                <a16:creationId xmlns:a16="http://schemas.microsoft.com/office/drawing/2014/main" id="{5C1E05AE-6898-45D8-9B23-E5F4E7A27636}"/>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本页聚焦影响零还款目标和生活现金流的实际条件，不改变当前主回测参数。</a:t>
            </a:r>
          </a:p>
        </p:txBody>
      </p:sp>
      <p:sp>
        <p:nvSpPr>
          <p:cNvPr id="5" name="text-4">
            <a:extLst xmlns:a="http://schemas.openxmlformats.org/drawingml/2006/main">
              <a:ext uri="{FF2B5EF4-FFF2-40B4-BE49-F238E27FC236}">
                <a16:creationId xmlns:a16="http://schemas.microsoft.com/office/drawing/2014/main" id="{3FFF9561-A75B-40E2-B98B-C53DE12921A5}"/>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27</a:t>
            </a:r>
          </a:p>
        </p:txBody>
      </p:sp>
      <p:sp>
        <p:nvSpPr>
          <p:cNvPr id="6" name="text-5">
            <a:extLst xmlns:a="http://schemas.openxmlformats.org/drawingml/2006/main">
              <a:ext uri="{FF2B5EF4-FFF2-40B4-BE49-F238E27FC236}">
                <a16:creationId xmlns:a16="http://schemas.microsoft.com/office/drawing/2014/main" id="{569392C0-2F00-497B-ADD1-BB39EB576F10}"/>
              </a:ext>
            </a:extLst>
          </p:cNvPr>
          <p:cNvSpPr>
            <a:spLocks xmlns:a="http://schemas.openxmlformats.org/drawingml/2006/main" noGrp="1"/>
          </p:cNvSpPr>
          <p:nvPr/>
        </p:nvSpPr>
        <p:spPr>
          <a:xfrm xmlns:a="http://schemas.openxmlformats.org/drawingml/2006/main">
            <a:off x="857250" y="2333625"/>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合同与授信</a:t>
            </a:r>
          </a:p>
        </p:txBody>
      </p:sp>
      <p:sp>
        <p:nvSpPr>
          <p:cNvPr id="7" name="text-6">
            <a:extLst xmlns:a="http://schemas.openxmlformats.org/drawingml/2006/main">
              <a:ext uri="{FF2B5EF4-FFF2-40B4-BE49-F238E27FC236}">
                <a16:creationId xmlns:a16="http://schemas.microsoft.com/office/drawing/2014/main" id="{ACB385E7-1283-490C-BBCC-AB6D565971C8}"/>
              </a:ext>
            </a:extLst>
          </p:cNvPr>
          <p:cNvSpPr>
            <a:spLocks xmlns:a="http://schemas.openxmlformats.org/drawingml/2006/main" noGrp="1"/>
          </p:cNvSpPr>
          <p:nvPr/>
        </p:nvSpPr>
        <p:spPr>
          <a:xfrm xmlns:a="http://schemas.openxmlformats.org/drawingml/2006/main">
            <a:off x="857250" y="2867025"/>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确认当前利率、长期单利挂息、自动扣息、合约到</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期及展期审核。维持率达标不等于券商永久承诺续</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贷或不调整额度。</a:t>
            </a:r>
          </a:p>
        </p:txBody>
      </p:sp>
      <p:sp>
        <p:nvSpPr>
          <p:cNvPr id="8" name="text-7">
            <a:extLst xmlns:a="http://schemas.openxmlformats.org/drawingml/2006/main">
              <a:ext uri="{FF2B5EF4-FFF2-40B4-BE49-F238E27FC236}">
                <a16:creationId xmlns:a16="http://schemas.microsoft.com/office/drawing/2014/main" id="{3C48DE9A-C44F-4BE3-89B8-E569D50035F7}"/>
              </a:ext>
            </a:extLst>
          </p:cNvPr>
          <p:cNvSpPr>
            <a:spLocks xmlns:a="http://schemas.openxmlformats.org/drawingml/2006/main" noGrp="1"/>
          </p:cNvSpPr>
          <p:nvPr/>
        </p:nvSpPr>
        <p:spPr>
          <a:xfrm xmlns:a="http://schemas.openxmlformats.org/drawingml/2006/main">
            <a:off x="7953375" y="2333625"/>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证券与可转库存</a:t>
            </a:r>
          </a:p>
        </p:txBody>
      </p:sp>
      <p:sp>
        <p:nvSpPr>
          <p:cNvPr id="9" name="text-8">
            <a:extLst xmlns:a="http://schemas.openxmlformats.org/drawingml/2006/main">
              <a:ext uri="{FF2B5EF4-FFF2-40B4-BE49-F238E27FC236}">
                <a16:creationId xmlns:a16="http://schemas.microsoft.com/office/drawing/2014/main" id="{3D4C3734-8F31-4C02-9E2C-0AB11F9CEA5C}"/>
              </a:ext>
            </a:extLst>
          </p:cNvPr>
          <p:cNvSpPr>
            <a:spLocks xmlns:a="http://schemas.openxmlformats.org/drawingml/2006/main" noGrp="1"/>
          </p:cNvSpPr>
          <p:nvPr/>
        </p:nvSpPr>
        <p:spPr>
          <a:xfrm xmlns:a="http://schemas.openxmlformats.org/drawingml/2006/main">
            <a:off x="7953375" y="2867025"/>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逐只核对融资标的、担保资格、折算率和集中度。</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区分自有与融资关联持仓，特别确认同券自有份额</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能否按模型识别并划转。</a:t>
            </a:r>
          </a:p>
        </p:txBody>
      </p:sp>
      <p:sp>
        <p:nvSpPr>
          <p:cNvPr id="10" name="text-9">
            <a:extLst xmlns:a="http://schemas.openxmlformats.org/drawingml/2006/main">
              <a:ext uri="{FF2B5EF4-FFF2-40B4-BE49-F238E27FC236}">
                <a16:creationId xmlns:a16="http://schemas.microsoft.com/office/drawing/2014/main" id="{59C30DBE-B760-4A47-A056-1C45321DBF9B}"/>
              </a:ext>
            </a:extLst>
          </p:cNvPr>
          <p:cNvSpPr>
            <a:spLocks xmlns:a="http://schemas.openxmlformats.org/drawingml/2006/main" noGrp="1"/>
          </p:cNvSpPr>
          <p:nvPr/>
        </p:nvSpPr>
        <p:spPr>
          <a:xfrm xmlns:a="http://schemas.openxmlformats.org/drawingml/2006/main">
            <a:off x="857250" y="4686300"/>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现金产品与交易时间</a:t>
            </a:r>
          </a:p>
        </p:txBody>
      </p:sp>
      <p:sp>
        <p:nvSpPr>
          <p:cNvPr id="11" name="text-10">
            <a:extLst xmlns:a="http://schemas.openxmlformats.org/drawingml/2006/main">
              <a:ext uri="{FF2B5EF4-FFF2-40B4-BE49-F238E27FC236}">
                <a16:creationId xmlns:a16="http://schemas.microsoft.com/office/drawing/2014/main" id="{B9DB468E-7C3B-4399-A61B-B9AF1CDD2AC6}"/>
              </a:ext>
            </a:extLst>
          </p:cNvPr>
          <p:cNvSpPr>
            <a:spLocks xmlns:a="http://schemas.openxmlformats.org/drawingml/2006/main" noGrp="1"/>
          </p:cNvSpPr>
          <p:nvPr/>
        </p:nvSpPr>
        <p:spPr>
          <a:xfrm xmlns:a="http://schemas.openxmlformats.org/drawingml/2006/main">
            <a:off x="857250" y="5219700"/>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现金类证券的分红或卖出可能在信用账户形成现金</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并触发扣息。银行理财需赎回、转换及划转，不能</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把预计到账当实际可用。</a:t>
            </a:r>
          </a:p>
        </p:txBody>
      </p:sp>
      <p:sp>
        <p:nvSpPr>
          <p:cNvPr id="12" name="text-11">
            <a:extLst xmlns:a="http://schemas.openxmlformats.org/drawingml/2006/main">
              <a:ext uri="{FF2B5EF4-FFF2-40B4-BE49-F238E27FC236}">
                <a16:creationId xmlns:a16="http://schemas.microsoft.com/office/drawing/2014/main" id="{89E95311-3ABC-4E9F-BD35-F0758ACB07B6}"/>
              </a:ext>
            </a:extLst>
          </p:cNvPr>
          <p:cNvSpPr>
            <a:spLocks xmlns:a="http://schemas.openxmlformats.org/drawingml/2006/main" noGrp="1"/>
          </p:cNvSpPr>
          <p:nvPr/>
        </p:nvSpPr>
        <p:spPr>
          <a:xfrm xmlns:a="http://schemas.openxmlformats.org/drawingml/2006/main">
            <a:off x="7953375" y="4686300"/>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1">
                <a:solidFill>
                  <a:srgbClr val="18323D"/>
                </a:solidFill>
                <a:latin typeface="Microsoft YaHei"/>
                <a:ea typeface="Microsoft YaHei"/>
                <a:cs typeface="Microsoft YaHei"/>
              </a:defRPr>
            </a:pPr>
            <a:r>
              <a:rPr sz="2175" b="1">
                <a:solidFill>
                  <a:srgbClr val="18323D"/>
                </a:solidFill>
                <a:latin typeface="Microsoft YaHei"/>
                <a:ea typeface="Microsoft YaHei"/>
                <a:cs typeface="Microsoft YaHei"/>
              </a:rPr>
              <a:t>人民币购买力与额外支出</a:t>
            </a:r>
          </a:p>
        </p:txBody>
      </p:sp>
      <p:sp>
        <p:nvSpPr>
          <p:cNvPr id="13" name="text-12">
            <a:extLst xmlns:a="http://schemas.openxmlformats.org/drawingml/2006/main">
              <a:ext uri="{FF2B5EF4-FFF2-40B4-BE49-F238E27FC236}">
                <a16:creationId xmlns:a16="http://schemas.microsoft.com/office/drawing/2014/main" id="{E44D8DF4-4868-47C4-8EE8-2D5D04312DD0}"/>
              </a:ext>
            </a:extLst>
          </p:cNvPr>
          <p:cNvSpPr>
            <a:spLocks xmlns:a="http://schemas.openxmlformats.org/drawingml/2006/main" noGrp="1"/>
          </p:cNvSpPr>
          <p:nvPr/>
        </p:nvSpPr>
        <p:spPr>
          <a:xfrm xmlns:a="http://schemas.openxmlformats.org/drawingml/2006/main">
            <a:off x="7953375" y="5219700"/>
            <a:ext cx="6334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固定每年2万元会受通胀侵蚀。境内纳指ETF还存在</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汇率、溢折价、交易时段及跟踪差异，医疗等大额</a:t>
            </a:r>
          </a:p>
          <a:p xmlns:a="http://schemas.openxmlformats.org/drawingml/2006/main">
            <a:pPr algn="l">
              <a:lnSpc>
                <a:spcPct val="122000"/>
              </a:lnSpc>
              <a:buNone/>
              <a:defRPr sz="2100" b="0">
                <a:solidFill>
                  <a:srgbClr val="384B53"/>
                </a:solidFill>
                <a:latin typeface="Microsoft YaHei"/>
                <a:ea typeface="Microsoft YaHei"/>
                <a:cs typeface="Microsoft YaHei"/>
              </a:defRPr>
            </a:pPr>
            <a:r>
              <a:rPr sz="2100" b="0">
                <a:solidFill>
                  <a:srgbClr val="384B53"/>
                </a:solidFill>
                <a:latin typeface="Microsoft YaHei"/>
                <a:ea typeface="Microsoft YaHei"/>
                <a:cs typeface="Microsoft YaHei"/>
              </a:rPr>
              <a:t>支出也不在基础预算中。</a:t>
            </a:r>
          </a:p>
        </p:txBody>
      </p:sp>
    </p:spTree>
    <p:extLst>
      <p:ext uri="{BB962C8B-B14F-4D97-AF65-F5344CB8AC3E}">
        <p14:creationId xmlns:p14="http://schemas.microsoft.com/office/powerpoint/2010/main" val="1316924177"/>
      </p:ext>
    </p:extLst>
  </p:cSld>
</p:sld>
</file>

<file path=ppt/slides/slide2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13248A4E-5C38-478D-8109-4375FB22BC5A}"/>
              </a:ext>
            </a:extLst>
          </p:cNvPr>
          <p:cNvSpPr>
            <a:spLocks xmlns:a="http://schemas.openxmlformats.org/drawingml/2006/main" noGrp="1"/>
          </p:cNvSpPr>
          <p:nvPr/>
        </p:nvSpPr>
        <p:spPr>
          <a:xfrm xmlns:a="http://schemas.openxmlformats.org/drawingml/2006/main">
            <a:off x="857250" y="571500"/>
            <a:ext cx="1352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3450" b="1">
                <a:solidFill>
                  <a:srgbClr val="18323D"/>
                </a:solidFill>
                <a:latin typeface="Microsoft YaHei"/>
                <a:ea typeface="Microsoft YaHei"/>
                <a:cs typeface="Microsoft YaHei"/>
              </a:defRPr>
            </a:pPr>
            <a:r>
              <a:rPr sz="3450" b="1">
                <a:solidFill>
                  <a:srgbClr val="18323D"/>
                </a:solidFill>
                <a:latin typeface="Microsoft YaHei"/>
                <a:ea typeface="Microsoft YaHei"/>
                <a:cs typeface="Microsoft YaHei"/>
              </a:rPr>
              <a:t>现金接力的阶段性结论</a:t>
            </a:r>
          </a:p>
        </p:txBody>
      </p:sp>
      <p:sp>
        <p:nvSpPr>
          <p:cNvPr id="2" name="text-1">
            <a:extLst xmlns:a="http://schemas.openxmlformats.org/drawingml/2006/main">
              <a:ext uri="{FF2B5EF4-FFF2-40B4-BE49-F238E27FC236}">
                <a16:creationId xmlns:a16="http://schemas.microsoft.com/office/drawing/2014/main" id="{D72EB5EE-8371-4A32-A8C4-F512D9866720}"/>
              </a:ext>
            </a:extLst>
          </p:cNvPr>
          <p:cNvSpPr>
            <a:spLocks xmlns:a="http://schemas.openxmlformats.org/drawingml/2006/main" noGrp="1"/>
          </p:cNvSpPr>
          <p:nvPr/>
        </p:nvSpPr>
        <p:spPr>
          <a:xfrm xmlns:a="http://schemas.openxmlformats.org/drawingml/2006/main">
            <a:off x="857250" y="1390650"/>
            <a:ext cx="1352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6B787D"/>
                </a:solidFill>
                <a:latin typeface="Microsoft YaHei"/>
                <a:ea typeface="Microsoft YaHei"/>
                <a:cs typeface="Microsoft YaHei"/>
              </a:defRPr>
            </a:pPr>
            <a:r>
              <a:rPr sz="1950" b="0">
                <a:solidFill>
                  <a:srgbClr val="6B787D"/>
                </a:solidFill>
                <a:latin typeface="Microsoft YaHei"/>
                <a:ea typeface="Microsoft YaHei"/>
                <a:cs typeface="Microsoft YaHei"/>
              </a:rPr>
              <a:t>为融资受限的年份保留生活费来源</a:t>
            </a:r>
          </a:p>
        </p:txBody>
      </p:sp>
      <p:sp>
        <p:nvSpPr>
          <p:cNvPr id="3" name="text-2">
            <a:extLst xmlns:a="http://schemas.openxmlformats.org/drawingml/2006/main">
              <a:ext uri="{FF2B5EF4-FFF2-40B4-BE49-F238E27FC236}">
                <a16:creationId xmlns:a16="http://schemas.microsoft.com/office/drawing/2014/main" id="{AE6119BE-E8A1-4975-8E95-29940E15EAD1}"/>
              </a:ext>
            </a:extLst>
          </p:cNvPr>
          <p:cNvSpPr>
            <a:spLocks xmlns:a="http://schemas.openxmlformats.org/drawingml/2006/main" noGrp="1"/>
          </p:cNvSpPr>
          <p:nvPr/>
        </p:nvSpPr>
        <p:spPr>
          <a:xfrm xmlns:a="http://schemas.openxmlformats.org/drawingml/2006/main">
            <a:off x="857250" y="72961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00" b="1">
                <a:solidFill>
                  <a:srgbClr val="357C79"/>
                </a:solidFill>
                <a:latin typeface="Microsoft YaHei"/>
                <a:ea typeface="Microsoft YaHei"/>
                <a:cs typeface="Microsoft YaHei"/>
              </a:defRPr>
            </a:pPr>
            <a:r>
              <a:rPr sz="2100" b="1">
                <a:solidFill>
                  <a:srgbClr val="357C79"/>
                </a:solidFill>
                <a:latin typeface="Microsoft YaHei"/>
                <a:ea typeface="Microsoft YaHei"/>
                <a:cs typeface="Microsoft YaHei"/>
              </a:rPr>
              <a:t>判断能否退休，既要看长期资产，也要看下一年的生活费从哪里来。</a:t>
            </a:r>
          </a:p>
        </p:txBody>
      </p:sp>
      <p:sp>
        <p:nvSpPr>
          <p:cNvPr id="4" name="text-3">
            <a:extLst xmlns:a="http://schemas.openxmlformats.org/drawingml/2006/main">
              <a:ext uri="{FF2B5EF4-FFF2-40B4-BE49-F238E27FC236}">
                <a16:creationId xmlns:a16="http://schemas.microsoft.com/office/drawing/2014/main" id="{B153A404-A432-49AD-A828-65CAA1D8C5DB}"/>
              </a:ext>
            </a:extLst>
          </p:cNvPr>
          <p:cNvSpPr>
            <a:spLocks xmlns:a="http://schemas.openxmlformats.org/drawingml/2006/main" noGrp="1"/>
          </p:cNvSpPr>
          <p:nvPr/>
        </p:nvSpPr>
        <p:spPr>
          <a:xfrm xmlns:a="http://schemas.openxmlformats.org/drawingml/2006/main">
            <a:off x="857250" y="7962900"/>
            <a:ext cx="1285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75" b="0">
                <a:solidFill>
                  <a:srgbClr val="6B787D"/>
                </a:solidFill>
                <a:latin typeface="Microsoft YaHei"/>
                <a:ea typeface="Microsoft YaHei"/>
                <a:cs typeface="Microsoft YaHei"/>
              </a:defRPr>
            </a:pPr>
            <a:r>
              <a:rPr sz="1275" b="0">
                <a:solidFill>
                  <a:srgbClr val="6B787D"/>
                </a:solidFill>
                <a:latin typeface="Microsoft YaHei"/>
                <a:ea typeface="Microsoft YaHei"/>
                <a:cs typeface="Microsoft YaHei"/>
              </a:rPr>
              <a:t>历史研究，非终身退休保障。主版本：初始资产2%固定年支出、2.8%单利、300%转出、160%/200%补担保、140%停止线。</a:t>
            </a:r>
          </a:p>
        </p:txBody>
      </p:sp>
      <p:sp>
        <p:nvSpPr>
          <p:cNvPr id="5" name="text-4">
            <a:extLst xmlns:a="http://schemas.openxmlformats.org/drawingml/2006/main">
              <a:ext uri="{FF2B5EF4-FFF2-40B4-BE49-F238E27FC236}">
                <a16:creationId xmlns:a16="http://schemas.microsoft.com/office/drawing/2014/main" id="{A358796A-F646-46D6-AC5D-68A7E789DF47}"/>
              </a:ext>
            </a:extLst>
          </p:cNvPr>
          <p:cNvSpPr>
            <a:spLocks xmlns:a="http://schemas.openxmlformats.org/drawingml/2006/main" noGrp="1"/>
          </p:cNvSpPr>
          <p:nvPr/>
        </p:nvSpPr>
        <p:spPr>
          <a:xfrm xmlns:a="http://schemas.openxmlformats.org/drawingml/2006/main">
            <a:off x="1390650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2000"/>
              </a:lnSpc>
              <a:buNone/>
              <a:defRPr sz="1425" b="0">
                <a:solidFill>
                  <a:srgbClr val="6B787D"/>
                </a:solidFill>
                <a:latin typeface="Microsoft YaHei"/>
                <a:ea typeface="Microsoft YaHei"/>
                <a:cs typeface="Microsoft YaHei"/>
              </a:defRPr>
            </a:pPr>
            <a:r>
              <a:rPr sz="1425" b="0">
                <a:solidFill>
                  <a:srgbClr val="6B787D"/>
                </a:solidFill>
                <a:latin typeface="Microsoft YaHei"/>
                <a:ea typeface="Microsoft YaHei"/>
                <a:cs typeface="Microsoft YaHei"/>
              </a:rPr>
              <a:t>28</a:t>
            </a:r>
          </a:p>
        </p:txBody>
      </p:sp>
      <p:sp>
        <p:nvSpPr>
          <p:cNvPr id="6" name="text-5">
            <a:extLst xmlns:a="http://schemas.openxmlformats.org/drawingml/2006/main">
              <a:ext uri="{FF2B5EF4-FFF2-40B4-BE49-F238E27FC236}">
                <a16:creationId xmlns:a16="http://schemas.microsoft.com/office/drawing/2014/main" id="{F6553D55-855F-4731-A0F2-0684828A4AF2}"/>
              </a:ext>
            </a:extLst>
          </p:cNvPr>
          <p:cNvSpPr>
            <a:spLocks xmlns:a="http://schemas.openxmlformats.org/drawingml/2006/main" noGrp="1"/>
          </p:cNvSpPr>
          <p:nvPr/>
        </p:nvSpPr>
        <p:spPr>
          <a:xfrm xmlns:a="http://schemas.openxmlformats.org/drawingml/2006/main">
            <a:off x="857250" y="238125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325" b="1">
                <a:solidFill>
                  <a:srgbClr val="357C79"/>
                </a:solidFill>
                <a:latin typeface="Microsoft YaHei"/>
                <a:ea typeface="Microsoft YaHei"/>
                <a:cs typeface="Microsoft YaHei"/>
              </a:defRPr>
            </a:pPr>
            <a:r>
              <a:rPr sz="2325" b="1">
                <a:solidFill>
                  <a:srgbClr val="357C79"/>
                </a:solidFill>
                <a:latin typeface="Microsoft YaHei"/>
                <a:ea typeface="Microsoft YaHei"/>
                <a:cs typeface="Microsoft YaHei"/>
              </a:rPr>
              <a:t>研究结果</a:t>
            </a:r>
          </a:p>
        </p:txBody>
      </p:sp>
      <p:sp>
        <p:nvSpPr>
          <p:cNvPr id="7" name="text-6">
            <a:extLst xmlns:a="http://schemas.openxmlformats.org/drawingml/2006/main">
              <a:ext uri="{FF2B5EF4-FFF2-40B4-BE49-F238E27FC236}">
                <a16:creationId xmlns:a16="http://schemas.microsoft.com/office/drawing/2014/main" id="{2B42CE27-1AC3-4391-9FD3-5670DC1F1E48}"/>
              </a:ext>
            </a:extLst>
          </p:cNvPr>
          <p:cNvSpPr>
            <a:spLocks xmlns:a="http://schemas.openxmlformats.org/drawingml/2006/main" noGrp="1"/>
          </p:cNvSpPr>
          <p:nvPr/>
        </p:nvSpPr>
        <p:spPr>
          <a:xfrm xmlns:a="http://schemas.openxmlformats.org/drawingml/2006/main">
            <a:off x="3286125" y="2381250"/>
            <a:ext cx="11096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0">
                <a:solidFill>
                  <a:srgbClr val="384B53"/>
                </a:solidFill>
                <a:latin typeface="Microsoft YaHei"/>
                <a:ea typeface="Microsoft YaHei"/>
                <a:cs typeface="Microsoft YaHei"/>
              </a:defRPr>
            </a:pPr>
            <a:r>
              <a:rPr sz="2175" b="0">
                <a:solidFill>
                  <a:srgbClr val="384B53"/>
                </a:solidFill>
                <a:latin typeface="Microsoft YaHei"/>
                <a:ea typeface="Microsoft YaHei"/>
                <a:cs typeface="Microsoft YaHei"/>
              </a:rPr>
              <a:t>70/30与80/20在本次2000高点路径中都完成了生活支出，本金和利息实际偿还均为零；</a:t>
            </a:r>
          </a:p>
          <a:p xmlns:a="http://schemas.openxmlformats.org/drawingml/2006/main">
            <a:pPr algn="l">
              <a:lnSpc>
                <a:spcPct val="122000"/>
              </a:lnSpc>
              <a:buNone/>
              <a:defRPr sz="2175" b="0">
                <a:solidFill>
                  <a:srgbClr val="384B53"/>
                </a:solidFill>
                <a:latin typeface="Microsoft YaHei"/>
                <a:ea typeface="Microsoft YaHei"/>
                <a:cs typeface="Microsoft YaHei"/>
              </a:defRPr>
            </a:pPr>
            <a:r>
              <a:rPr sz="2175" b="0">
                <a:solidFill>
                  <a:srgbClr val="384B53"/>
                </a:solidFill>
                <a:latin typeface="Microsoft YaHei"/>
                <a:ea typeface="Microsoft YaHei"/>
                <a:cs typeface="Microsoft YaHei"/>
              </a:rPr>
              <a:t>两者在对应10年、20年历史滚动窗口中也均完成。</a:t>
            </a:r>
          </a:p>
        </p:txBody>
      </p:sp>
      <p:sp>
        <p:nvSpPr>
          <p:cNvPr id="8" name="text-7">
            <a:extLst xmlns:a="http://schemas.openxmlformats.org/drawingml/2006/main">
              <a:ext uri="{FF2B5EF4-FFF2-40B4-BE49-F238E27FC236}">
                <a16:creationId xmlns:a16="http://schemas.microsoft.com/office/drawing/2014/main" id="{2F812C50-59F1-4A76-9BA5-1F73C2B204BE}"/>
              </a:ext>
            </a:extLst>
          </p:cNvPr>
          <p:cNvSpPr>
            <a:spLocks xmlns:a="http://schemas.openxmlformats.org/drawingml/2006/main" noGrp="1"/>
          </p:cNvSpPr>
          <p:nvPr/>
        </p:nvSpPr>
        <p:spPr>
          <a:xfrm xmlns:a="http://schemas.openxmlformats.org/drawingml/2006/main">
            <a:off x="857250" y="38385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325" b="1">
                <a:solidFill>
                  <a:srgbClr val="357C79"/>
                </a:solidFill>
                <a:latin typeface="Microsoft YaHei"/>
                <a:ea typeface="Microsoft YaHei"/>
                <a:cs typeface="Microsoft YaHei"/>
              </a:defRPr>
            </a:pPr>
            <a:r>
              <a:rPr sz="2325" b="1">
                <a:solidFill>
                  <a:srgbClr val="357C79"/>
                </a:solidFill>
                <a:latin typeface="Microsoft YaHei"/>
                <a:ea typeface="Microsoft YaHei"/>
                <a:cs typeface="Microsoft YaHei"/>
              </a:rPr>
              <a:t>配置取舍</a:t>
            </a:r>
          </a:p>
        </p:txBody>
      </p:sp>
      <p:sp>
        <p:nvSpPr>
          <p:cNvPr id="9" name="text-8">
            <a:extLst xmlns:a="http://schemas.openxmlformats.org/drawingml/2006/main">
              <a:ext uri="{FF2B5EF4-FFF2-40B4-BE49-F238E27FC236}">
                <a16:creationId xmlns:a16="http://schemas.microsoft.com/office/drawing/2014/main" id="{E2D51EF5-4DC0-4B40-BD4B-AB0BDB4D558D}"/>
              </a:ext>
            </a:extLst>
          </p:cNvPr>
          <p:cNvSpPr>
            <a:spLocks xmlns:a="http://schemas.openxmlformats.org/drawingml/2006/main" noGrp="1"/>
          </p:cNvSpPr>
          <p:nvPr/>
        </p:nvSpPr>
        <p:spPr>
          <a:xfrm xmlns:a="http://schemas.openxmlformats.org/drawingml/2006/main">
            <a:off x="3286125" y="3838575"/>
            <a:ext cx="11096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0">
                <a:solidFill>
                  <a:srgbClr val="384B53"/>
                </a:solidFill>
                <a:latin typeface="Microsoft YaHei"/>
                <a:ea typeface="Microsoft YaHei"/>
                <a:cs typeface="Microsoft YaHei"/>
              </a:defRPr>
            </a:pPr>
            <a:r>
              <a:rPr sz="2175" b="0">
                <a:solidFill>
                  <a:srgbClr val="384B53"/>
                </a:solidFill>
                <a:latin typeface="Microsoft YaHei"/>
                <a:ea typeface="Microsoft YaHei"/>
                <a:cs typeface="Microsoft YaHei"/>
              </a:rPr>
              <a:t>70/30的最低普通现金约9.25年开销，80/20约3.57年。80/20在上涨起点的财富积累更</a:t>
            </a:r>
          </a:p>
          <a:p xmlns:a="http://schemas.openxmlformats.org/drawingml/2006/main">
            <a:pPr algn="l">
              <a:lnSpc>
                <a:spcPct val="122000"/>
              </a:lnSpc>
              <a:buNone/>
              <a:defRPr sz="2175" b="0">
                <a:solidFill>
                  <a:srgbClr val="384B53"/>
                </a:solidFill>
                <a:latin typeface="Microsoft YaHei"/>
                <a:ea typeface="Microsoft YaHei"/>
                <a:cs typeface="Microsoft YaHei"/>
              </a:defRPr>
            </a:pPr>
            <a:r>
              <a:rPr sz="2175" b="0">
                <a:solidFill>
                  <a:srgbClr val="384B53"/>
                </a:solidFill>
                <a:latin typeface="Microsoft YaHei"/>
                <a:ea typeface="Microsoft YaHei"/>
                <a:cs typeface="Microsoft YaHei"/>
              </a:rPr>
              <a:t>强，较多现金则为不利路径提供更长的生活缓冲。</a:t>
            </a:r>
          </a:p>
        </p:txBody>
      </p:sp>
      <p:sp>
        <p:nvSpPr>
          <p:cNvPr id="10" name="text-9">
            <a:extLst xmlns:a="http://schemas.openxmlformats.org/drawingml/2006/main">
              <a:ext uri="{FF2B5EF4-FFF2-40B4-BE49-F238E27FC236}">
                <a16:creationId xmlns:a16="http://schemas.microsoft.com/office/drawing/2014/main" id="{6CFCA5A3-E097-4D1A-9CB3-929932D967A9}"/>
              </a:ext>
            </a:extLst>
          </p:cNvPr>
          <p:cNvSpPr>
            <a:spLocks xmlns:a="http://schemas.openxmlformats.org/drawingml/2006/main" noGrp="1"/>
          </p:cNvSpPr>
          <p:nvPr/>
        </p:nvSpPr>
        <p:spPr>
          <a:xfrm xmlns:a="http://schemas.openxmlformats.org/drawingml/2006/main">
            <a:off x="857250" y="529590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325" b="1">
                <a:solidFill>
                  <a:srgbClr val="357C79"/>
                </a:solidFill>
                <a:latin typeface="Microsoft YaHei"/>
                <a:ea typeface="Microsoft YaHei"/>
                <a:cs typeface="Microsoft YaHei"/>
              </a:defRPr>
            </a:pPr>
            <a:r>
              <a:rPr sz="2325" b="1">
                <a:solidFill>
                  <a:srgbClr val="357C79"/>
                </a:solidFill>
                <a:latin typeface="Microsoft YaHei"/>
                <a:ea typeface="Microsoft YaHei"/>
                <a:cs typeface="Microsoft YaHei"/>
              </a:rPr>
              <a:t>策略边界</a:t>
            </a:r>
          </a:p>
        </p:txBody>
      </p:sp>
      <p:sp>
        <p:nvSpPr>
          <p:cNvPr id="11" name="text-10">
            <a:extLst xmlns:a="http://schemas.openxmlformats.org/drawingml/2006/main">
              <a:ext uri="{FF2B5EF4-FFF2-40B4-BE49-F238E27FC236}">
                <a16:creationId xmlns:a16="http://schemas.microsoft.com/office/drawing/2014/main" id="{90221A8F-B514-4BBB-9C75-E8563ACC058F}"/>
              </a:ext>
            </a:extLst>
          </p:cNvPr>
          <p:cNvSpPr>
            <a:spLocks xmlns:a="http://schemas.openxmlformats.org/drawingml/2006/main" noGrp="1"/>
          </p:cNvSpPr>
          <p:nvPr/>
        </p:nvSpPr>
        <p:spPr>
          <a:xfrm xmlns:a="http://schemas.openxmlformats.org/drawingml/2006/main">
            <a:off x="3286125" y="5295900"/>
            <a:ext cx="11096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175" b="0">
                <a:solidFill>
                  <a:srgbClr val="384B53"/>
                </a:solidFill>
                <a:latin typeface="Microsoft YaHei"/>
                <a:ea typeface="Microsoft YaHei"/>
                <a:cs typeface="Microsoft YaHei"/>
              </a:defRPr>
            </a:pPr>
            <a:r>
              <a:rPr sz="2175" b="0">
                <a:solidFill>
                  <a:srgbClr val="384B53"/>
                </a:solidFill>
                <a:latin typeface="Microsoft YaHei"/>
                <a:ea typeface="Microsoft YaHei"/>
                <a:cs typeface="Microsoft YaHei"/>
              </a:rPr>
              <a:t>大陆模拟接受部分年份动用普通现金，并进行有条件再平衡。它保留长期持仓和不主动偿</a:t>
            </a:r>
          </a:p>
          <a:p xmlns:a="http://schemas.openxmlformats.org/drawingml/2006/main">
            <a:pPr algn="l">
              <a:lnSpc>
                <a:spcPct val="122000"/>
              </a:lnSpc>
              <a:buNone/>
              <a:defRPr sz="2175" b="0">
                <a:solidFill>
                  <a:srgbClr val="384B53"/>
                </a:solidFill>
                <a:latin typeface="Microsoft YaHei"/>
                <a:ea typeface="Microsoft YaHei"/>
                <a:cs typeface="Microsoft YaHei"/>
              </a:defRPr>
            </a:pPr>
            <a:r>
              <a:rPr sz="2175" b="0">
                <a:solidFill>
                  <a:srgbClr val="384B53"/>
                </a:solidFill>
                <a:latin typeface="Microsoft YaHei"/>
                <a:ea typeface="Microsoft YaHei"/>
                <a:cs typeface="Microsoft YaHei"/>
              </a:rPr>
              <a:t>债目标，但无法覆盖所有市场冲击与未来合同变化。</a:t>
            </a:r>
          </a:p>
        </p:txBody>
      </p:sp>
    </p:spTree>
    <p:extLst>
      <p:ext uri="{BB962C8B-B14F-4D97-AF65-F5344CB8AC3E}">
        <p14:creationId xmlns:p14="http://schemas.microsoft.com/office/powerpoint/2010/main" val="7832866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2026-09-14T13:09:37.0880000Z</dcterms:created>
  <dcterms:modified xsi:type="dcterms:W3CDTF">2026-09-14T13:09:37.0880000Z</dcterms:modified>
</coreProperties>
</file>