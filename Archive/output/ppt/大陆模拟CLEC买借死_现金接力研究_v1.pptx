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2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3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4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7f5ee154af4722" /><Relationship Type="http://schemas.openxmlformats.org/officeDocument/2006/relationships/extended-properties" Target="/docProps/app.xml" Id="Radae71c6591c4b90" /><Relationship Type="http://schemas.openxmlformats.org/officeDocument/2006/relationships/officeDocument" Target="/ppt/presentation.xml" Id="Rc60ae3fd784d49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03692e5d73486f"/>
  </p:sldMasterIdLst>
  <p:notesMasterIdLst>
    <p:notesMasterId xmlns:r="http://schemas.openxmlformats.org/officeDocument/2006/relationships" r:id="Rf30899a59b2544a0"/>
  </p:notesMasterIdLst>
  <p:sldIdLst>
    <p:sldId xmlns:r="http://schemas.openxmlformats.org/officeDocument/2006/relationships" id="256" r:id="R158df9ce97a24ea8"/>
    <p:sldId xmlns:r="http://schemas.openxmlformats.org/officeDocument/2006/relationships" id="257" r:id="R0d3cf61bd6a148f2"/>
    <p:sldId xmlns:r="http://schemas.openxmlformats.org/officeDocument/2006/relationships" id="258" r:id="Rb5ba2ed85f9c4878"/>
    <p:sldId xmlns:r="http://schemas.openxmlformats.org/officeDocument/2006/relationships" id="259" r:id="R30327145638d4833"/>
    <p:sldId xmlns:r="http://schemas.openxmlformats.org/officeDocument/2006/relationships" id="260" r:id="R06846b29c5a840fc"/>
    <p:sldId xmlns:r="http://schemas.openxmlformats.org/officeDocument/2006/relationships" id="261" r:id="R8a5ec32d923c405a"/>
    <p:sldId xmlns:r="http://schemas.openxmlformats.org/officeDocument/2006/relationships" id="262" r:id="Rac2bd463a2b44dd6"/>
    <p:sldId xmlns:r="http://schemas.openxmlformats.org/officeDocument/2006/relationships" id="263" r:id="R8ec4eb912f6f47d0"/>
    <p:sldId xmlns:r="http://schemas.openxmlformats.org/officeDocument/2006/relationships" id="264" r:id="Ra3f3f4028f184ea3"/>
    <p:sldId xmlns:r="http://schemas.openxmlformats.org/officeDocument/2006/relationships" id="265" r:id="R6ccee341aa664292"/>
    <p:sldId xmlns:r="http://schemas.openxmlformats.org/officeDocument/2006/relationships" id="266" r:id="R81a06026b896451a"/>
    <p:sldId xmlns:r="http://schemas.openxmlformats.org/officeDocument/2006/relationships" id="267" r:id="R34aabb2088f549b5"/>
    <p:sldId xmlns:r="http://schemas.openxmlformats.org/officeDocument/2006/relationships" id="268" r:id="R6b5496511cf4451f"/>
    <p:sldId xmlns:r="http://schemas.openxmlformats.org/officeDocument/2006/relationships" id="269" r:id="R8753ef3b20d04716"/>
    <p:sldId xmlns:r="http://schemas.openxmlformats.org/officeDocument/2006/relationships" id="270" r:id="R83205a182ba74c3c"/>
    <p:sldId xmlns:r="http://schemas.openxmlformats.org/officeDocument/2006/relationships" id="271" r:id="R8533b52972b44770"/>
    <p:sldId xmlns:r="http://schemas.openxmlformats.org/officeDocument/2006/relationships" id="272" r:id="Ra1f8c2fae9af4ca7"/>
    <p:sldId xmlns:r="http://schemas.openxmlformats.org/officeDocument/2006/relationships" id="273" r:id="R04c45428eef0444a"/>
    <p:sldId xmlns:r="http://schemas.openxmlformats.org/officeDocument/2006/relationships" id="274" r:id="R24ba5d3835ed4a1b"/>
    <p:sldId xmlns:r="http://schemas.openxmlformats.org/officeDocument/2006/relationships" id="275" r:id="R84173896d0564c82"/>
    <p:sldId xmlns:r="http://schemas.openxmlformats.org/officeDocument/2006/relationships" id="276" r:id="R71b7fbcd574e480b"/>
    <p:sldId xmlns:r="http://schemas.openxmlformats.org/officeDocument/2006/relationships" id="277" r:id="Rd08ff84d9a5446ce"/>
    <p:sldId xmlns:r="http://schemas.openxmlformats.org/officeDocument/2006/relationships" id="278" r:id="Rb841ad5a6bae4bb0"/>
    <p:sldId xmlns:r="http://schemas.openxmlformats.org/officeDocument/2006/relationships" id="279" r:id="R7d9c5bed61b4464f"/>
    <p:sldId xmlns:r="http://schemas.openxmlformats.org/officeDocument/2006/relationships" id="280" r:id="R61a08681968e4d90"/>
    <p:sldId xmlns:r="http://schemas.openxmlformats.org/officeDocument/2006/relationships" id="281" r:id="Rabcd4c07ad5d4991"/>
    <p:sldId xmlns:r="http://schemas.openxmlformats.org/officeDocument/2006/relationships" id="282" r:id="Rd2c47d691d0348f9"/>
    <p:sldId xmlns:r="http://schemas.openxmlformats.org/officeDocument/2006/relationships" id="283" r:id="Ra189dcbe252f4b6b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3cf0dbcecb4356" /><Relationship Type="http://schemas.openxmlformats.org/officeDocument/2006/relationships/slideMaster" Target="/ppt/slideMasters/slideMaster1.xml" Id="Re703692e5d73486f" /><Relationship Type="http://schemas.openxmlformats.org/officeDocument/2006/relationships/notesMaster" Target="/ppt/notesMasters/notesMaster1.xml" Id="Rf30899a59b2544a0" /><Relationship Type="http://schemas.openxmlformats.org/officeDocument/2006/relationships/presProps" Target="/ppt/presProps.xml" Id="R29276bc935a040a6" /><Relationship Type="http://schemas.openxmlformats.org/officeDocument/2006/relationships/tableStyles" Target="/ppt/tableStyles.xml" Id="Rdb43ab3691a643a5" /><Relationship Type="http://schemas.openxmlformats.org/officeDocument/2006/relationships/slide" Target="/ppt/slides/slide1.xml" Id="R158df9ce97a24ea8" /><Relationship Type="http://schemas.openxmlformats.org/officeDocument/2006/relationships/slide" Target="/ppt/slides/slide2.xml" Id="R0d3cf61bd6a148f2" /><Relationship Type="http://schemas.openxmlformats.org/officeDocument/2006/relationships/slide" Target="/ppt/slides/slide3.xml" Id="Rb5ba2ed85f9c4878" /><Relationship Type="http://schemas.openxmlformats.org/officeDocument/2006/relationships/slide" Target="/ppt/slides/slide4.xml" Id="R30327145638d4833" /><Relationship Type="http://schemas.openxmlformats.org/officeDocument/2006/relationships/slide" Target="/ppt/slides/slide5.xml" Id="R06846b29c5a840fc" /><Relationship Type="http://schemas.openxmlformats.org/officeDocument/2006/relationships/slide" Target="/ppt/slides/slide6.xml" Id="R8a5ec32d923c405a" /><Relationship Type="http://schemas.openxmlformats.org/officeDocument/2006/relationships/slide" Target="/ppt/slides/slide7.xml" Id="Rac2bd463a2b44dd6" /><Relationship Type="http://schemas.openxmlformats.org/officeDocument/2006/relationships/slide" Target="/ppt/slides/slide8.xml" Id="R8ec4eb912f6f47d0" /><Relationship Type="http://schemas.openxmlformats.org/officeDocument/2006/relationships/slide" Target="/ppt/slides/slide9.xml" Id="Ra3f3f4028f184ea3" /><Relationship Type="http://schemas.openxmlformats.org/officeDocument/2006/relationships/slide" Target="/ppt/slides/slide10.xml" Id="R6ccee341aa664292" /><Relationship Type="http://schemas.openxmlformats.org/officeDocument/2006/relationships/slide" Target="/ppt/slides/slide11.xml" Id="R81a06026b896451a" /><Relationship Type="http://schemas.openxmlformats.org/officeDocument/2006/relationships/slide" Target="/ppt/slides/slide12.xml" Id="R34aabb2088f549b5" /><Relationship Type="http://schemas.openxmlformats.org/officeDocument/2006/relationships/slide" Target="/ppt/slides/slide13.xml" Id="R6b5496511cf4451f" /><Relationship Type="http://schemas.openxmlformats.org/officeDocument/2006/relationships/slide" Target="/ppt/slides/slide14.xml" Id="R8753ef3b20d04716" /><Relationship Type="http://schemas.openxmlformats.org/officeDocument/2006/relationships/slide" Target="/ppt/slides/slide15.xml" Id="R83205a182ba74c3c" /><Relationship Type="http://schemas.openxmlformats.org/officeDocument/2006/relationships/slide" Target="/ppt/slides/slide16.xml" Id="R8533b52972b44770" /><Relationship Type="http://schemas.openxmlformats.org/officeDocument/2006/relationships/slide" Target="/ppt/slides/slide17.xml" Id="Ra1f8c2fae9af4ca7" /><Relationship Type="http://schemas.openxmlformats.org/officeDocument/2006/relationships/slide" Target="/ppt/slides/slide18.xml" Id="R04c45428eef0444a" /><Relationship Type="http://schemas.openxmlformats.org/officeDocument/2006/relationships/slide" Target="/ppt/slides/slide19.xml" Id="R24ba5d3835ed4a1b" /><Relationship Type="http://schemas.openxmlformats.org/officeDocument/2006/relationships/slide" Target="/ppt/slides/slide20.xml" Id="R84173896d0564c82" /><Relationship Type="http://schemas.openxmlformats.org/officeDocument/2006/relationships/slide" Target="/ppt/slides/slide21.xml" Id="R71b7fbcd574e480b" /><Relationship Type="http://schemas.openxmlformats.org/officeDocument/2006/relationships/slide" Target="/ppt/slides/slide22.xml" Id="Rd08ff84d9a5446ce" /><Relationship Type="http://schemas.openxmlformats.org/officeDocument/2006/relationships/slide" Target="/ppt/slides/slide23.xml" Id="Rb841ad5a6bae4bb0" /><Relationship Type="http://schemas.openxmlformats.org/officeDocument/2006/relationships/slide" Target="/ppt/slides/slide24.xml" Id="R7d9c5bed61b4464f" /><Relationship Type="http://schemas.openxmlformats.org/officeDocument/2006/relationships/slide" Target="/ppt/slides/slide25.xml" Id="R61a08681968e4d90" /><Relationship Type="http://schemas.openxmlformats.org/officeDocument/2006/relationships/slide" Target="/ppt/slides/slide26.xml" Id="Rabcd4c07ad5d4991" /><Relationship Type="http://schemas.openxmlformats.org/officeDocument/2006/relationships/slide" Target="/ppt/slides/slide27.xml" Id="Rd2c47d691d0348f9" /><Relationship Type="http://schemas.openxmlformats.org/officeDocument/2006/relationships/slide" Target="/ppt/slides/slide28.xml" Id="Ra189dcbe252f4b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9b90695d034d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b7d62848e1401c" /><Relationship Type="http://schemas.openxmlformats.org/officeDocument/2006/relationships/notesMaster" Target="/ppt/notesMasters/notesMaster1.xml" Id="R9193be503a8149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9dbbb4c1fa431a" /><Relationship Type="http://schemas.openxmlformats.org/officeDocument/2006/relationships/notesMaster" Target="/ppt/notesMasters/notesMaster1.xml" Id="Re427e57bbed647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e50c3cc6644d9a" /><Relationship Type="http://schemas.openxmlformats.org/officeDocument/2006/relationships/notesMaster" Target="/ppt/notesMasters/notesMaster1.xml" Id="R635fd2ebbf344f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1b2b621f1b46ab" /><Relationship Type="http://schemas.openxmlformats.org/officeDocument/2006/relationships/notesMaster" Target="/ppt/notesMasters/notesMaster1.xml" Id="R83a4374f228148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c75e9fe92a4bb5" /><Relationship Type="http://schemas.openxmlformats.org/officeDocument/2006/relationships/notesMaster" Target="/ppt/notesMasters/notesMaster1.xml" Id="Ra29b7c7a51894d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1e4f529d3e4ebf" /><Relationship Type="http://schemas.openxmlformats.org/officeDocument/2006/relationships/notesMaster" Target="/ppt/notesMasters/notesMaster1.xml" Id="R2f7445bb115444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69312f529c4c43" /><Relationship Type="http://schemas.openxmlformats.org/officeDocument/2006/relationships/notesMaster" Target="/ppt/notesMasters/notesMaster1.xml" Id="R0bf326cd26b043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7c717d4d7f446a" /><Relationship Type="http://schemas.openxmlformats.org/officeDocument/2006/relationships/notesMaster" Target="/ppt/notesMasters/notesMaster1.xml" Id="R405857f33df54a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f8d7fe99ec4222" /><Relationship Type="http://schemas.openxmlformats.org/officeDocument/2006/relationships/notesMaster" Target="/ppt/notesMasters/notesMaster1.xml" Id="Rc9366084dd004c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3a1f6d55fa4ff3" /><Relationship Type="http://schemas.openxmlformats.org/officeDocument/2006/relationships/notesMaster" Target="/ppt/notesMasters/notesMaster1.xml" Id="Rb4518de361f5492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e59a730835c4f80" /><Relationship Type="http://schemas.openxmlformats.org/officeDocument/2006/relationships/notesMaster" Target="/ppt/notesMasters/notesMaster1.xml" Id="R7594ddf232624a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4e324df804f424b" /><Relationship Type="http://schemas.openxmlformats.org/officeDocument/2006/relationships/notesMaster" Target="/ppt/notesMasters/notesMaster1.xml" Id="Ra5339028c51c4e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32b74de0d4247fa" /><Relationship Type="http://schemas.openxmlformats.org/officeDocument/2006/relationships/notesMaster" Target="/ppt/notesMasters/notesMaster1.xml" Id="R4523277b0ca54db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3382ffd4a724ac0" /><Relationship Type="http://schemas.openxmlformats.org/officeDocument/2006/relationships/notesMaster" Target="/ppt/notesMasters/notesMaster1.xml" Id="Rb93c60de8bb1479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2b75db2381144f4" /><Relationship Type="http://schemas.openxmlformats.org/officeDocument/2006/relationships/notesMaster" Target="/ppt/notesMasters/notesMaster1.xml" Id="R42c54937eddf46f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5fd10d69ee343f9" /><Relationship Type="http://schemas.openxmlformats.org/officeDocument/2006/relationships/notesMaster" Target="/ppt/notesMasters/notesMaster1.xml" Id="R60b164b0e7db4ea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246c55d3bc84d16" /><Relationship Type="http://schemas.openxmlformats.org/officeDocument/2006/relationships/notesMaster" Target="/ppt/notesMasters/notesMaster1.xml" Id="Rda4fd6a33664433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d976beec9af4a9a" /><Relationship Type="http://schemas.openxmlformats.org/officeDocument/2006/relationships/notesMaster" Target="/ppt/notesMasters/notesMaster1.xml" Id="R631e73887908427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074c060852b4a75" /><Relationship Type="http://schemas.openxmlformats.org/officeDocument/2006/relationships/notesMaster" Target="/ppt/notesMasters/notesMaster1.xml" Id="R41886faa56b5421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9773c48931d4b33" /><Relationship Type="http://schemas.openxmlformats.org/officeDocument/2006/relationships/notesMaster" Target="/ppt/notesMasters/notesMaster1.xml" Id="R829f0eb1e5f142e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a1c6f198f984719" /><Relationship Type="http://schemas.openxmlformats.org/officeDocument/2006/relationships/notesMaster" Target="/ppt/notesMasters/notesMaster1.xml" Id="R31f6ca04698c42b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0783be4cadc4c0d" /><Relationship Type="http://schemas.openxmlformats.org/officeDocument/2006/relationships/notesMaster" Target="/ppt/notesMasters/notesMaster1.xml" Id="R2027ae072f7d4ee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8db1448a68b49af" /><Relationship Type="http://schemas.openxmlformats.org/officeDocument/2006/relationships/notesMaster" Target="/ppt/notesMasters/notesMaster1.xml" Id="R0da32efcc814427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155c8b85d7a4913" /><Relationship Type="http://schemas.openxmlformats.org/officeDocument/2006/relationships/notesMaster" Target="/ppt/notesMasters/notesMaster1.xml" Id="Rd02303e37825494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efa7d72fcf94920" /><Relationship Type="http://schemas.openxmlformats.org/officeDocument/2006/relationships/notesMaster" Target="/ppt/notesMasters/notesMaster1.xml" Id="Rdc9c14167ef6430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a000483aad14664" /><Relationship Type="http://schemas.openxmlformats.org/officeDocument/2006/relationships/notesMaster" Target="/ppt/notesMasters/notesMaster1.xml" Id="R1fa7d0f5383b404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e95aee1238c40a7" /><Relationship Type="http://schemas.openxmlformats.org/officeDocument/2006/relationships/notesMaster" Target="/ppt/notesMasters/notesMaster1.xml" Id="Rdacbd831a8b14b5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a24e294cb1b4e65" /><Relationship Type="http://schemas.openxmlformats.org/officeDocument/2006/relationships/notesMaster" Target="/ppt/notesMasters/notesMaster1.xml" Id="Rfa7543c50d404a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来源与口径（不含口播稿）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R1: D:/codex/融资/reports/现金接力策略_阶段性研究报告.md，v1.0，2026-09-12。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页面补充说明：阶段性研究 · 历史数据截至2026-09-08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来源与口径（不含口播稿）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U: 用户于本任务提供的CLEC方法、券商条件与早期模拟文稿；未独立逐条核验CLEC节目原文。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S5: FINRA Securities-Backed Lines of Credit Explained：https://www.finra.org/investors/insights/securities-backed-lines-credit。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页面补充说明：CLEC方法按用户提供文稿整理，未作频道逐字引述；FINRA介绍的常见SBLOC通常要求按月付息。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来源与口径（不含口播稿）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U: 用户于本任务提供的CLEC方法、券商条件与早期模拟文稿；未独立逐条核验CLEC节目原文。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R1: D:/codex/融资/reports/现金接力策略_阶段性研究报告.md，v1.0，2026-09-12。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页面补充说明：CLEC的2%/3%来自用户整理，基数与调整方式待对应节目核验；不将本次结果外推为3%提款安全。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来源与口径（不含口播稿）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U: 用户于本任务提供的CLEC方法、券商条件与早期模拟文稿；未独立逐条核验CLEC节目原文。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R4: D:/codex/融资/data/audit.json；D:/codex/融资/data/qqq_daily.json。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页面补充说明：图示为2000—2010年QQQ月末复权收盘回撤；精确最大回撤数字取日频审计。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来源与口径（不含口播稿）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S1: 上交所股票质押业务2025年3月修订附件：https://www.sse.com.cn/services/tradingservice/stockrepo/business/c/10776162/files/79039339404c4b15b55a80a3d8c01b70.docx；公开规则核对2026-09-14。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S2: 上交所约定购回业务办法2025年3月修订：https://www.sse.com.cn/lawandrules/sselawsrules2025/trade/specific/promise/c/c_20250617_10782130.shtml；第2、20、30条。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页面补充说明：特指交易所业务，非所有证券质押贷款；最低金额存在认可例外。约定购回延期后总期限一般不超过一年。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来源与口径（不含口播稿）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R1: D:/codex/融资/reports/现金接力策略_阶段性研究报告.md，v1.0，2026-09-12。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S3: 上交所融资融券交易实施细则2023年修订：https://www.sse.com.cn/lawandrules/sselawsrules2025/trade/specific/margin/c/10782015/files/697f11edc6e74e6d8cc7263dac1021e5.docx；维持率第43条、约定最低值第44条、300%转出第45条。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页面补充说明：组合操作是否符合具体账户合同，仍需券商确认全流程。本研究建立操作模型，未取得全面书面合规结论。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来源与口径（不含口播稿）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R1: D:/codex/融资/reports/现金接力策略_阶段性研究报告.md，v1.0，2026-09-12。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页面补充说明：为解释资金守恒，忽略两天交收期间价差、交易费用和微量利息；实际交易必须通过转出检查。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来源与口径（不含口播稿）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R1: D:/codex/融资/reports/现金接力策略_阶段性研究报告.md，v1.0，2026-09-12。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S3: 上交所融资融券交易实施细则2023年修订：https://www.sse.com.cn/lawandrules/sselawsrules2025/trade/specific/margin/c/10782015/files/697f11edc6e74e6d8cc7263dac1021e5.docx；维持率第43条、约定最低值第44条、300%转出第45条。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页面补充说明：长期单利挂息及当前展期条件来自用户向国信经理确认的项目输入；真实执行以生效合同为准。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来源与口径（不含口播稿）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R1: D:/codex/融资/reports/现金接力策略_阶段性研究报告.md，v1.0，2026-09-12。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S3: 上交所融资融券交易实施细则2023年修订：https://www.sse.com.cn/lawandrules/sselawsrules2025/trade/specific/margin/c/10782015/files/697f11edc6e74e6d8cc7263dac1021e5.docx；维持率第43条、约定最低值第44条、300%转出第45条。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S4: 上交所2026年融资保证金通知：https://www.sse.com.cn/lawandrules/sselawsrules2025/trade/specific/margin/c/c_20260114_10805174.shtml。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页面补充说明：2026-01-19起新融资最低保证金比例100%，券商可更严格；现金类证券90%是模型参数，不等于现金本身的规则。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来源与口径（不含口播稿）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R1: D:/codex/融资/reports/现金接力策略_阶段性研究报告.md，v1.0，2026-09-12。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S3: 上交所融资融券交易实施细则2023年修订：https://www.sse.com.cn/lawandrules/sselawsrules2025/trade/specific/margin/c/10782015/files/697f11edc6e74e6d8cc7263dac1021e5.docx；维持率第43条、约定最低值第44条、300%转出第45条。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页面补充说明：最低维持担保要求由券商按合同约定；本页采用纯融资、无融券和无其他担保物的简化公式。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来源与口径（不含口播稿）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R1: D:/codex/融资/reports/现金接力策略_阶段性研究报告.md，v1.0，2026-09-12。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U: 用户于本任务提供的CLEC方法、券商条件与早期模拟文稿；未独立逐条核验CLEC节目原文。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页面补充说明：卖券偿债再融资是另一个可研究分支，不能将其记作本息零偿还。具体现金扣息顺序以券商系统与合同为准。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来源与口径（不含口播稿）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R1: D:/codex/融资/reports/现金接力策略_阶段性研究报告.md，v1.0，2026-09-12。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U: 用户于本任务提供的CLEC方法、券商条件与早期模拟文稿；未独立逐条核验CLEC节目原文。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页面补充说明：1,100万/1,000万为机制示意，已低于本研究停止线，不是允许策略运行到该状态；不预设固定复借额。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来源与口径（不含口播稿）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R1: D:/codex/融资/reports/现金接力策略_阶段性研究报告.md，v1.0，2026-09-12。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U: 用户于本任务提供的CLEC方法、券商条件与早期模拟文稿；未独立逐条核验CLEC节目原文。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页面补充说明：融资被拒本身不记生活失败；只有允许的资金来源不足以支付当年预算时，才记生活流动性失败。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来源与口径（不含口播稿）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U: 用户于本任务提供的CLEC方法、券商条件与早期模拟文稿；未独立逐条核验CLEC节目原文。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页面补充说明：这是用户早期机制示例，非正式现金接力逐日账。20万按总债务近似，若仅为本金，需另计利息。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来源与口径（不含口播稿）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R1: D:/codex/融资/reports/现金接力策略_阶段性研究报告.md，v1.0，2026-09-12。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页面补充说明：主版本不主动还本付息，但并非从不卖股票、从不动用自有资产，也不能保证现金永远足够。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来源与口径（不含口播稿）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R1: D:/codex/融资/reports/现金接力策略_阶段性研究报告.md，v1.0，2026-09-12。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页面补充说明：15年和10年是按固定预算换算的初始储备，不是保证的最低余额，也未自动覆盖通胀或大额临时开销。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来源与口径（不含口播稿）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R1: D:/codex/融资/reports/现金接力策略_阶段性研究报告.md，v1.0，2026-09-12。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页面补充说明：同一证券的自有份额识别和划转应以券商实际系统为准；不能直接假定融资买入证券可自由转出。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来源与口径（不含口播稿）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R1: D:/codex/融资/reports/现金接力策略_阶段性研究报告.md，v1.0，2026-09-12。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页面补充说明：示例以总资产配比计算；卖股需可转自有库存、转出后300%维持率和保证金条件同时满足。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来源与口径（不含口播稿）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R1: D:/codex/融资/reports/现金接力策略_阶段性研究报告.md，v1.0，2026-09-12。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页面补充说明：纯股票信用账户从160%跌到140%，静态仅需再跌12.5%；实际有现金类担保品时须按股票占比分开计算。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来源与口径（不含口播稿）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R1: D:/codex/融资/reports/现金接力策略_阶段性研究报告.md，v1.0，2026-09-12。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R2: D:/codex/融资/results/cash_relay_stage/report_main.json，及同目录relay70/relay80对应annual.json、daily.json。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R4: D:/codex/融资/data/audit.json；D:/codex/融资/data/qqq_daily.json。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页面补充说明：万元按初始100万归一化；尚未模拟人民币汇率、境内ETF真实成交、溢折价、跟踪误差、税费和授信变化。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来源与口径（不含口播稿）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R1: D:/codex/融资/reports/现金接力策略_阶段性研究报告.md，v1.0，2026-09-12。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R2: D:/codex/融资/results/cash_relay_stage/report_main.json，及同目录relay70/relay80对应annual.json、daily.json。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页面补充说明：“完成”指预算支付完整且未触发模型停止线；不代表实盘不会发生追保、强制付息或合同变化。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来源与口径（不含口播稿）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R1: D:/codex/融资/reports/现金接力策略_阶段性研究报告.md，v1.0，2026-09-12。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R2: D:/codex/融资/results/cash_relay_stage/report_main.json，及同目录relay70/relay80对应annual.json、daily.json。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页面补充说明：图为年末普通现金，精确最低余额取逐日账，年末曲线未必触及该最低值；现金支付年数为累计数。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来源与口径（不含口播稿）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R1: D:/codex/融资/reports/现金接力策略_阶段性研究报告.md，v1.0，2026-09-12。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R2: D:/codex/融资/results/cash_relay_stage/report_main.json，及同目录relay70/relay80对应annual.json、daily.json。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页面补充说明：PAL无大陆300%划转限制，假设140%研究停止线；现金接力2.8%单利。条形数值为已扣债务的净资产，单位万元。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来源与口径（不含口播稿）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R1: D:/codex/融资/reports/现金接力策略_阶段性研究报告.md，v1.0，2026-09-12。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R2: D:/codex/融资/results/cash_relay_stage/report_main.json，及同目录relay70/relay80对应annual.json、daily.json。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页面补充说明：图为年末净资产，含2026-09-08期末记录；不同起点持有期不同，不能与2000起点期末金额直接比较。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来源与口径（不含口播稿）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R1: D:/codex/融资/reports/现金接力策略_阶段性研究报告.md，v1.0，2026-09-12。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R3: D:/codex/融资/results/cash_relay_stage/report_rolling.json；D:/codex/融资/results/cash_relay_stage/stress.json。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页面补充说明：窗口高度重叠，非独立随机样本；历史0次失败不能解释为未来失败概率0。失败案例不作完整期末收益排名。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来源与口径（不含口播稿）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R1: D:/codex/融资/reports/现金接力策略_阶段性研究报告.md，v1.0，2026-09-12。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R3: D:/codex/融资/results/cash_relay_stage/report_rolling.json；D:/codex/融资/results/cash_relay_stage/stress.json。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页面补充说明：后两项为人工反例，非历史事实或预测；20%冲击自2008-11-20起永久作用于后续价格。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来源与口径（不含口播稿）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R1: D:/codex/融资/reports/现金接力策略_阶段性研究报告.md，v1.0，2026-09-12。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S3: 上交所融资融券交易实施细则2023年修订：https://www.sse.com.cn/lawandrules/sselawsrules2025/trade/specific/margin/c/10782015/files/697f11edc6e74e6d8cc7263dac1021e5.docx；维持率第43条、约定最低值第44条、300%转出第45条。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页面补充说明：本页聚焦影响零还款目标和生活现金流的实际条件，不改变当前主回测参数。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来源与口径（不含口播稿）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R1: D:/codex/融资/reports/现金接力策略_阶段性研究报告.md，v1.0，2026-09-12。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R2: D:/codex/融资/results/cash_relay_stage/report_main.json，及同目录relay70/relay80对应annual.json、daily.json。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R3: D:/codex/融资/results/cash_relay_stage/report_rolling.json；D:/codex/融资/results/cash_relay_stage/stress.json。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页面补充说明：历史研究，非终身退休保障。主版本：初始资产2%固定年支出、2.8%单利、300%转出、160%/200%补担保、140%停止线。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fb43c28f0c40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944c14b5444e1e" /><Relationship Type="http://schemas.openxmlformats.org/officeDocument/2006/relationships/slideLayout" Target="/ppt/slideLayouts/slideLayout1.xml" Id="R159e5e0749ab4a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9e5e0749ab4a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a5f4cabc44f32" /><Relationship Type="http://schemas.openxmlformats.org/officeDocument/2006/relationships/notesSlide" Target="/ppt/notesSlides/notesSlide1.xml" Id="R52c72da476bb46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b444c1956479b" /><Relationship Type="http://schemas.openxmlformats.org/officeDocument/2006/relationships/notesSlide" Target="/ppt/notesSlides/notesSlide2.xml" Id="Rbf858fbe21894a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674efa18d4211" /><Relationship Type="http://schemas.openxmlformats.org/officeDocument/2006/relationships/notesSlide" Target="/ppt/notesSlides/notesSlide3.xml" Id="R2b3a4e45c1be40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f0e3b3ef2435e" /><Relationship Type="http://schemas.openxmlformats.org/officeDocument/2006/relationships/chart" Target="/ppt/slides/charts/chart1.xml" Id="Re82a4768b43b4a04" /><Relationship Type="http://schemas.openxmlformats.org/officeDocument/2006/relationships/notesSlide" Target="/ppt/notesSlides/notesSlide4.xml" Id="R4a1d37ba05104c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2258310814ab9" /><Relationship Type="http://schemas.openxmlformats.org/officeDocument/2006/relationships/notesSlide" Target="/ppt/notesSlides/notesSlide5.xml" Id="Rdb74e2ce51e549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09bf41e3b4820" /><Relationship Type="http://schemas.openxmlformats.org/officeDocument/2006/relationships/notesSlide" Target="/ppt/notesSlides/notesSlide6.xml" Id="R742f35dc79ea4c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b4592af79483e" /><Relationship Type="http://schemas.openxmlformats.org/officeDocument/2006/relationships/notesSlide" Target="/ppt/notesSlides/notesSlide7.xml" Id="R2b3ca07d29834d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282af4d8e449c" /><Relationship Type="http://schemas.openxmlformats.org/officeDocument/2006/relationships/notesSlide" Target="/ppt/notesSlides/notesSlide8.xml" Id="R42c0ec9838e549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bb23ef3c24b18" /><Relationship Type="http://schemas.openxmlformats.org/officeDocument/2006/relationships/notesSlide" Target="/ppt/notesSlides/notesSlide9.xml" Id="R659ceaa306b84c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0d85f42244785" /><Relationship Type="http://schemas.openxmlformats.org/officeDocument/2006/relationships/notesSlide" Target="/ppt/notesSlides/notesSlide10.xml" Id="R22aeafdc14364f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e149ab9604558" /><Relationship Type="http://schemas.openxmlformats.org/officeDocument/2006/relationships/notesSlide" Target="/ppt/notesSlides/notesSlide11.xml" Id="R7f43b246535c467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4e5dac2d241bd" /><Relationship Type="http://schemas.openxmlformats.org/officeDocument/2006/relationships/notesSlide" Target="/ppt/notesSlides/notesSlide12.xml" Id="Reb99233c6702428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e00469a21d4df5" /><Relationship Type="http://schemas.openxmlformats.org/officeDocument/2006/relationships/notesSlide" Target="/ppt/notesSlides/notesSlide13.xml" Id="R8869a79029bf430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7792181e54a9c" /><Relationship Type="http://schemas.openxmlformats.org/officeDocument/2006/relationships/notesSlide" Target="/ppt/notesSlides/notesSlide14.xml" Id="R026a48c682674be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d92e8ea604cdc" /><Relationship Type="http://schemas.openxmlformats.org/officeDocument/2006/relationships/notesSlide" Target="/ppt/notesSlides/notesSlide15.xml" Id="R12db5ac8f0a4449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232fb4f4f478a" /><Relationship Type="http://schemas.openxmlformats.org/officeDocument/2006/relationships/notesSlide" Target="/ppt/notesSlides/notesSlide16.xml" Id="Rd748ff9bddd945b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392e5420d43ab" /><Relationship Type="http://schemas.openxmlformats.org/officeDocument/2006/relationships/notesSlide" Target="/ppt/notesSlides/notesSlide17.xml" Id="Ra5aec97632b44be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62cbc10b64526" /><Relationship Type="http://schemas.openxmlformats.org/officeDocument/2006/relationships/notesSlide" Target="/ppt/notesSlides/notesSlide18.xml" Id="Rb8d58f3b3c3c4a9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bb66a5d164283" /><Relationship Type="http://schemas.openxmlformats.org/officeDocument/2006/relationships/notesSlide" Target="/ppt/notesSlides/notesSlide19.xml" Id="Rd876113f48ad401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fa5b5c3114ef7" /><Relationship Type="http://schemas.openxmlformats.org/officeDocument/2006/relationships/notesSlide" Target="/ppt/notesSlides/notesSlide20.xml" Id="R5a44b9f623a74e5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4b0741c7c4457" /><Relationship Type="http://schemas.openxmlformats.org/officeDocument/2006/relationships/notesSlide" Target="/ppt/notesSlides/notesSlide21.xml" Id="R3a7208166713415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8c80828474a15" /><Relationship Type="http://schemas.openxmlformats.org/officeDocument/2006/relationships/chart" Target="/ppt/slides/charts/chart2.xml" Id="R7adbb42ecc10435b" /><Relationship Type="http://schemas.openxmlformats.org/officeDocument/2006/relationships/notesSlide" Target="/ppt/notesSlides/notesSlide22.xml" Id="R6811793198d4422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8a5b757db40e9" /><Relationship Type="http://schemas.openxmlformats.org/officeDocument/2006/relationships/chart" Target="/ppt/slides/charts/chart3.xml" Id="R283d99d81e4b4820" /><Relationship Type="http://schemas.openxmlformats.org/officeDocument/2006/relationships/notesSlide" Target="/ppt/notesSlides/notesSlide23.xml" Id="Rcbf5921b37b54b1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194e9d4de4eb5" /><Relationship Type="http://schemas.openxmlformats.org/officeDocument/2006/relationships/chart" Target="/ppt/slides/charts/chart4.xml" Id="R1c6cd4827ed2453d" /><Relationship Type="http://schemas.openxmlformats.org/officeDocument/2006/relationships/notesSlide" Target="/ppt/notesSlides/notesSlide24.xml" Id="R886e09e29329497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74b0ac75048e6" /><Relationship Type="http://schemas.openxmlformats.org/officeDocument/2006/relationships/notesSlide" Target="/ppt/notesSlides/notesSlide25.xml" Id="Rd47303816c564cc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85f4c619c4ceb" /><Relationship Type="http://schemas.openxmlformats.org/officeDocument/2006/relationships/notesSlide" Target="/ppt/notesSlides/notesSlide26.xml" Id="R68dbbb2ac4f3490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cfb26e7e74988" /><Relationship Type="http://schemas.openxmlformats.org/officeDocument/2006/relationships/notesSlide" Target="/ppt/notesSlides/notesSlide27.xml" Id="R1a56f19fd3a2422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270484a554b27" /><Relationship Type="http://schemas.openxmlformats.org/officeDocument/2006/relationships/notesSlide" Target="/ppt/notesSlides/notesSlide28.xml" Id="R02419d75720a40b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QQQ回撤</c:v>
          </c:tx>
          <c:spPr>
            <a:ln xmlns:a="http://schemas.openxmlformats.org/drawingml/2006/main" w="28575">
              <a:solidFill>
                <a:srgbClr val="357C79"/>
              </a:solidFill>
            </a:ln>
          </c:spPr>
          <c:marker>
            <c:symbol val="none"/>
          </c:marker>
          <c:xVal>
            <c:numRef>
              <c:f>'Chart Data'!$A$2:$A$133</c:f>
              <c:numCache>
                <c:formatCode>General</c:formatCode>
                <c:ptCount val="132"/>
                <c:pt idx="0">
                  <c:v>2000.041667</c:v>
                </c:pt>
                <c:pt idx="1">
                  <c:v>2000.125</c:v>
                </c:pt>
                <c:pt idx="2">
                  <c:v>2000.208333</c:v>
                </c:pt>
                <c:pt idx="3">
                  <c:v>2000.291667</c:v>
                </c:pt>
                <c:pt idx="4">
                  <c:v>2000.375</c:v>
                </c:pt>
                <c:pt idx="5">
                  <c:v>2000.458333</c:v>
                </c:pt>
                <c:pt idx="6">
                  <c:v>2000.541667</c:v>
                </c:pt>
                <c:pt idx="7">
                  <c:v>2000.625</c:v>
                </c:pt>
                <c:pt idx="8">
                  <c:v>2000.708333</c:v>
                </c:pt>
                <c:pt idx="9">
                  <c:v>2000.791667</c:v>
                </c:pt>
                <c:pt idx="10">
                  <c:v>2000.875</c:v>
                </c:pt>
                <c:pt idx="11">
                  <c:v>2000.958333</c:v>
                </c:pt>
                <c:pt idx="12">
                  <c:v>2001.041667</c:v>
                </c:pt>
                <c:pt idx="13">
                  <c:v>2001.125</c:v>
                </c:pt>
                <c:pt idx="14">
                  <c:v>2001.208333</c:v>
                </c:pt>
                <c:pt idx="15">
                  <c:v>2001.291667</c:v>
                </c:pt>
                <c:pt idx="16">
                  <c:v>2001.375</c:v>
                </c:pt>
                <c:pt idx="17">
                  <c:v>2001.458333</c:v>
                </c:pt>
                <c:pt idx="18">
                  <c:v>2001.541667</c:v>
                </c:pt>
                <c:pt idx="19">
                  <c:v>2001.625</c:v>
                </c:pt>
                <c:pt idx="20">
                  <c:v>2001.708333</c:v>
                </c:pt>
                <c:pt idx="21">
                  <c:v>2001.791667</c:v>
                </c:pt>
                <c:pt idx="22">
                  <c:v>2001.875</c:v>
                </c:pt>
                <c:pt idx="23">
                  <c:v>2001.958333</c:v>
                </c:pt>
                <c:pt idx="24">
                  <c:v>2002.041667</c:v>
                </c:pt>
                <c:pt idx="25">
                  <c:v>2002.125</c:v>
                </c:pt>
                <c:pt idx="26">
                  <c:v>2002.208333</c:v>
                </c:pt>
                <c:pt idx="27">
                  <c:v>2002.291667</c:v>
                </c:pt>
                <c:pt idx="28">
                  <c:v>2002.375</c:v>
                </c:pt>
                <c:pt idx="29">
                  <c:v>2002.458333</c:v>
                </c:pt>
                <c:pt idx="30">
                  <c:v>2002.541667</c:v>
                </c:pt>
                <c:pt idx="31">
                  <c:v>2002.625</c:v>
                </c:pt>
                <c:pt idx="32">
                  <c:v>2002.708333</c:v>
                </c:pt>
                <c:pt idx="33">
                  <c:v>2002.791667</c:v>
                </c:pt>
                <c:pt idx="34">
                  <c:v>2002.875</c:v>
                </c:pt>
                <c:pt idx="35">
                  <c:v>2002.958333</c:v>
                </c:pt>
                <c:pt idx="36">
                  <c:v>2003.041667</c:v>
                </c:pt>
                <c:pt idx="37">
                  <c:v>2003.125</c:v>
                </c:pt>
                <c:pt idx="38">
                  <c:v>2003.208333</c:v>
                </c:pt>
                <c:pt idx="39">
                  <c:v>2003.291667</c:v>
                </c:pt>
                <c:pt idx="40">
                  <c:v>2003.375</c:v>
                </c:pt>
                <c:pt idx="41">
                  <c:v>2003.458333</c:v>
                </c:pt>
                <c:pt idx="42">
                  <c:v>2003.541667</c:v>
                </c:pt>
                <c:pt idx="43">
                  <c:v>2003.625</c:v>
                </c:pt>
                <c:pt idx="44">
                  <c:v>2003.708333</c:v>
                </c:pt>
                <c:pt idx="45">
                  <c:v>2003.791667</c:v>
                </c:pt>
                <c:pt idx="46">
                  <c:v>2003.875</c:v>
                </c:pt>
                <c:pt idx="47">
                  <c:v>2003.958333</c:v>
                </c:pt>
                <c:pt idx="48">
                  <c:v>2004.041667</c:v>
                </c:pt>
                <c:pt idx="49">
                  <c:v>2004.125</c:v>
                </c:pt>
                <c:pt idx="50">
                  <c:v>2004.208333</c:v>
                </c:pt>
                <c:pt idx="51">
                  <c:v>2004.291667</c:v>
                </c:pt>
                <c:pt idx="52">
                  <c:v>2004.375</c:v>
                </c:pt>
                <c:pt idx="53">
                  <c:v>2004.458333</c:v>
                </c:pt>
                <c:pt idx="54">
                  <c:v>2004.541667</c:v>
                </c:pt>
                <c:pt idx="55">
                  <c:v>2004.625</c:v>
                </c:pt>
                <c:pt idx="56">
                  <c:v>2004.708333</c:v>
                </c:pt>
                <c:pt idx="57">
                  <c:v>2004.791667</c:v>
                </c:pt>
                <c:pt idx="58">
                  <c:v>2004.875</c:v>
                </c:pt>
                <c:pt idx="59">
                  <c:v>2004.958333</c:v>
                </c:pt>
                <c:pt idx="60">
                  <c:v>2005.041667</c:v>
                </c:pt>
                <c:pt idx="61">
                  <c:v>2005.125</c:v>
                </c:pt>
                <c:pt idx="62">
                  <c:v>2005.208333</c:v>
                </c:pt>
                <c:pt idx="63">
                  <c:v>2005.291667</c:v>
                </c:pt>
                <c:pt idx="64">
                  <c:v>2005.375</c:v>
                </c:pt>
                <c:pt idx="65">
                  <c:v>2005.458333</c:v>
                </c:pt>
                <c:pt idx="66">
                  <c:v>2005.541667</c:v>
                </c:pt>
                <c:pt idx="67">
                  <c:v>2005.625</c:v>
                </c:pt>
                <c:pt idx="68">
                  <c:v>2005.708333</c:v>
                </c:pt>
                <c:pt idx="69">
                  <c:v>2005.791667</c:v>
                </c:pt>
                <c:pt idx="70">
                  <c:v>2005.875</c:v>
                </c:pt>
                <c:pt idx="71">
                  <c:v>2005.958333</c:v>
                </c:pt>
                <c:pt idx="72">
                  <c:v>2006.041667</c:v>
                </c:pt>
                <c:pt idx="73">
                  <c:v>2006.125</c:v>
                </c:pt>
                <c:pt idx="74">
                  <c:v>2006.208333</c:v>
                </c:pt>
                <c:pt idx="75">
                  <c:v>2006.291667</c:v>
                </c:pt>
                <c:pt idx="76">
                  <c:v>2006.375</c:v>
                </c:pt>
                <c:pt idx="77">
                  <c:v>2006.458333</c:v>
                </c:pt>
                <c:pt idx="78">
                  <c:v>2006.541667</c:v>
                </c:pt>
                <c:pt idx="79">
                  <c:v>2006.625</c:v>
                </c:pt>
                <c:pt idx="80">
                  <c:v>2006.708333</c:v>
                </c:pt>
                <c:pt idx="81">
                  <c:v>2006.791667</c:v>
                </c:pt>
                <c:pt idx="82">
                  <c:v>2006.875</c:v>
                </c:pt>
                <c:pt idx="83">
                  <c:v>2006.958333</c:v>
                </c:pt>
                <c:pt idx="84">
                  <c:v>2007.041667</c:v>
                </c:pt>
                <c:pt idx="85">
                  <c:v>2007.125</c:v>
                </c:pt>
                <c:pt idx="86">
                  <c:v>2007.208333</c:v>
                </c:pt>
                <c:pt idx="87">
                  <c:v>2007.291667</c:v>
                </c:pt>
                <c:pt idx="88">
                  <c:v>2007.375</c:v>
                </c:pt>
                <c:pt idx="89">
                  <c:v>2007.458333</c:v>
                </c:pt>
                <c:pt idx="90">
                  <c:v>2007.541667</c:v>
                </c:pt>
                <c:pt idx="91">
                  <c:v>2007.625</c:v>
                </c:pt>
                <c:pt idx="92">
                  <c:v>2007.708333</c:v>
                </c:pt>
                <c:pt idx="93">
                  <c:v>2007.791667</c:v>
                </c:pt>
                <c:pt idx="94">
                  <c:v>2007.875</c:v>
                </c:pt>
                <c:pt idx="95">
                  <c:v>2007.958333</c:v>
                </c:pt>
                <c:pt idx="96">
                  <c:v>2008.041667</c:v>
                </c:pt>
                <c:pt idx="97">
                  <c:v>2008.125</c:v>
                </c:pt>
                <c:pt idx="98">
                  <c:v>2008.208333</c:v>
                </c:pt>
                <c:pt idx="99">
                  <c:v>2008.291667</c:v>
                </c:pt>
                <c:pt idx="100">
                  <c:v>2008.375</c:v>
                </c:pt>
                <c:pt idx="101">
                  <c:v>2008.458333</c:v>
                </c:pt>
                <c:pt idx="102">
                  <c:v>2008.541667</c:v>
                </c:pt>
                <c:pt idx="103">
                  <c:v>2008.625</c:v>
                </c:pt>
                <c:pt idx="104">
                  <c:v>2008.708333</c:v>
                </c:pt>
                <c:pt idx="105">
                  <c:v>2008.791667</c:v>
                </c:pt>
                <c:pt idx="106">
                  <c:v>2008.875</c:v>
                </c:pt>
                <c:pt idx="107">
                  <c:v>2008.958333</c:v>
                </c:pt>
                <c:pt idx="108">
                  <c:v>2009.041667</c:v>
                </c:pt>
                <c:pt idx="109">
                  <c:v>2009.125</c:v>
                </c:pt>
                <c:pt idx="110">
                  <c:v>2009.208333</c:v>
                </c:pt>
                <c:pt idx="111">
                  <c:v>2009.291667</c:v>
                </c:pt>
                <c:pt idx="112">
                  <c:v>2009.375</c:v>
                </c:pt>
                <c:pt idx="113">
                  <c:v>2009.458333</c:v>
                </c:pt>
                <c:pt idx="114">
                  <c:v>2009.541667</c:v>
                </c:pt>
                <c:pt idx="115">
                  <c:v>2009.625</c:v>
                </c:pt>
                <c:pt idx="116">
                  <c:v>2009.708333</c:v>
                </c:pt>
                <c:pt idx="117">
                  <c:v>2009.791667</c:v>
                </c:pt>
                <c:pt idx="118">
                  <c:v>2009.875</c:v>
                </c:pt>
                <c:pt idx="119">
                  <c:v>2009.958333</c:v>
                </c:pt>
                <c:pt idx="120">
                  <c:v>2010.041667</c:v>
                </c:pt>
                <c:pt idx="121">
                  <c:v>2010.125</c:v>
                </c:pt>
                <c:pt idx="122">
                  <c:v>2010.208333</c:v>
                </c:pt>
                <c:pt idx="123">
                  <c:v>2010.291667</c:v>
                </c:pt>
                <c:pt idx="124">
                  <c:v>2010.375</c:v>
                </c:pt>
                <c:pt idx="125">
                  <c:v>2010.458333</c:v>
                </c:pt>
                <c:pt idx="126">
                  <c:v>2010.541667</c:v>
                </c:pt>
                <c:pt idx="127">
                  <c:v>2010.625</c:v>
                </c:pt>
                <c:pt idx="128">
                  <c:v>2010.708333</c:v>
                </c:pt>
                <c:pt idx="129">
                  <c:v>2010.791667</c:v>
                </c:pt>
                <c:pt idx="130">
                  <c:v>2010.875</c:v>
                </c:pt>
                <c:pt idx="131">
                  <c:v>2010.958333</c:v>
                </c:pt>
              </c:numCache>
            </c:numRef>
          </c:xVal>
          <c:yVal>
            <c:numRef>
              <c:f>'Chart Data'!$B$2:$B$133</c:f>
              <c:numCache>
                <c:formatCode>0%</c:formatCode>
                <c:ptCount val="132"/>
                <c:pt idx="0">
                  <c:v>-0.06818182</c:v>
                </c:pt>
                <c:pt idx="1">
                  <c:v>0</c:v>
                </c:pt>
                <c:pt idx="2">
                  <c:v>-0.07006366</c:v>
                </c:pt>
                <c:pt idx="3">
                  <c:v>-0.19532901</c:v>
                </c:pt>
                <c:pt idx="4">
                  <c:v>-0.29405488</c:v>
                </c:pt>
                <c:pt idx="5">
                  <c:v>-0.20647565</c:v>
                </c:pt>
                <c:pt idx="6">
                  <c:v>-0.24044573</c:v>
                </c:pt>
                <c:pt idx="7">
                  <c:v>-0.1369427</c:v>
                </c:pt>
                <c:pt idx="8">
                  <c:v>-0.24628464</c:v>
                </c:pt>
                <c:pt idx="9">
                  <c:v>-0.30613093</c:v>
                </c:pt>
                <c:pt idx="10">
                  <c:v>-0.46510093</c:v>
                </c:pt>
                <c:pt idx="11">
                  <c:v>-0.50424606</c:v>
                </c:pt>
                <c:pt idx="12">
                  <c:v>-0.45392795</c:v>
                </c:pt>
                <c:pt idx="13">
                  <c:v>-0.59702741</c:v>
                </c:pt>
                <c:pt idx="14">
                  <c:v>-0.66751606</c:v>
                </c:pt>
                <c:pt idx="15">
                  <c:v>-0.608068</c:v>
                </c:pt>
                <c:pt idx="16">
                  <c:v>-0.62012744</c:v>
                </c:pt>
                <c:pt idx="17">
                  <c:v>-0.6118895</c:v>
                </c:pt>
                <c:pt idx="18">
                  <c:v>-0.64535032</c:v>
                </c:pt>
                <c:pt idx="19">
                  <c:v>-0.68891711</c:v>
                </c:pt>
                <c:pt idx="20">
                  <c:v>-0.75388533</c:v>
                </c:pt>
                <c:pt idx="21">
                  <c:v>-0.71210187</c:v>
                </c:pt>
                <c:pt idx="22">
                  <c:v>-0.66326973</c:v>
                </c:pt>
                <c:pt idx="23">
                  <c:v>-0.66955408</c:v>
                </c:pt>
                <c:pt idx="24">
                  <c:v>-0.67295116</c:v>
                </c:pt>
                <c:pt idx="25">
                  <c:v>-0.71312107</c:v>
                </c:pt>
                <c:pt idx="26">
                  <c:v>-0.69375787</c:v>
                </c:pt>
                <c:pt idx="27">
                  <c:v>-0.73053084</c:v>
                </c:pt>
                <c:pt idx="28">
                  <c:v>-0.74488314</c:v>
                </c:pt>
                <c:pt idx="29">
                  <c:v>-0.77834396</c:v>
                </c:pt>
                <c:pt idx="30">
                  <c:v>-0.79745226</c:v>
                </c:pt>
                <c:pt idx="31">
                  <c:v>-0.80050957</c:v>
                </c:pt>
                <c:pt idx="32">
                  <c:v>-0.82403404</c:v>
                </c:pt>
                <c:pt idx="33">
                  <c:v>-0.79150742</c:v>
                </c:pt>
                <c:pt idx="34">
                  <c:v>-0.76458597</c:v>
                </c:pt>
                <c:pt idx="35">
                  <c:v>-0.79303612</c:v>
                </c:pt>
                <c:pt idx="36">
                  <c:v>-0.79244162</c:v>
                </c:pt>
                <c:pt idx="37">
                  <c:v>-0.78632695</c:v>
                </c:pt>
                <c:pt idx="38">
                  <c:v>-0.78556265</c:v>
                </c:pt>
                <c:pt idx="39">
                  <c:v>-0.76687893</c:v>
                </c:pt>
                <c:pt idx="40">
                  <c:v>-0.74700638</c:v>
                </c:pt>
                <c:pt idx="41">
                  <c:v>-0.74564754</c:v>
                </c:pt>
                <c:pt idx="42">
                  <c:v>-0.72993635</c:v>
                </c:pt>
                <c:pt idx="43">
                  <c:v>-0.71643301</c:v>
                </c:pt>
                <c:pt idx="44">
                  <c:v>-0.72467084</c:v>
                </c:pt>
                <c:pt idx="45">
                  <c:v>-0.70123145</c:v>
                </c:pt>
                <c:pt idx="46">
                  <c:v>-0.69953286</c:v>
                </c:pt>
                <c:pt idx="47">
                  <c:v>-0.69023995</c:v>
                </c:pt>
                <c:pt idx="48">
                  <c:v>-0.68505737</c:v>
                </c:pt>
                <c:pt idx="49">
                  <c:v>-0.68930541</c:v>
                </c:pt>
                <c:pt idx="50">
                  <c:v>-0.6955075</c:v>
                </c:pt>
                <c:pt idx="51">
                  <c:v>-0.70459806</c:v>
                </c:pt>
                <c:pt idx="52">
                  <c:v>-0.68947524</c:v>
                </c:pt>
                <c:pt idx="53">
                  <c:v>-0.67936502</c:v>
                </c:pt>
                <c:pt idx="54">
                  <c:v>-0.70357859</c:v>
                </c:pt>
                <c:pt idx="55">
                  <c:v>-0.71096996</c:v>
                </c:pt>
                <c:pt idx="56">
                  <c:v>-0.70145458</c:v>
                </c:pt>
                <c:pt idx="57">
                  <c:v>-0.68650164</c:v>
                </c:pt>
                <c:pt idx="58">
                  <c:v>-0.66764089</c:v>
                </c:pt>
                <c:pt idx="59">
                  <c:v>-0.65759591</c:v>
                </c:pt>
                <c:pt idx="60">
                  <c:v>-0.67921056</c:v>
                </c:pt>
                <c:pt idx="61">
                  <c:v>-0.68075433</c:v>
                </c:pt>
                <c:pt idx="62">
                  <c:v>-0.68632961</c:v>
                </c:pt>
                <c:pt idx="63">
                  <c:v>-0.69996746</c:v>
                </c:pt>
                <c:pt idx="64">
                  <c:v>-0.67337788</c:v>
                </c:pt>
                <c:pt idx="65">
                  <c:v>-0.68423668</c:v>
                </c:pt>
                <c:pt idx="66">
                  <c:v>-0.66019833</c:v>
                </c:pt>
                <c:pt idx="67">
                  <c:v>-0.66534951</c:v>
                </c:pt>
                <c:pt idx="68">
                  <c:v>-0.66122844</c:v>
                </c:pt>
                <c:pt idx="69">
                  <c:v>-0.66629384</c:v>
                </c:pt>
                <c:pt idx="70">
                  <c:v>-0.64594689</c:v>
                </c:pt>
                <c:pt idx="71">
                  <c:v>-0.65223563</c:v>
                </c:pt>
                <c:pt idx="72">
                  <c:v>-0.63855243</c:v>
                </c:pt>
                <c:pt idx="73">
                  <c:v>-0.64629768</c:v>
                </c:pt>
                <c:pt idx="74">
                  <c:v>-0.63890149</c:v>
                </c:pt>
                <c:pt idx="75">
                  <c:v>-0.63959061</c:v>
                </c:pt>
                <c:pt idx="76">
                  <c:v>-0.66568488</c:v>
                </c:pt>
                <c:pt idx="77">
                  <c:v>-0.66589057</c:v>
                </c:pt>
                <c:pt idx="78">
                  <c:v>-0.68028201</c:v>
                </c:pt>
                <c:pt idx="79">
                  <c:v>-0.66502867</c:v>
                </c:pt>
                <c:pt idx="80">
                  <c:v>-0.64948753</c:v>
                </c:pt>
                <c:pt idx="81">
                  <c:v>-0.63284586</c:v>
                </c:pt>
                <c:pt idx="82">
                  <c:v>-0.62025682</c:v>
                </c:pt>
                <c:pt idx="83">
                  <c:v>-0.62739119</c:v>
                </c:pt>
                <c:pt idx="84">
                  <c:v>-0.61953509</c:v>
                </c:pt>
                <c:pt idx="85">
                  <c:v>-0.62592352</c:v>
                </c:pt>
                <c:pt idx="86">
                  <c:v>-0.62396012</c:v>
                </c:pt>
                <c:pt idx="87">
                  <c:v>-0.60296839</c:v>
                </c:pt>
                <c:pt idx="88">
                  <c:v>-0.59044225</c:v>
                </c:pt>
                <c:pt idx="89">
                  <c:v>-0.58847939</c:v>
                </c:pt>
                <c:pt idx="90">
                  <c:v>-0.58908454</c:v>
                </c:pt>
                <c:pt idx="91">
                  <c:v>-0.57749965</c:v>
                </c:pt>
                <c:pt idx="92">
                  <c:v>-0.55530942</c:v>
                </c:pt>
                <c:pt idx="93">
                  <c:v>-0.52399681</c:v>
                </c:pt>
                <c:pt idx="94">
                  <c:v>-0.55617424</c:v>
                </c:pt>
                <c:pt idx="95">
                  <c:v>-0.55649092</c:v>
                </c:pt>
                <c:pt idx="96">
                  <c:v>-0.60922387</c:v>
                </c:pt>
                <c:pt idx="97">
                  <c:v>-0.62810018</c:v>
                </c:pt>
                <c:pt idx="98">
                  <c:v>-0.62113698</c:v>
                </c:pt>
                <c:pt idx="99">
                  <c:v>-0.59089396</c:v>
                </c:pt>
                <c:pt idx="100">
                  <c:v>-0.56662998</c:v>
                </c:pt>
                <c:pt idx="101">
                  <c:v>-0.60829868</c:v>
                </c:pt>
                <c:pt idx="102">
                  <c:v>-0.60578392</c:v>
                </c:pt>
                <c:pt idx="103">
                  <c:v>-0.60006058</c:v>
                </c:pt>
                <c:pt idx="104">
                  <c:v>-0.6623562</c:v>
                </c:pt>
                <c:pt idx="105">
                  <c:v>-0.71459504</c:v>
                </c:pt>
                <c:pt idx="106">
                  <c:v>-0.74730946</c:v>
                </c:pt>
                <c:pt idx="107">
                  <c:v>-0.74155475</c:v>
                </c:pt>
                <c:pt idx="108">
                  <c:v>-0.74746396</c:v>
                </c:pt>
                <c:pt idx="109">
                  <c:v>-0.76075994</c:v>
                </c:pt>
                <c:pt idx="110">
                  <c:v>-0.7360787</c:v>
                </c:pt>
                <c:pt idx="111">
                  <c:v>-0.70160879</c:v>
                </c:pt>
                <c:pt idx="112">
                  <c:v>-0.69203376</c:v>
                </c:pt>
                <c:pt idx="113">
                  <c:v>-0.68293991</c:v>
                </c:pt>
                <c:pt idx="114">
                  <c:v>-0.65618415</c:v>
                </c:pt>
                <c:pt idx="115">
                  <c:v>-0.65112932</c:v>
                </c:pt>
                <c:pt idx="116">
                  <c:v>-0.63142486</c:v>
                </c:pt>
                <c:pt idx="117">
                  <c:v>-0.64267873</c:v>
                </c:pt>
                <c:pt idx="118">
                  <c:v>-0.61999695</c:v>
                </c:pt>
                <c:pt idx="119">
                  <c:v>-0.60022617</c:v>
                </c:pt>
                <c:pt idx="120">
                  <c:v>-0.62609134</c:v>
                </c:pt>
                <c:pt idx="121">
                  <c:v>-0.60887708</c:v>
                </c:pt>
                <c:pt idx="122">
                  <c:v>-0.57871795</c:v>
                </c:pt>
                <c:pt idx="123">
                  <c:v>-0.56927039</c:v>
                </c:pt>
                <c:pt idx="124">
                  <c:v>-0.60111172</c:v>
                </c:pt>
                <c:pt idx="125">
                  <c:v>-0.62494805</c:v>
                </c:pt>
                <c:pt idx="126">
                  <c:v>-0.5977256</c:v>
                </c:pt>
                <c:pt idx="127">
                  <c:v>-0.61836201</c:v>
                </c:pt>
                <c:pt idx="128">
                  <c:v>-0.56808946</c:v>
                </c:pt>
                <c:pt idx="129">
                  <c:v>-0.54071534</c:v>
                </c:pt>
                <c:pt idx="130">
                  <c:v>-0.54150761</c:v>
                </c:pt>
                <c:pt idx="131">
                  <c:v>-0.51969669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1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E1D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6B787D"/>
                    </a:solidFill>
                    <a:latin typeface="Microsoft YaHei"/>
                    <a:ea typeface="Microsoft YaHei"/>
                    <a:cs typeface="Microsoft YaHei"/>
                  </a:rPr>
                  <a:t>距历史高点的回撤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6B787D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2011"/>
          <c:min val="200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9E1D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AFAF7"/>
        </a:solidFill>
      </c:spPr>
    </c:plotArea>
    <c:plotVisOnly val="1"/>
  </c:chart>
  <c:spPr>
    <a:solidFill xmlns:a="http://schemas.openxmlformats.org/drawingml/2006/main">
      <a:srgbClr val="FAFAF7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70/30 普通现金</c:v>
          </c:tx>
          <c:spPr>
            <a:ln xmlns:a="http://schemas.openxmlformats.org/drawingml/2006/main" w="28575">
              <a:solidFill>
                <a:srgbClr val="357C79"/>
              </a:solidFill>
            </a:ln>
          </c:spPr>
          <c:marker>
            <c:symbol val="none"/>
          </c:marker>
          <c:xVal>
            <c:numRef>
              <c:f>'Chart Data'!$A$2:$A$28</c:f>
              <c:numCache>
                <c:formatCode>General</c:formatCode>
                <c:ptCount val="27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2026</c:v>
                </c:pt>
              </c:numCache>
            </c:numRef>
          </c:xVal>
          <c:yVal>
            <c:numRef>
              <c:f>'Chart Data'!$B$2:$B$28</c:f>
              <c:numCache>
                <c:formatCode>0</c:formatCode>
                <c:ptCount val="27"/>
                <c:pt idx="0">
                  <c:v>30.44105345</c:v>
                </c:pt>
                <c:pt idx="1">
                  <c:v>30.59336006</c:v>
                </c:pt>
                <c:pt idx="2">
                  <c:v>30.59336006</c:v>
                </c:pt>
                <c:pt idx="3">
                  <c:v>29.16555927</c:v>
                </c:pt>
                <c:pt idx="4">
                  <c:v>27.71092715</c:v>
                </c:pt>
                <c:pt idx="5">
                  <c:v>26.22416555</c:v>
                </c:pt>
                <c:pt idx="6">
                  <c:v>24.70786165</c:v>
                </c:pt>
                <c:pt idx="7">
                  <c:v>25.19724544</c:v>
                </c:pt>
                <c:pt idx="8">
                  <c:v>23.66280612</c:v>
                </c:pt>
                <c:pt idx="9">
                  <c:v>22.09661555</c:v>
                </c:pt>
                <c:pt idx="10">
                  <c:v>20.49910118</c:v>
                </c:pt>
                <c:pt idx="11">
                  <c:v>18.86850215</c:v>
                </c:pt>
                <c:pt idx="12">
                  <c:v>19.24437754</c:v>
                </c:pt>
                <c:pt idx="13">
                  <c:v>19.64363058</c:v>
                </c:pt>
                <c:pt idx="14">
                  <c:v>23.47221125</c:v>
                </c:pt>
                <c:pt idx="15">
                  <c:v>26.70394103</c:v>
                </c:pt>
                <c:pt idx="16">
                  <c:v>27.84537969</c:v>
                </c:pt>
                <c:pt idx="17">
                  <c:v>29.37447719</c:v>
                </c:pt>
                <c:pt idx="18">
                  <c:v>38.84591369</c:v>
                </c:pt>
                <c:pt idx="19">
                  <c:v>37.27199823</c:v>
                </c:pt>
                <c:pt idx="20">
                  <c:v>48.24276147</c:v>
                </c:pt>
                <c:pt idx="21">
                  <c:v>63.81486578</c:v>
                </c:pt>
                <c:pt idx="22">
                  <c:v>76.73044151</c:v>
                </c:pt>
                <c:pt idx="23">
                  <c:v>59.84071714</c:v>
                </c:pt>
                <c:pt idx="24">
                  <c:v>81.64604784</c:v>
                </c:pt>
                <c:pt idx="25">
                  <c:v>101.01637495</c:v>
                </c:pt>
                <c:pt idx="26">
                  <c:v>114.21338137</c:v>
                </c:pt>
              </c:numCache>
            </c:numRef>
          </c:yVal>
        </c:ser>
        <c:ser>
          <c:idx val="1"/>
          <c:order val="1"/>
          <c:tx>
            <c:v>80/20 普通现金</c:v>
          </c:tx>
          <c:spPr>
            <a:ln xmlns:a="http://schemas.openxmlformats.org/drawingml/2006/main" w="28575">
              <a:solidFill>
                <a:srgbClr val="A28250"/>
              </a:solidFill>
            </a:ln>
          </c:spPr>
          <c:marker>
            <c:symbol val="none"/>
          </c:marker>
          <c:xVal>
            <c:numRef>
              <c:f>'Chart Data'!$C$2:$C$28</c:f>
              <c:numCache>
                <c:formatCode>General</c:formatCode>
                <c:ptCount val="27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2026</c:v>
                </c:pt>
              </c:numCache>
            </c:numRef>
          </c:xVal>
          <c:yVal>
            <c:numRef>
              <c:f>'Chart Data'!$D$2:$D$28</c:f>
              <c:numCache>
                <c:formatCode>0</c:formatCode>
                <c:ptCount val="27"/>
                <c:pt idx="0">
                  <c:v>20.28963558</c:v>
                </c:pt>
                <c:pt idx="1">
                  <c:v>20.39557337</c:v>
                </c:pt>
                <c:pt idx="2">
                  <c:v>20.39557337</c:v>
                </c:pt>
                <c:pt idx="3">
                  <c:v>18.76381685</c:v>
                </c:pt>
                <c:pt idx="4">
                  <c:v>17.10057424</c:v>
                </c:pt>
                <c:pt idx="5">
                  <c:v>17.42027305</c:v>
                </c:pt>
                <c:pt idx="6">
                  <c:v>15.72837848</c:v>
                </c:pt>
                <c:pt idx="7">
                  <c:v>14.00512958</c:v>
                </c:pt>
                <c:pt idx="8">
                  <c:v>9.13147599</c:v>
                </c:pt>
                <c:pt idx="9">
                  <c:v>7.27465882</c:v>
                </c:pt>
                <c:pt idx="10">
                  <c:v>7.91774469</c:v>
                </c:pt>
                <c:pt idx="11">
                  <c:v>9.85315724</c:v>
                </c:pt>
                <c:pt idx="12">
                  <c:v>9.84568296</c:v>
                </c:pt>
                <c:pt idx="13">
                  <c:v>11.33881483</c:v>
                </c:pt>
                <c:pt idx="14">
                  <c:v>14.21239539</c:v>
                </c:pt>
                <c:pt idx="15">
                  <c:v>16.40792198</c:v>
                </c:pt>
                <c:pt idx="16">
                  <c:v>17.37500724</c:v>
                </c:pt>
                <c:pt idx="17">
                  <c:v>19.27948285</c:v>
                </c:pt>
                <c:pt idx="18">
                  <c:v>24.75512828</c:v>
                </c:pt>
                <c:pt idx="19">
                  <c:v>23.9894405</c:v>
                </c:pt>
                <c:pt idx="20">
                  <c:v>31.99083416</c:v>
                </c:pt>
                <c:pt idx="21">
                  <c:v>43.68945407</c:v>
                </c:pt>
                <c:pt idx="22">
                  <c:v>53.65880604</c:v>
                </c:pt>
                <c:pt idx="23">
                  <c:v>40.02449897</c:v>
                </c:pt>
                <c:pt idx="24">
                  <c:v>56.57807413</c:v>
                </c:pt>
                <c:pt idx="25">
                  <c:v>71.75719673</c:v>
                </c:pt>
                <c:pt idx="26">
                  <c:v>82.32645708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E1D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6B787D"/>
                    </a:solidFill>
                    <a:latin typeface="Microsoft YaHei"/>
                    <a:ea typeface="Microsoft YaHei"/>
                    <a:cs typeface="Microsoft YaHei"/>
                  </a:rPr>
                  <a:t>万元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6B787D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2026"/>
          <c:min val="200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9E1D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AFAF7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384B53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AFAF7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期末净资产（万元）</c:v>
          </c:tx>
          <c:spPr>
            <a:solidFill xmlns:a="http://schemas.openxmlformats.org/drawingml/2006/main">
              <a:srgbClr val="357C79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7B2AF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57C79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A7B2AF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357C79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A28250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卖资产
70/30</c:v>
                </c:pt>
                <c:pt idx="1">
                  <c:v>现金接力
70/30</c:v>
                </c:pt>
                <c:pt idx="2">
                  <c:v>卖资产
80/20</c:v>
                </c:pt>
                <c:pt idx="3">
                  <c:v>现金接力
80/20</c:v>
                </c:pt>
                <c:pt idx="4">
                  <c:v>理想化PAL
80/20</c:v>
                </c:pt>
              </c:strCache>
            </c:strRef>
          </c:cat>
          <c:val>
            <c:numRef>
              <c:f>'Chart Data'!$B$2:$B$6</c:f>
              <c:numCache>
                <c:formatCode>0.00</c:formatCode>
                <c:ptCount val="5"/>
                <c:pt idx="0">
                  <c:v>238.43</c:v>
                </c:pt>
                <c:pt idx="1">
                  <c:v>372.39</c:v>
                </c:pt>
                <c:pt idx="2">
                  <c:v>213.14</c:v>
                </c:pt>
                <c:pt idx="3">
                  <c:v>409.73</c:v>
                </c:pt>
                <c:pt idx="4">
                  <c:v>572.76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8323D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D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65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E1D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6B787D"/>
                    </a:solidFill>
                    <a:latin typeface="Microsoft YaHei"/>
                    <a:ea typeface="Microsoft YaHei"/>
                    <a:cs typeface="Microsoft YaHei"/>
                  </a:rPr>
                  <a:t>万元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6B787D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AF7"/>
        </a:solidFill>
      </c:spPr>
    </c:plotArea>
    <c:plotVisOnly val="1"/>
  </c:chart>
  <c:spPr>
    <a:solidFill xmlns:a="http://schemas.openxmlformats.org/drawingml/2006/main">
      <a:srgbClr val="FAFAF7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70/30 净资产</c:v>
          </c:tx>
          <c:spPr>
            <a:ln xmlns:a="http://schemas.openxmlformats.org/drawingml/2006/main" w="28575">
              <a:solidFill>
                <a:srgbClr val="357C79"/>
              </a:solidFill>
            </a:ln>
          </c:spPr>
          <c:marker>
            <c:symbol val="none"/>
          </c:marker>
          <c:xVal>
            <c:numRef>
              <c:f>'Chart Data'!$A$2:$A$19</c:f>
              <c:numCache>
                <c:formatCode>General</c:formatCode>
                <c:ptCount val="18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  <c:pt idx="15">
                  <c:v>2024</c:v>
                </c:pt>
                <c:pt idx="16">
                  <c:v>2025</c:v>
                </c:pt>
                <c:pt idx="17">
                  <c:v>2026</c:v>
                </c:pt>
              </c:numCache>
            </c:numRef>
          </c:xVal>
          <c:yVal>
            <c:numRef>
              <c:f>'Chart Data'!$B$2:$B$19</c:f>
              <c:numCache>
                <c:formatCode>0</c:formatCode>
                <c:ptCount val="18"/>
                <c:pt idx="0">
                  <c:v>153.58749007</c:v>
                </c:pt>
                <c:pt idx="1">
                  <c:v>174.46734174</c:v>
                </c:pt>
                <c:pt idx="2">
                  <c:v>177.87497344</c:v>
                </c:pt>
                <c:pt idx="3">
                  <c:v>200.01171321</c:v>
                </c:pt>
                <c:pt idx="4">
                  <c:v>252.25476013</c:v>
                </c:pt>
                <c:pt idx="5">
                  <c:v>286.73917467</c:v>
                </c:pt>
                <c:pt idx="6">
                  <c:v>305.76011175</c:v>
                </c:pt>
                <c:pt idx="7">
                  <c:v>321.17983975</c:v>
                </c:pt>
                <c:pt idx="8">
                  <c:v>398.15106968</c:v>
                </c:pt>
                <c:pt idx="9">
                  <c:v>398.60577199</c:v>
                </c:pt>
                <c:pt idx="10">
                  <c:v>514.06116047</c:v>
                </c:pt>
                <c:pt idx="11">
                  <c:v>698.02498922</c:v>
                </c:pt>
                <c:pt idx="12">
                  <c:v>839.10172317</c:v>
                </c:pt>
                <c:pt idx="13">
                  <c:v>641.04608443</c:v>
                </c:pt>
                <c:pt idx="14">
                  <c:v>902.80070256</c:v>
                </c:pt>
                <c:pt idx="15">
                  <c:v>1072.53184123</c:v>
                </c:pt>
                <c:pt idx="16">
                  <c:v>1238.71618489</c:v>
                </c:pt>
                <c:pt idx="17">
                  <c:v>1395.94003153</c:v>
                </c:pt>
              </c:numCache>
            </c:numRef>
          </c:yVal>
        </c:ser>
        <c:ser>
          <c:idx val="1"/>
          <c:order val="1"/>
          <c:tx>
            <c:v>80/20 净资产</c:v>
          </c:tx>
          <c:spPr>
            <a:ln xmlns:a="http://schemas.openxmlformats.org/drawingml/2006/main" w="28575">
              <a:solidFill>
                <a:srgbClr val="A28250"/>
              </a:solidFill>
            </a:ln>
          </c:spPr>
          <c:marker>
            <c:symbol val="none"/>
          </c:marker>
          <c:xVal>
            <c:numRef>
              <c:f>'Chart Data'!$C$2:$C$19</c:f>
              <c:numCache>
                <c:formatCode>General</c:formatCode>
                <c:ptCount val="18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  <c:pt idx="15">
                  <c:v>2024</c:v>
                </c:pt>
                <c:pt idx="16">
                  <c:v>2025</c:v>
                </c:pt>
                <c:pt idx="17">
                  <c:v>2026</c:v>
                </c:pt>
              </c:numCache>
            </c:numRef>
          </c:xVal>
          <c:yVal>
            <c:numRef>
              <c:f>'Chart Data'!$D$2:$D$19</c:f>
              <c:numCache>
                <c:formatCode>0</c:formatCode>
                <c:ptCount val="18"/>
                <c:pt idx="0">
                  <c:v>161.29726132</c:v>
                </c:pt>
                <c:pt idx="1">
                  <c:v>186.24805291</c:v>
                </c:pt>
                <c:pt idx="2">
                  <c:v>190.2669811</c:v>
                </c:pt>
                <c:pt idx="3">
                  <c:v>217.23352818</c:v>
                </c:pt>
                <c:pt idx="4">
                  <c:v>281.85890658</c:v>
                </c:pt>
                <c:pt idx="5">
                  <c:v>325.53750612</c:v>
                </c:pt>
                <c:pt idx="6">
                  <c:v>349.89820402</c:v>
                </c:pt>
                <c:pt idx="7">
                  <c:v>369.64384298</c:v>
                </c:pt>
                <c:pt idx="8">
                  <c:v>469.89115768</c:v>
                </c:pt>
                <c:pt idx="9">
                  <c:v>469.55986589</c:v>
                </c:pt>
                <c:pt idx="10">
                  <c:v>622.94784097</c:v>
                </c:pt>
                <c:pt idx="11">
                  <c:v>874.50149785</c:v>
                </c:pt>
                <c:pt idx="12">
                  <c:v>1073.45298343</c:v>
                </c:pt>
                <c:pt idx="13">
                  <c:v>785.28626479</c:v>
                </c:pt>
                <c:pt idx="14">
                  <c:v>1146.54205736</c:v>
                </c:pt>
                <c:pt idx="15">
                  <c:v>1389.36134906</c:v>
                </c:pt>
                <c:pt idx="16">
                  <c:v>1630.30907898</c:v>
                </c:pt>
                <c:pt idx="17">
                  <c:v>1862.82693253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E1D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6B787D"/>
                    </a:solidFill>
                    <a:latin typeface="Microsoft YaHei"/>
                    <a:ea typeface="Microsoft YaHei"/>
                    <a:cs typeface="Microsoft YaHei"/>
                  </a:rPr>
                  <a:t>万元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6B787D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2026"/>
          <c:min val="2009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9E1D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AFAF7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384B53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AFAF7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7CD2080B-0085-482D-A996-0CCD13D8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6290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阶段性研究 · 历史数据截至2026-09-08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99FA4D5-3A7B-41A9-826E-00E5ACDC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9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1D1574F-A149-4DCC-B4E4-BAFB8834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23925"/>
            <a:ext cx="1238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rPr>
              <a:t>大陆融资与退休现金流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045D731-B3C3-497B-AB5A-C8D9447F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28825"/>
            <a:ext cx="134302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510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如何在大陆模拟 CLEC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510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的股票质押策略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529E958-C293-4602-B0E0-F6B2D83C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52950"/>
            <a:ext cx="1285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000" b="0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rPr>
              <a:t>实现“买借死”的现金接力研究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2829D36-D010-4BBD-8480-4CEE7B37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162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25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用纳指基金与现金配置，通过双账户融资安排生活费。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25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检验在2000年高点退休后，策略能否持续运行。</a:t>
            </a:r>
          </a:p>
        </p:txBody>
      </p:sp>
    </p:spTree>
    <p:extLst>
      <p:ext uri="{BB962C8B-B14F-4D97-AF65-F5344CB8AC3E}">
        <p14:creationId xmlns:p14="http://schemas.microsoft.com/office/powerpoint/2010/main" val="9561119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D2AE16-42EB-4EDE-A812-8FBD8AD1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352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CLEC 的买借死方法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AF7F7E4-4346-4BFC-A16F-72E67882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90650"/>
            <a:ext cx="13525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长期持有资产，用质押借款承担生活开销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F699AF4-86C0-4113-A053-FB8A8966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96150"/>
            <a:ext cx="1352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rPr>
              <a:t>核心检验：资产增长之外，还要保证下跌期间担保充足、生活费不断流。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8AD1B45-C616-4048-8DD0-E87F2DFD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6290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CLEC方法按用户提供文稿整理，未作频道逐字引述；FINRA介绍的常见SBLOC通常要求按月付息。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A012DA6-419B-4983-8BE8-78D96DA5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9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371C861-99A7-4472-A83B-EE25B685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买入并长期持有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6BB8913-B32E-483C-9631-B18F0020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7025"/>
            <a:ext cx="6334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核心资产是纳斯达克100指数基金。目标是不为日常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生活持续减持核心资产，让资产保留长期增长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机会；组合层面的再平衡仍可能包含买卖。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C1F19CC-0314-48B7-BE02-8A71D745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33625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借款用于生活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FC95654F-9A5E-45E7-A2BC-64E9A341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6334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以证券资产获得 PAL 借款，每年提取生活预算。借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出的资金用于消费，不再投入证券市场，避免生活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借款额外放大投资敞口。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2810D23D-651B-4F63-B2BA-3B4E18F3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本息长期留在负债端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D715EEDD-FD8E-460D-9470-FAE19024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6334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策略目标是不主动归还本金和利息，依靠资产增长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承受债务累积。债务不会消失，真实产品是否允许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挂息或利息资本化取决于合同。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DC5F8C24-2C75-4FAD-A6E7-827A643E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86300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信用卡只是支付工具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F2B88417-58A8-4D82-8C2B-6FD2CC1A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219700"/>
            <a:ext cx="6334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可以先刷卡，再以 PAL 支付账单；若有返现，再投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入股票。这个例子说明资金用途，不是额外提高安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全提款率的来源。</a:t>
            </a:r>
          </a:p>
        </p:txBody>
      </p:sp>
    </p:spTree>
    <p:extLst>
      <p:ext uri="{BB962C8B-B14F-4D97-AF65-F5344CB8AC3E}">
        <p14:creationId xmlns:p14="http://schemas.microsoft.com/office/powerpoint/2010/main" val="14757239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7BFEF4-4C3F-4B2C-9A35-4C5C5141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352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资产配置决定借款空间与下跌承受力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DC97665-6D9C-422B-852A-D9F65E9F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90650"/>
            <a:ext cx="13525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现金在组合中承担缓冲作用，借款比例不能脱离配置单独讨论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6EE6CD3-0D1A-43F1-B1CA-807B4BBD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96150"/>
            <a:ext cx="1352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rPr>
              <a:t>正式现金接力回测统一每年提取初始资产的2%，70/30也按2%测试。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3F32B9D-131A-44A3-9F45-929368AB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6290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CLEC的2%/3%来自用户整理，基数与调整方式待对应节目核验；不将本次结果外推为3%提款安全。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8AFB427-D9A7-43F0-AD61-8B42A04C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9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857250" y="2257425"/>
          <a:ext xmlns:a="http://schemas.openxmlformats.org/drawingml/2006/main" cx="13525500" cy="3238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99335"/>
                <a:gridCol w="4057650"/>
                <a:gridCol w="1893570"/>
                <a:gridCol w="5274945"/>
              </a:tblGrid>
              <a:tr h="533400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纳指原型基金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现金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用户整理的 CLEC 年借款比例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</a:tr>
              <a:tr h="901700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80/20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80%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20%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2%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901700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70/30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70%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30%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3%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901700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433（不展开）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40%原型＋30%两倍纳指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30%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配合“聪明再平衡”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5746AB5A-F9FE-4D12-9430-DB5F225B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81675"/>
            <a:ext cx="13525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02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80/20与70/30按年度再平衡恢复股现比例。本研究只允许纳指原型基金和现金类资产，不纳入杠杆ETF；以目标股票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02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比例描述配置，不把它等同于净资产的固定风险倍数。</a:t>
            </a:r>
          </a:p>
        </p:txBody>
      </p:sp>
    </p:spTree>
    <p:extLst>
      <p:ext uri="{BB962C8B-B14F-4D97-AF65-F5344CB8AC3E}">
        <p14:creationId xmlns:p14="http://schemas.microsoft.com/office/powerpoint/2010/main" val="4028858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133642-129A-4422-A177-8895A91F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352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2000年高点退休，是最重要的历史检验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4E0D005-6CE3-49E2-A1D9-EE50D317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90650"/>
            <a:ext cx="13525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退休初期遭遇深度下跌，仍必须持续支付生活费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49B7CD9-7DE2-41BC-B669-42D25DFF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96150"/>
            <a:ext cx="1352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rPr>
              <a:t>通过2000年路径是重要证据，但不能替代多起点与压力测试。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FFB5065-4F9F-4E6B-927B-2D1C7E98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6290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图示为2000—2010年QQQ月末复权收盘回撤；精确最大回撤数字取日频审计。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8B8A884-876B-4168-BA38-8750B8FD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9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BDA3473-E383-4FD5-A8B9-7CDAD124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431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约83%回撤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4EA1C7D-F6ED-46D4-9D32-0833F106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52725"/>
            <a:ext cx="4572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QQQ复权收盘数据的历史最大回撤约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82.96%，低点在2002-10-09。这里不是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指2000年单年下跌83%。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C8E656C-BE36-4E31-8767-F3E9846C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3382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支出与利息不会等待反弹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CDE2E78-AA4D-4482-B06B-3CD2372B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43400"/>
            <a:ext cx="4572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市场下跌会压低担保价值；生活费仍要支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取，未偿本金仍会计息，资产与债务可能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朝不利方向同时变化。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B6740CC-6EEC-47FB-A64B-2D17287A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大陆版本多一道检验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5CCF6A3F-572D-4ABC-990A-4DA1F592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34075"/>
            <a:ext cx="4572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即使总资产尚能覆盖债务，也必须验证普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通账户能否按时拿到生活费。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809625" y="2381250"/>
          <a:ext xmlns:a="http://schemas.openxmlformats.org/drawingml/2006/main" cx="847725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82a4768b43b4a04"/>
          </a:graphicData>
        </a:graphic>
      </p:graphicFrame>
    </p:spTree>
    <p:extLst>
      <p:ext uri="{BB962C8B-B14F-4D97-AF65-F5344CB8AC3E}">
        <p14:creationId xmlns:p14="http://schemas.microsoft.com/office/powerpoint/2010/main" val="18706458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ACA2CA-A051-4AC5-800C-5C9C419A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352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大陆股票质押难以直接用于退休生活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8F95EB3-1B12-443B-A323-76F91DC7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90650"/>
            <a:ext cx="13525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交易所股票质押式回购的业务定位，与小额、长期生活借款不同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3605527-8CEF-4092-9CE5-35D779AC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96150"/>
            <a:ext cx="1352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rPr>
              <a:t>因此，本项目转向普通投资者更熟悉的融资业务，研究双账户替代。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36A640F-116C-43EA-A63C-1F9865B4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6290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特指交易所业务，非所有证券质押贷款；最低金额存在认可例外。约定购回延期后总期限一般不超过一年。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9E65164-086B-4E09-983E-B687B858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9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857250" y="2257425"/>
          <a:ext xmlns:a="http://schemas.openxmlformats.org/drawingml/2006/main" cx="135255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64080"/>
                <a:gridCol w="5274945"/>
                <a:gridCol w="6086475"/>
              </a:tblGrid>
              <a:tr h="533400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规则或机制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对本策略的影响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</a:tr>
              <a:tr h="914400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借款门槛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首笔通常≥500万元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后续每笔通常≥50万元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首笔仅借资产2%—3%，需约1.67亿—2.5亿元资产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914400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资金用途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用于实体经济生产经营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与个人退休生活消费不匹配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914400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初始质押标的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受股票质押业务范围约束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纳指ETF不能因为可作两融担保品，就视作初始质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押标的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914400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约定购回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先向券商卖出，未来按约定价格购回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购回期限不超过一年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证券由券商持有，期限也难匹配长期退休安排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6371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C8265D-5401-404E-8C5A-EC907240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352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融资替代 PAL 的双账户思路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98618C1-2B5D-491E-9BC0-D5CB30D5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90650"/>
            <a:ext cx="13525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信用账户买入等额纳指，普通账户卖出自有纳指，取得生活现金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A34BD18-3BFE-4B54-B56F-EF302FB1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96150"/>
            <a:ext cx="1352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rPr>
              <a:t>融资进账不是收益；现金真正花出去后，合并净资产会相应减少。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A1C201D-10AE-4341-B592-F3D2F5F6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6290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组合操作是否符合具体账户合同，仍需券商确认全流程。本研究建立操作模型，未取得全面书面合规结论。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3078B39-FD34-4DA3-BEDC-43C8D522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9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700EE80-64F5-4C7A-843A-049DB768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普通账户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DCDCF1A-8B0A-4926-8F7B-AF51E502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7025"/>
            <a:ext cx="6334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保留可支配现金、自有证券和生活储备。卖出自有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纳指后，待交易结算、资金可取，再提现支付生活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费。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6FFE841-3F30-4E69-B4A3-2A4C26B0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33625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信用账户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E58C51E-0733-42BC-AFF0-3C0929E4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6334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接收自有担保品，并向券商融资买入合格纳指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标的。融资款只能用于证券购买，不能直接当生活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费取出。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0DA86535-2E27-4887-ACF8-C4E95A9A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合并看两个账户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97C843BF-D06E-40BA-A497-C1BB2A61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6334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信用账户新增的纳指持仓，与普通账户卖出的等额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纳指大体抵消。忽略价差和费用时，整体股票敞口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基本不变，现金与负债同时增加。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5F0848A0-9DA7-4883-A4F2-A2544054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86300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操作成立的条件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27E79A0A-4F7D-41BF-99EE-4027903D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219700"/>
            <a:ext cx="6334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普通账户必须已有可卖资产，或信用账户能先划出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自有担保品。证券资格、可用保证金、授信及转出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条件必须同时满足。</a:t>
            </a:r>
          </a:p>
        </p:txBody>
      </p:sp>
    </p:spTree>
    <p:extLst>
      <p:ext uri="{BB962C8B-B14F-4D97-AF65-F5344CB8AC3E}">
        <p14:creationId xmlns:p14="http://schemas.microsoft.com/office/powerpoint/2010/main" val="2974069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59DCB5-9CC0-44C8-B5C2-E4A6A864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352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一年借出2万元，双账户怎样变化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AB70190-42E5-428E-B563-C5C960CA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90650"/>
            <a:ext cx="13525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70/30配置，初始100万元。单位：万元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7C08850-FA11-47AC-B8BD-49354E01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96150"/>
            <a:ext cx="1352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rPr>
              <a:t>股票敞口保留了，生活费也到账了，但债务增加，净资产减少。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F7F3D57-94E0-4C7C-B89B-1B28B035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6290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为解释资金守恒，忽略两天交收期间价差、交易费用和微量利息；实际交易必须通过转出检查。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9724F6B-A4A1-40B8-A07A-0F22A182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9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857250" y="2257425"/>
          <a:ext xmlns:a="http://schemas.openxmlformats.org/drawingml/2006/main" cx="13525500" cy="3238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869180"/>
                <a:gridCol w="2164080"/>
                <a:gridCol w="2164080"/>
                <a:gridCol w="2164080"/>
                <a:gridCol w="2164080"/>
              </a:tblGrid>
              <a:tr h="533400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操作状态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普通现金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信用股票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本息负债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合并净资产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</a:tr>
              <a:tr h="676275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初始配置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676275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融资买入2万元纳指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676275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划出并卖出2万元自有纳指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676275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支付一年生活费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A82BDC96-1AF0-49F3-8CBA-C595584B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81675"/>
            <a:ext cx="13525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02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现金接力的初始股票放在信用账户。因此，第二步需要将可转出的自有股票划到普通账户，到账后再卖出。融资买入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02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的持仓与自有可转担保品必须分账，不能把所有股票都当成可自由转出。</a:t>
            </a:r>
          </a:p>
        </p:txBody>
      </p:sp>
    </p:spTree>
    <p:extLst>
      <p:ext uri="{BB962C8B-B14F-4D97-AF65-F5344CB8AC3E}">
        <p14:creationId xmlns:p14="http://schemas.microsoft.com/office/powerpoint/2010/main" val="5336376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224AAD-94A3-4DFC-AA6A-2F84DE97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352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2.8%单利挂息，债务怎样累积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1AADBE3-310E-4623-8F0E-978CDD15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90650"/>
            <a:ext cx="13525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每笔借款按自己的本金与存续天数计息，不能只看当年新增借款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62D1639-080C-4A74-BAAD-FD8A8CA5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96150"/>
            <a:ext cx="1352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rPr>
              <a:t>长期挂息和2.8%是本项目采用的账户条件，不是所有券商的统一承诺。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CC88EEA-B0E2-4813-B920-815F6C60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6290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长期单利挂息及当前展期条件来自用户向国信经理确认的项目输入；真实执行以生效合同为准。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63982A7-EEA3-419E-B750-EA853DDA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9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1CD2EC8-A20D-4B5C-A34E-E8A7B864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模型的计息公式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CB9BE32-0E11-4DCB-8382-4B9CA6A5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7025"/>
            <a:ext cx="6334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新增利息＝未偿本金×2.8%×实际天数÷365。未付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利息计入总负债，影响维持率，但不加入下一期计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息本金。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340BA9B-6E18-4961-A13A-DC30E8D9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33625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一笔借款的例子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9CE2332-E8E0-48B9-9C34-775181D2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6334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借入2万元，固定2.8%单利挂息10年，该笔利息约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5,600元，总债务约25,600元。若每年继续借款，总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利息应按各笔期限分别累计。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CC257456-622D-4B57-BAA0-50957082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单利与复利的区别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28885016-B28E-4F74-ACA9-A81B7C8D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6334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利息资本化会把未付利息并入计息本金。现金接力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主模型采用单利；本研究PAL对照采用3%复利，因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此两者债务路径不同。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A24F53D8-BAD3-407F-9D88-E1AA2D57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86300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半年期与展期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D2E3584A-557B-4826-A365-288A452F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219700"/>
            <a:ext cx="6334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每笔合约半年期，模型按约定检查展期。可申请续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约不等于永久授信，券商仍可能评估信用、担保、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额度及合同条件。</a:t>
            </a:r>
          </a:p>
        </p:txBody>
      </p:sp>
    </p:spTree>
    <p:extLst>
      <p:ext uri="{BB962C8B-B14F-4D97-AF65-F5344CB8AC3E}">
        <p14:creationId xmlns:p14="http://schemas.microsoft.com/office/powerpoint/2010/main" val="12762812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FE3F35-8F0F-4568-AB82-B53F45A7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352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融资标的、担保品与保证金不能混为一谈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9E442AF-2391-4B09-8AFF-8924A02C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90650"/>
            <a:ext cx="13525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证券可以买入、可以充抵保证金，并不等于随时能借到想要的金额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D4EAE3A-68E9-4368-BEDC-71A77E4B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96150"/>
            <a:ext cx="1352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rPr>
              <a:t>融资资格决定能买什么，折算与保证金决定还能借多少。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912CD3F-8C97-4E67-9635-15242067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6290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2026-01-19起新融资最低保证金比例100%，券商可更严格；现金类证券90%是模型参数，不等于现金本身的规则。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C499381-EA7F-4E58-ACFB-44412BDC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9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857250" y="2257425"/>
          <a:ext xmlns:a="http://schemas.openxmlformats.org/drawingml/2006/main" cx="13525500" cy="3238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110865"/>
                <a:gridCol w="4733925"/>
                <a:gridCol w="5680710"/>
              </a:tblGrid>
              <a:tr h="533400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概念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本研究的处理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为什么仍需检查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</a:tr>
              <a:tr h="676275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是否为融资标的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纳指ETF及现金类证券逐只核对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不在当期名单内，就不能用融资买入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676275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是否可作担保品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必须在券商可充抵保证金范围内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普通账户的银行理财不能直接当证券担保品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676275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融资保证金比例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新融资按100%计算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仍占用保证金，可用余额必须足够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676275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担保品折算率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股票类70%，现金类证券90%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影响可借额度，不能因维持率较高就忽略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C3ED0009-A8B4-48C5-8525-BABCE7D1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81675"/>
            <a:ext cx="13525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02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513100、159501、159696为研究拟用产品，历史回测并未使用这些产品的人民币成交价。集中度在本研究中不作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02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主要限制展开，但具体资格、折算和集中度仍可能随账户与时间变化。</a:t>
            </a:r>
          </a:p>
        </p:txBody>
      </p:sp>
    </p:spTree>
    <p:extLst>
      <p:ext uri="{BB962C8B-B14F-4D97-AF65-F5344CB8AC3E}">
        <p14:creationId xmlns:p14="http://schemas.microsoft.com/office/powerpoint/2010/main" val="4434016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B61AF4-ABCF-40F0-A36A-EC74D4EC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352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维持率：140%与300%分别限制什么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ACAB387-5BBF-4411-ADBC-C13E8916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90650"/>
            <a:ext cx="13525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维持担保比例＝信用账户资产市值÷（融资本金＋应计利息及费用）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118B18E-D341-485A-BFD2-5231ECBE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96150"/>
            <a:ext cx="1352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rPr>
              <a:t>300%是担保品转出的门槛之一，不能视为所有新增融资的统一法定门槛。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345B0E4-F5A6-4805-91CA-D6D32059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6290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最低维持担保要求由券商按合同约定；本页采用纯融资、无融券和无其他担保物的简化公式。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023E4F8-2AFC-45A2-879D-00E939D9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9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857250" y="2257425"/>
          <a:ext xmlns:a="http://schemas.openxmlformats.org/drawingml/2006/main" cx="13525500" cy="3238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46120"/>
                <a:gridCol w="5139690"/>
                <a:gridCol w="5139690"/>
              </a:tblGrid>
              <a:tr h="533400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比例或要求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本研究采用方式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</a:tr>
              <a:tr h="676275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150% / 140% / 130%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用户提供的预警、警戒、平仓分档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不将其视为全国统一风控线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676275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140%研究停止线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低于此线记信用风险失败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比用户提供的130%平仓线更严格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676275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转出后至少300%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满足条件才能从信用账户取担保品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约束融资生活和卖股补现金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676275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保证金、自有库存、授信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新融资和担保品转出的其他条件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单看维持率不足以判断能否操作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46E7A1EB-20B9-4B6D-9291-86CC5894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81675"/>
            <a:ext cx="13525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02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信用账户里的自有担保品、融资买入证券和现金均进入分子。普通账户及尚未到账的在途资产不计入；现金类证券已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02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经补进信用账户后，也不能再当普通生活现金重复使用。</a:t>
            </a:r>
          </a:p>
        </p:txBody>
      </p:sp>
    </p:spTree>
    <p:extLst>
      <p:ext uri="{BB962C8B-B14F-4D97-AF65-F5344CB8AC3E}">
        <p14:creationId xmlns:p14="http://schemas.microsoft.com/office/powerpoint/2010/main" val="3833544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8E6B80-C56F-4667-B199-E092C762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352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障碍一：再平衡可能打破“零还款”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6AA8046-D8D7-4055-8273-97CC1A6B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90650"/>
            <a:ext cx="13525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资产分在两个账户，调仓灵活性与自由账户不同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FDEE1A5-8A3D-422C-BD0C-AEA10862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96150"/>
            <a:ext cx="1352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rPr>
              <a:t>主版本追求有条件再平衡，不承诺每年精确恢复70/30或80/20。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B3BD85C-006B-4859-AD6B-357A697C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6290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卖券偿债再融资是另一个可研究分支，不能将其记作本息零偿还。具体现金扣息顺序以券商系统与合同为准。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1E19EF6-0DD5-48A4-97CD-58685EB2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9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8988DB1-7452-4305-A876-B88076C6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先争取在普通账户调仓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FA3ECE6-915A-4327-A665-957461B6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7025"/>
            <a:ext cx="6334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普通账户仍有足够股票和现金时，可通过普通买卖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调整整体比例，避免信用账户出现触发偿债的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现金。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0CC1E33-23F7-41F4-A4B7-33560B8A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33625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卖出信用持仓会有影响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AE8767B-5FBB-4830-B22D-B6A8433D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6334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信用账户卖出关联融资证券可能优先偿债，可用现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金也可能扣付未付利息。一次卖出就可能改变“本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金和利息实际支付均为零”。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E13F417-6939-47E8-9813-9D8B58D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股票少时可以延后补仓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5372867D-2FAD-47FB-BF19-7CA5AECD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6334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下跌后恢复股票比例需要消耗现金。现金接力给买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股设置底线，避免为了精确配比，把生活储备全部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投入下跌的股票。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4A4B49C0-EB72-45C5-AAF9-2A2F18DF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86300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股票多时仍希望增加现金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C5E11ADD-31DE-4667-8BF2-6C693070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219700"/>
            <a:ext cx="6334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上涨后卖股补现金有助于恢复安全垫，但必须检查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可转担保品、300%转出线与保证金。无法全部执行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时，允许配比暂时偏离。</a:t>
            </a:r>
          </a:p>
        </p:txBody>
      </p:sp>
    </p:spTree>
    <p:extLst>
      <p:ext uri="{BB962C8B-B14F-4D97-AF65-F5344CB8AC3E}">
        <p14:creationId xmlns:p14="http://schemas.microsoft.com/office/powerpoint/2010/main" val="13502650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CF7C65-F5C1-4F18-BE2B-E7142D32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352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还款后再融资，为何不一定借得回来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238F7BD-69AC-4325-AFD3-3A7D402D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90650"/>
            <a:ext cx="13525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偿还旧债会重新暴露当前净资产所能支持的融资上限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1878AC2-ACA3-440A-A1F9-D9380232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96150"/>
            <a:ext cx="1352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rPr>
              <a:t>“只是多一点利息”成立的前提，是旧债偿还后仍能取得足额新融资。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DA5D568-4953-47C3-A278-45ADD800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6290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1,100万/1,000万为机制示意，已低于本研究停止线，不是允许策略运行到该状态；不预设固定复借额。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1CA6848-5BF7-45FC-99A5-0EB754F4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9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56313AC-D634-4582-A99E-C168AF86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一种调仓设想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F208678-DC3A-4A52-80AC-01D627B2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7025"/>
            <a:ext cx="6334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卖出信用股票，所得用于偿还本金或利息，再融资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买入等额现金产品。如果新融资足额获批，组合可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以调整，但必须重新检查保证金和标的资格。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694C3E5-FD55-4AED-B5FA-4A3E4877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33625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小额操作的代价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C0217AC-C5D7-4659-8207-4ADBA360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6334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已支付的利息若靠新融资补回，就变成新的计息本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金。这部分不再保持原先的单利挂账性质，还会增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加交易成本与执行环节。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77C19C43-7551-48B8-980F-FB098756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大额操作的限制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7167A7EA-9E70-457F-AFA2-39D355CC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6334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假设总资产1,100万元、旧债1,000万元。全额偿债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后仅剩100万元自有资产，新借款要由这100万元及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账户条件支持，不会自动恢复1,000万元额度。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F6BB2B9D-64F9-4EE9-8579-88CE64E9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86300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本研究怎样处理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AFD5393F-3654-44E9-A18E-C394013A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219700"/>
            <a:ext cx="6334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主回测不自动启用“还款再借”来修复调仓或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风险。若必须如此才能存续，应另列应急分支，记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录实际还本、付息以及新借款。</a:t>
            </a:r>
          </a:p>
        </p:txBody>
      </p:sp>
    </p:spTree>
    <p:extLst>
      <p:ext uri="{BB962C8B-B14F-4D97-AF65-F5344CB8AC3E}">
        <p14:creationId xmlns:p14="http://schemas.microsoft.com/office/powerpoint/2010/main" val="18018701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05B3DE-9415-4D51-A32A-C2E591A2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352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障碍二：没有平仓，也可能没有生活费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3C498DD-D7A4-4EB0-8378-1ED1D556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90650"/>
            <a:ext cx="13525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担保品锁在信用账户，会产生独立于资不抵债的现金流问题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198CDF7-D12A-4005-A930-9E029732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96150"/>
            <a:ext cx="1352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rPr>
              <a:t>净资产为正、维持率高于停止线，都不等于生活现金随时可用。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12D857A-7D07-457D-A72C-345BF1F1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6290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融资被拒本身不记生活失败；只有允许的资金来源不足以支付当年预算时，才记生活流动性失败。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72A3948-29D1-487D-9AD8-AD9BD46B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9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E64A034-38D8-4A92-A3E2-257322B8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假设信用维持率200%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B42F282-0628-4EEA-8C38-23BF65D5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7025"/>
            <a:ext cx="6334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信用资产仍高于本研究140%停止线。若仅看信用安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全，账户暂未失败；但200%达不到担保品转出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要求。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24C5047-1569-48FC-8349-DCF2ED32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33625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普通账户已经没有钱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DD03767-970F-4FC0-9F14-DFE11A15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6334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无法从信用账户划出自有股票，也没有普通证券可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卖。“信用买入、普通卖出”的生活费安排因而失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去另一端资产。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E82AF15C-6DE7-47CC-992B-F669080A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上涨未必马上解决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50A90653-C74B-4B8A-BA2F-51EA53A5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6334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维持率从200%回升到250%，信用状态改善，但担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保品仍不能自由转出；期间每年的生活费用不能暂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停。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C98D9C89-8516-49B8-A15C-39DB32AF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86300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退休需要两项同时成立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B197CB4E-2811-461F-8786-C2E1C44F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219700"/>
            <a:ext cx="6334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信用账户要能抵御追加担保或强制处置，普通账户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还要在支付日拿得出完整预算。两者必须分别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检查。</a:t>
            </a:r>
          </a:p>
        </p:txBody>
      </p:sp>
    </p:spTree>
    <p:extLst>
      <p:ext uri="{BB962C8B-B14F-4D97-AF65-F5344CB8AC3E}">
        <p14:creationId xmlns:p14="http://schemas.microsoft.com/office/powerpoint/2010/main" val="3974766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D2B6FA-E432-4DF1-AF0A-83978974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352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只补到最低担保，仍可能耗尽普通账户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62C7A17-67FC-4B76-8C32-83D413DA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90650"/>
            <a:ext cx="13525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用户早期80/20模拟的低谷示意，说明资产向信用账户单向流动的问题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D8C6E93-2979-4366-A010-B70EE779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96150"/>
            <a:ext cx="1352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rPr>
              <a:t>尽量少转担保品，仍无法单独解决多年无法转出时的生活来源。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F9AAD66-89EF-4576-BF23-EAA92022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6290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这是用户早期机制示例，非正式现金接力逐日账。20万按总债务近似，若仅为本金，需另计利息。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31E97D1-EE00-4A14-8956-B452C243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9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857250" y="2257425"/>
          <a:ext xmlns:a="http://schemas.openxmlformats.org/drawingml/2006/main" cx="13525500" cy="3238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192905"/>
                <a:gridCol w="4328160"/>
                <a:gridCol w="5004435"/>
              </a:tblGrid>
              <a:tr h="533400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简化状态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</a:tr>
              <a:tr h="676275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总资产 / 总债务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154%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来自用户早期总账户模拟口径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676275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信用资产 / 总债务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140%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假设只转入最低需要的担保品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676275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普通资产 / 总债务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154%－140%＝14%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留在普通账户的资产已经很少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676275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若总债务约20万元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20万×14%＝2.8万元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按每年2万元支出，只够约1.4年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544D1D8E-C56F-4242-9495-E76D70C1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81675"/>
            <a:ext cx="13525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02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2000年3月入场后，用户模拟在2009年3月附近遇到低谷。大跌期不断补担保，普通资产持续减少；随后即使市场回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02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升，信用维持率恢复到可转出水平仍需时间，生活储备可能先耗尽。</a:t>
            </a:r>
          </a:p>
        </p:txBody>
      </p:sp>
    </p:spTree>
    <p:extLst>
      <p:ext uri="{BB962C8B-B14F-4D97-AF65-F5344CB8AC3E}">
        <p14:creationId xmlns:p14="http://schemas.microsoft.com/office/powerpoint/2010/main" val="17839078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C97E23-8389-4C4B-B108-24B6E900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352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现金接力：给无法融资的年份预留预算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6348B7A-AA86-4FBA-B5A5-B324B4C1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90650"/>
            <a:ext cx="13525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融资条件允许时借款生活，受限时由普通现金继续支付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ECF7480-FD40-4CC2-9142-00C8B21C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96150"/>
            <a:ext cx="1352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rPr>
              <a:t>接受部分年份花自有现金，换取融资受限时生活费不中断的机会。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B4B23CB-2AAB-478B-807E-AD920EED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6290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主版本不主动还本付息，但并非从不卖股票、从不动用自有资产，也不能保证现金永远足够。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022E449-84C0-4DDC-B98C-A13FE2B7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9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75CA260-25D1-46F8-9FED-4CFF58CD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初始就分开两种用途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41ED7BE-B80C-4808-98C9-C4122B7B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7025"/>
            <a:ext cx="6334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信用账户持有自有纳指资产，普通账户保留多年的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现金类储备。普通储备平时不计入信用担保，保持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生活支出的可支配性。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AAC290F-7159-483F-B610-2DF3F8D7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33625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能融资时保留现金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7FD0B1A-ED38-4396-9119-13AC23CD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6334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当新融资、等额自有证券转出和结算都可完成时，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用融资安排当年生活费，尽量保留普通现金的续航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能力。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BC4B5D30-1375-49CD-9E3B-E75989AA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不能融资时现金接力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72F3485D-3104-4BD0-BFE0-7C5E857D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6334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当年不新增这笔生活借款，改用普通现金付预算。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暂停不会主动偿还旧债，下一年度仍会重新检查能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否恢复。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72B04ABF-B6B3-4DFB-BD42-31492C4F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86300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储备也承担紧急担保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02307F01-ECF1-4BB0-B792-D9D09A3C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219700"/>
            <a:ext cx="6334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信用维持率降到触发值时，按规则把部分普通现金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转换为合格现金类证券并划入信用账户。生活与救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险共享储备，不能重复使用。</a:t>
            </a:r>
          </a:p>
        </p:txBody>
      </p:sp>
    </p:spTree>
    <p:extLst>
      <p:ext uri="{BB962C8B-B14F-4D97-AF65-F5344CB8AC3E}">
        <p14:creationId xmlns:p14="http://schemas.microsoft.com/office/powerpoint/2010/main" val="17544133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FC8581-92C5-488A-A61F-780D2B89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352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70/30与80/20：初始现金相差五年开销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FCEBC00-9C48-4319-A403-6EE2C41A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90650"/>
            <a:ext cx="13525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初始100万元，每年支出固定为初始资产的2%，即2万元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B54DCA5-8CA6-426A-A3F2-D165A5FD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96150"/>
            <a:ext cx="1352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rPr>
              <a:t>现金底线只限制买股；生活支出和紧急补担保都可以使余额低于底线。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E1F63CE-8C74-4AA6-8489-804F9D69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6290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15年和10年是按固定预算换算的初始储备，不是保证的最低余额，也未自动覆盖通胀或大额临时开销。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9A93878-2FFF-476E-8FC2-0C9A284B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9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857250" y="2257425"/>
          <a:ext xmlns:a="http://schemas.openxmlformats.org/drawingml/2006/main" cx="13525500" cy="3238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139690"/>
                <a:gridCol w="4192905"/>
                <a:gridCol w="4192905"/>
              </a:tblGrid>
              <a:tr h="533400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初始安排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70/30现金接力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80/20现金接力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</a:tr>
              <a:tr h="676275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信用账户自有纳指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70万元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80万元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676275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普通账户现金类资产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30万元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20万元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676275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初始现金折合年开销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15年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10年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676275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再平衡买股的现金底线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30万元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20万元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E01DF1BA-72E7-4D07-8AD4-CD902431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81675"/>
            <a:ext cx="13525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02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目标股票比例以“普通＋信用＋在途”的总资产为分母，尚未扣除负债。债务累积后，股票市值÷净资产可能高于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02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70%或80%，因此目标股现比例不能直接当成净资产风险倍数。</a:t>
            </a:r>
          </a:p>
        </p:txBody>
      </p:sp>
    </p:spTree>
    <p:extLst>
      <p:ext uri="{BB962C8B-B14F-4D97-AF65-F5344CB8AC3E}">
        <p14:creationId xmlns:p14="http://schemas.microsoft.com/office/powerpoint/2010/main" val="213749486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8B585E-9A7D-4DF3-884B-1CA05F87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352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年度操作：先支付生活费，再按规则调仓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BFA632A-B59C-4E27-BC70-34D6CDBB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90650"/>
            <a:ext cx="13525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年初发起，包含证券划转与资金可取的交收时间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257BFDB-3E08-47AD-B8FC-D8ACA99A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96150"/>
            <a:ext cx="1352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rPr>
              <a:t>在生活费支付日，普通现金不足以付满全年预算，才记生活流动性失败。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5CA4D1F-B771-4AA9-9E0E-3EC3C8DC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6290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同一证券的自有份额识别和划转应以券商实际系统为准；不能直接假定融资买入证券可自由转出。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B11F892-0646-49F4-BE29-3D432CF5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9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857250" y="2257425"/>
          <a:ext xmlns:a="http://schemas.openxmlformats.org/drawingml/2006/main" cx="135255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34590"/>
                <a:gridCol w="5004435"/>
                <a:gridCol w="6086475"/>
              </a:tblGrid>
              <a:tr h="533400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顺序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需要检查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执行与记录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</a:tr>
              <a:tr h="914400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 年度快照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普通现金、信用自有/融资持仓、本息、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到期合约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确认预算及实际可用资产，不把待赎回或在途额度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当现金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914400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 融资生活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操作后≥300%，保证金足够，自有可转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证券≥预算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信用融资买入，等额自有证券划出、到账卖出，再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支取生活费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914400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 现金接力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上述任一条件不满足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当年改用普通现金，不主动还旧债，记录暂停原因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914400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 年度再平衡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生活费支付后计算当前股现比例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只执行允许的买卖，保留未完成差额，次年重新检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78358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732326-292B-4188-91E9-8E9D956D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352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再平衡：现金底线只约束买股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9AC367A-3D08-432B-A403-A55159F0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90650"/>
            <a:ext cx="13525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目标股票市值＝当前总资产×目标股票比例，允许在约束下暂时偏离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F3FD9FF-0EAE-42F0-BBA0-F0785077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96150"/>
            <a:ext cx="1352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rPr>
              <a:t>普通现金低于底仓时停止买股，但仍允许通过卖股补充现金。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1B76D81-A8F5-414A-BED1-9A380440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6290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示例以总资产配比计算；卖股需可转自有库存、转出后300%维持率和保证金条件同时满足。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3268B3C-CCD5-48F4-A76A-B08BD091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9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857250" y="2257425"/>
          <a:ext xmlns:a="http://schemas.openxmlformats.org/drawingml/2006/main" cx="135255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110865"/>
                <a:gridCol w="5004435"/>
                <a:gridCol w="5410200"/>
              </a:tblGrid>
              <a:tr h="533400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组合状态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执行规则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70/30简例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</a:tr>
              <a:tr h="914400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股票低于目标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只用普通现金超过初始30万元的部分补仓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现金31万、股票69万，可买1万，留下30万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914400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超额现金不足以完全补</a:t>
                      </a:r>
                    </a:p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仓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买入不超过目标缺口，也不超过超额现金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现金30.5万、股票69万，目标缺口0.65万，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只买0.5万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914400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股票高于目标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合法划出自有股票，在普通账户卖出补现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金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现金20万、股票80万，可转条件满足时，卖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10万恢复70/30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914400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转出条件不满足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能调多少调多少，剩余偏离保留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不为恢复精确比例，自动卖信用持仓偿债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121027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5D27EA-54E5-474A-88EF-119A5CDE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352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补担保：160%触发，目标200%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57C7AC2-CB4C-4094-8833-0F5BED81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90650"/>
            <a:ext cx="13525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年度操作之外持续检查信用风险，不能等到下一次再平衡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2239898-C24A-4637-AD10-FDC533F0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96150"/>
            <a:ext cx="1352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rPr>
              <a:t>补担保提升信用安全，也会减少普通生活现金，两者不能同时占用同一笔钱。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1C7DAC5-4B3C-44BB-8EED-71A04E21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6290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纯股票信用账户从160%跌到140%，静态仅需再跌12.5%；实际有现金类担保品时须按股票占比分开计算。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09AF9BE-154E-4FA4-8D54-219417A8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9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76D1922-24EC-47E2-99D6-8DD9CAFD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触发与金额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28BE3D2-0727-4E9A-A25F-7429F855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7025"/>
            <a:ext cx="6334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信用维持率低于160%时，所需补入市值＝max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（0，2×信用债务－信用资产）。例如信用资产150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万、债务100万，补到200%需要50万担保品。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CBC5C5B-B867-46D9-B312-C27BAA7E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33625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优先补现金类证券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8DBEE11-B98F-4E7C-8EAF-C2084895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6334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普通现金买入合格低波动证券，划入信用账户。股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票和债务不变，通过增加担保资产提高维持率，符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合不主动还本付息的目标。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0C24BF31-896F-4446-903E-42B87F32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可用现金与到账约束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4AFE23FA-743E-431D-95D5-511DDD0E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6334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允许用到普通账户现金底线以内，甚至用尽储备；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不足则只补实际金额。在途担保品还未进入信用分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子，到账前继续下跌仍有风险。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4E94786D-66E0-4117-B3E7-286E901B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86300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释放与失败处理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D3EA663C-9957-47B8-868C-A26BDFFF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219700"/>
            <a:ext cx="6334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以后年度满足转出条件时，优先释放可转现金类担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保品。低于140%记研究失败，不能靠后续反弹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改写；必须偿债才能存续的情况另列。</a:t>
            </a:r>
          </a:p>
        </p:txBody>
      </p:sp>
    </p:spTree>
    <p:extLst>
      <p:ext uri="{BB962C8B-B14F-4D97-AF65-F5344CB8AC3E}">
        <p14:creationId xmlns:p14="http://schemas.microsoft.com/office/powerpoint/2010/main" val="83993746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74E806-3CAF-4B86-A640-979F5930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352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统一回测口径与结果含义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D02B336-6E34-45F9-B7AF-1D10564C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90650"/>
            <a:ext cx="13525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把相同生活预算放入不同市场起点，逐日检查双账户运行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92414CE-BE55-4CFA-A897-8250997C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96150"/>
            <a:ext cx="1352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rPr>
              <a:t>以下数值均为这一套参数下的历史模拟，不混用旧版策略结果。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D533AD2-50BF-40A8-AF1D-46A8E582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6290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万元按初始100万归一化；尚未模拟人民币汇率、境内ETF真实成交、溢折价、跟踪误差、税费和授信变化。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B351B2E-BCB3-44BA-B520-A0EBF04F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9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857250" y="2257425"/>
          <a:ext xmlns:a="http://schemas.openxmlformats.org/drawingml/2006/main" cx="13525500" cy="3571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787140"/>
                <a:gridCol w="9738360"/>
              </a:tblGrid>
              <a:tr h="533400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本轮统一设定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</a:tr>
              <a:tr h="607695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历史代理与数据截止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QQQ复权日线，1999-03-10至2026-09-08，共6,917条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607695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压力起点 / 上涨起点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2000-03-27（当月最高收盘）/ 2009-03-09（当年最低收盘）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607695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初始资产与支出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初始100万元，每年固定2万元，首末年也支取全年预算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607695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利息与现金收益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融资年化2.8%单利挂息，现金类资产年化2%平滑增长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607695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账户与风险规则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含保证金、自有库存、交收，300%转出，160%/200%补担保，140%停止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B20DA3FD-46FF-41EF-80C1-1F169BAD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13525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02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2000起点覆盖27个日历年，共支出54万元；2009起点覆盖18个日历年，共支出36万元。期末净资产均已扣全部本息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02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负债与已支付生活费，不把融资进账或跨账户划转当成收益。</a:t>
            </a:r>
          </a:p>
        </p:txBody>
      </p:sp>
    </p:spTree>
    <p:extLst>
      <p:ext uri="{BB962C8B-B14F-4D97-AF65-F5344CB8AC3E}">
        <p14:creationId xmlns:p14="http://schemas.microsoft.com/office/powerpoint/2010/main" val="24832759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881AC8-1A05-48DF-9F44-B43A4987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352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2000高点入场：两种配比均完成回测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CD0B23F-DD8B-42D2-8366-F47DDBAB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90650"/>
            <a:ext cx="13525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2000-03-27至2026-09-08，初始100万元，累计生活费54万元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8D6279D-9FFD-481C-9A88-77643767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96150"/>
            <a:ext cx="1352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rPr>
              <a:t>两种配置在这条历史路径上都通过了本息零偿还检验，安全余量并不相同。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B2F7DED-9724-4835-8D6F-D3187B88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6290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“完成”指预算支付完整且未触发模型停止线；不代表实盘不会发生追保、强制付息或合同变化。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9C9F3E5-8CA2-4F4D-B224-1A0A4C3A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9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857250" y="2257425"/>
          <a:ext xmlns:a="http://schemas.openxmlformats.org/drawingml/2006/main" cx="13525500" cy="3571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139690"/>
                <a:gridCol w="4192905"/>
                <a:gridCol w="4192905"/>
              </a:tblGrid>
              <a:tr h="533400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70/30现金接力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80/20现金接力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</a:tr>
              <a:tr h="607695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期末净资产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372.39万元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409.73万元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607695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期末本息负债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47.43万元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50.20万元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607695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最低信用维持率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166.72%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155.33%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607695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净资产最大回撤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71.58%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81.16%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607695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实际归还本金 / 支付利息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均为0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均为0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A03ABE0D-ACE6-42E0-B87C-F0F59822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13525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02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80/20期末净资产多37.34万元，约高10.03%，但净资产回撤更深，最低信用维持率也更接近研究停止线。仅凭期末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02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金额，无法判断哪种配置更适合靠它支付生活费。</a:t>
            </a:r>
          </a:p>
        </p:txBody>
      </p:sp>
    </p:spTree>
    <p:extLst>
      <p:ext uri="{BB962C8B-B14F-4D97-AF65-F5344CB8AC3E}">
        <p14:creationId xmlns:p14="http://schemas.microsoft.com/office/powerpoint/2010/main" val="154411769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77092B-BCF4-43D1-9172-CFCEB96F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352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现金接力实际承担了8—9年的生活费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29443C2-8E26-4CD4-99E9-3DF5169F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90650"/>
            <a:ext cx="13525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同一条2000年高点路径，最低普通现金的差异比期末财富更值得关注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6BC0481-FEB0-4A61-8259-D8E89A81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96150"/>
            <a:ext cx="1352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rPr>
              <a:t>70/30在不利路径上留下了更长的普通账户现金续航。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AEF84EB-6C17-4CC1-923F-98C51733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6290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图为年末普通现金，精确最低余额取逐日账，年末曲线未必触及该最低值；现金支付年数为累计数。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9B0F6CC-7619-420A-B886-860456CE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9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804C8D0-40F9-41B3-A896-E666AE20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431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70/30：9年现金接力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9EE2E27-1B59-47EB-ADF3-C7EE881E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52725"/>
            <a:ext cx="4572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27次年度支出中，18年融资、9年用普通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现金。最低普通现金18.50万元，约9.25年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固定开销。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9BFC550-8D41-4061-912C-75D5ED29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3382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80/20：8年现金接力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7A53AB4-EF42-4C24-9113-847955E0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43400"/>
            <a:ext cx="4572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19年融资、8年用普通现金。最低普通现金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7.13万元，约3.57年固定开销。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550EDB35-F605-45A2-895A-C44CBDD7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更多融资年份不等于更安全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FA484D33-59E8-44DD-9077-97455402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34075"/>
            <a:ext cx="4572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80/20少用一年普通现金，但初始储备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更少。深跌与补担保之后，生活费缓冲明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显薄于70/30。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809625" y="2381250"/>
          <a:ext xmlns:a="http://schemas.openxmlformats.org/drawingml/2006/main" cx="847725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dbb42ecc10435b"/>
          </a:graphicData>
        </a:graphic>
      </p:graphicFrame>
    </p:spTree>
    <p:extLst>
      <p:ext uri="{BB962C8B-B14F-4D97-AF65-F5344CB8AC3E}">
        <p14:creationId xmlns:p14="http://schemas.microsoft.com/office/powerpoint/2010/main" val="164459248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23DC35-2C33-403C-ACBF-47EB9512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352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现金接力、直接卖资产与理想化PAL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FA8BBA2-72C7-47A2-A30B-FE59ECA7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90650"/>
            <a:ext cx="13525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2000高点起投，至2026-09-08；初始100万元，累计生活费54万元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9C92FB9-FB32-4D75-8AE5-D546422C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96150"/>
            <a:ext cx="1352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rPr>
              <a:t>该路径中现金接力优于卖资产基准，但没有超过理想化PAL。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AB325CD-E763-455C-9138-E35DEC5C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6290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PAL无大陆300%划转限制，假设140%研究停止线；现金接力2.8%单利。条形数值为已扣债务的净资产，单位万元。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70E7B1D-5D30-4531-8381-1BCE6DC0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9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DB2CE71-FB9C-468A-853C-29746614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431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现金接力高于卖资产基准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9BFF033-8530-49DE-858F-CC04E91E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52725"/>
            <a:ext cx="4572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同配置比较，现金接力的期末净资产均较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高。70/30和80/20的期末负债分别为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47.43万、50.20万。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8A7644B-D6FC-4123-9976-0B3E5560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3382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理想化PAL的期末值更高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7D9F387-3A24-415C-897D-F7994B8A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43400"/>
            <a:ext cx="4572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PAL按80/20、3%复利模拟，全组合可质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押，直接借现金。期末净资产572.76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万元，负债83.07万元。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B6B6F170-35CF-4D4E-88AD-D54E9B20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不能解释成单一融资收益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4A88B05C-2C96-495C-9C62-1BC94666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34075"/>
            <a:ext cx="4572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利率、计息、现金底线、再平衡和制度约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束不同。给卖资产方案加同现金底线，也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应单独对照。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809625" y="2381250"/>
          <a:ext xmlns:a="http://schemas.openxmlformats.org/drawingml/2006/main" cx="847725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83d99d81e4b4820"/>
          </a:graphicData>
        </a:graphic>
      </p:graphicFrame>
    </p:spTree>
    <p:extLst>
      <p:ext uri="{BB962C8B-B14F-4D97-AF65-F5344CB8AC3E}">
        <p14:creationId xmlns:p14="http://schemas.microsoft.com/office/powerpoint/2010/main" val="80947407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2A4004-0354-44BC-B7B3-B18A69D3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352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2009低点入场：80/20更受益于上涨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AB6B5EA-B8FE-4800-8A44-35140207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90650"/>
            <a:ext cx="13525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2009-03-09至2026-09-08；初始100万元，累计生活费36万元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8212708-3FBC-45F2-A023-E8887B94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96150"/>
            <a:ext cx="1352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rPr>
              <a:t>在同一起止日期内比较配置，才能看清收益差异，不能跨起点直接排名。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FBEDF8A-124A-430E-A1C2-F687D4D6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6290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图为年末净资产，含2026-09-08期末记录；不同起点持有期不同，不能与2000起点期末金额直接比较。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BC27D44-3208-47B3-9A1A-1AE8EE65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9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0ECC30B-4D22-4BCF-9D60-E6B0DF3E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431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期末净资产差466.89万元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CB1820C-D915-4497-B3E9-D62B681B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52725"/>
            <a:ext cx="4572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70/30为1,395.94万元，80/20为1,862.83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万元，80/20高33.45%。两者18次生活支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出均可融资完成。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741A9B2-D50C-44DB-89A5-0C0459D4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3382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上涨期现金底仓未受挤压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2F12174-E09F-478A-BF41-3A951297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43400"/>
            <a:ext cx="4572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最低普通现金折合15年与10年开销，均未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低于初始储备。上涨路径给两种配置都留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下了充足现金。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4EBF5DA2-19B5-405E-A530-B0CDA302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配比取舍随路径显现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9724DC20-3B30-40B0-A1B4-090914BD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34075"/>
            <a:ext cx="4572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较高股票比例能保留更多上涨敞口，但会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减少初始现金。不利起点下的生存能力，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不能被低点起投的高收益替代。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809625" y="2381250"/>
          <a:ext xmlns:a="http://schemas.openxmlformats.org/drawingml/2006/main" cx="847725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6cd4827ed2453d"/>
          </a:graphicData>
        </a:graphic>
      </p:graphicFrame>
    </p:spTree>
    <p:extLst>
      <p:ext uri="{BB962C8B-B14F-4D97-AF65-F5344CB8AC3E}">
        <p14:creationId xmlns:p14="http://schemas.microsoft.com/office/powerpoint/2010/main" val="71331224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799C6B-E9A1-412E-B820-AA042E71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352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滚动窗口与90/10的反例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4D314D7-3A91-4B65-AEC1-29407E40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90650"/>
            <a:ext cx="13525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每季度首个可用日入场，检验完整10年及20年历史窗口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20EF80E-C9EB-466D-A71F-EF5162D1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96150"/>
            <a:ext cx="1352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rPr>
              <a:t>股票配比提高，历史上涨收益更高的同时，也可能先耗尽生活费。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15CCA06-A313-449A-BAAD-BAC6F369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6290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窗口高度重叠，非独立随机样本；历史0次失败不能解释为未来失败概率0。失败案例不作完整期末收益排名。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8047CAA-50A4-4044-81DA-293724DC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9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857250" y="2257425"/>
          <a:ext xmlns:a="http://schemas.openxmlformats.org/drawingml/2006/main" cx="13525500" cy="3571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75610"/>
                <a:gridCol w="3381375"/>
                <a:gridCol w="3381375"/>
                <a:gridCol w="3787140"/>
              </a:tblGrid>
              <a:tr h="533400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现金接力配置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10年完成 / 总数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20年完成 / 总数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2000高点完整路径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</a:tr>
              <a:tr h="607695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50/50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 / 71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 / 31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607695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60/40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 / 71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 / 31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607695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70/30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 / 71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 / 31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607695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80/20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 / 71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 / 31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607695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90/10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 / 71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 / 31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2011年生活费不足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18C688DA-271A-4AFC-94EF-AC596412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13525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02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90/10只有相当于5年固定开销的初始现金。它在2009低点起投时收益很高，但2000起点中途生活现金不足；这种失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02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败不能用后来的上涨或停止日资产金额掩盖。</a:t>
            </a:r>
          </a:p>
        </p:txBody>
      </p:sp>
    </p:spTree>
    <p:extLst>
      <p:ext uri="{BB962C8B-B14F-4D97-AF65-F5344CB8AC3E}">
        <p14:creationId xmlns:p14="http://schemas.microsoft.com/office/powerpoint/2010/main" val="183433444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E5EADB-47B8-4E4C-AF76-3761C663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352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压力测试：现金接力仍会失败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B2E851A-2923-418A-90D9-C46D491F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90650"/>
            <a:ext cx="13525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各行是独立施加的情景，不能将完成历史路径解释成终身保证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D144349-9D6F-4D6C-B012-61A0C96B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96150"/>
            <a:ext cx="1352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rPr>
              <a:t>信用安全与生活储备都存在边界，必要偿债须作为改变零还款目标的应急分支。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B28C77B-7BA2-4758-8B43-0655F9CC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6290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后两项为人工反例，非历史事实或预测；20%冲击自2008-11-20起永久作用于后续价格。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118D1C4-C61E-42DE-AC34-318D541E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9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857250" y="2257425"/>
          <a:ext xmlns:a="http://schemas.openxmlformats.org/drawingml/2006/main" cx="13525500" cy="3238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410200"/>
                <a:gridCol w="4057650"/>
                <a:gridCol w="4057650"/>
              </a:tblGrid>
              <a:tr h="533400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压力情景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70/30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832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80/20</a:t>
                      </a:r>
                    </a:p>
                  </a:txBody>
                  <a:tcPr marL="91440" marR="91440" marT="45720" marB="45720" anchor="ctr">
                    <a:solidFill>
                      <a:srgbClr val="E8EEEB"/>
                    </a:solidFill>
                  </a:tcPr>
                </a:tc>
              </a:tr>
              <a:tr h="676275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融资利率提高至6%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完成，期末331.06万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完成，期末360.48万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676275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生活费每年增长2%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完成，期末300.19万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完成，期末300.37万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676275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2008低位额外下跌20%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2008-11-20触及140%线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2008-11-20触及140%线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676275"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股票价格连续40年不变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2030年生活费不足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wrap="square" lIns="161925" tIns="95250" rIns="161925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84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2023年生活费不足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BE9A387E-1C55-460A-BF01-BDB5D19E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81675"/>
            <a:ext cx="13525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02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160%触发补担保保留了更多普通现金，但对突发下跌的缓冲有限。额外下跌20%的人工场景在历史熊市上进一步压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02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低担保资产，即使普通账户还有现金，也不能假定它已到账救险。</a:t>
            </a:r>
          </a:p>
        </p:txBody>
      </p:sp>
    </p:spTree>
    <p:extLst>
      <p:ext uri="{BB962C8B-B14F-4D97-AF65-F5344CB8AC3E}">
        <p14:creationId xmlns:p14="http://schemas.microsoft.com/office/powerpoint/2010/main" val="202621375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DCFB3C-1AA5-4B3A-9B6C-0F576640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352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实施时，哪些条件仍需落到账户上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DFE2A4A-1691-4DAA-91AF-E2CD3236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90650"/>
            <a:ext cx="13525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回测研究了资金机制，真实交易还受产品、合同与结算条件约束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5EBD428-CD17-48B3-8CAE-B396D3E9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96150"/>
            <a:ext cx="1352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rPr>
              <a:t>可以把策略写成明确规则，但仍需账户条款支持，不能把模拟结果当作授信承诺。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9F1A46F-1C0E-4CAB-BF4A-83FAF082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6290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本页聚焦影响零还款目标和生活现金流的实际条件，不改变当前主回测参数。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EAA6EE8-9AB2-4D4E-8F02-D7830F57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9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4CB7C6F-5827-4F2A-B049-03517977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合同与授信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04D454A-507A-4128-BA7E-62F6C252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7025"/>
            <a:ext cx="6334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确认当前利率、长期单利挂息、自动扣息、合约到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期及展期审核。维持率达标不等于券商永久承诺续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贷或不调整额度。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34904AF-35D0-48A2-AE56-E017DF9A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33625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证券与可转库存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D5AE2AD-ED8A-4FF4-BF89-E6B2B09A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6334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逐只核对融资标的、担保资格、折算率和集中度。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区分自有与融资关联持仓，特别确认同券自有份额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能否按模型识别并划转。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5DD0E57C-9375-42C3-ACFE-DF4C6C97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现金产品与交易时间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66D88CB3-7522-4E1D-A095-5790C4FD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6334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现金类证券的分红或卖出可能在信用账户形成现金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并触发扣息。银行理财需赎回、转换及划转，不能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把预计到账当实际可用。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E8E5B591-2C3F-4025-85F4-ECD7FD33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86300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人民币购买力与额外支出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72B1B06B-22CB-401E-8CC3-2B317AF9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219700"/>
            <a:ext cx="6334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固定每年2万元会受通胀侵蚀。境内纳指ETF还存在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汇率、溢折价、交易时段及跟踪差异，医疗等大额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支出也不在基础预算中。</a:t>
            </a:r>
          </a:p>
        </p:txBody>
      </p:sp>
    </p:spTree>
    <p:extLst>
      <p:ext uri="{BB962C8B-B14F-4D97-AF65-F5344CB8AC3E}">
        <p14:creationId xmlns:p14="http://schemas.microsoft.com/office/powerpoint/2010/main" val="94507196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120312-E06B-4B6A-9C23-20377D9E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352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D"/>
                </a:solidFill>
                <a:latin typeface="Microsoft YaHei"/>
                <a:ea typeface="Microsoft YaHei"/>
                <a:cs typeface="Microsoft YaHei"/>
              </a:rPr>
              <a:t>现金接力的阶段性结论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CF36A95-CEA3-456E-9156-80E161DE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90650"/>
            <a:ext cx="13525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为融资受限的年份保留生活费来源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EB598DE-F819-4D9C-92D5-A3C84D1A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96150"/>
            <a:ext cx="1352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rPr>
              <a:t>判断能否退休，既要看长期资产，也要看下一年的生活费从哪里来。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D8D45BC-AB41-4D69-AC1D-34952632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6290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历史研究，非终身退休保障。主版本：初始资产2%固定年支出、2.8%单利、300%转出、160%/200%补担保、140%停止线。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B2BA4AF-DED6-4317-8F3D-103BC6AE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9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B787D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5394FE7-897C-4CFB-A92B-A314BEAE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325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rPr>
              <a:t>研究结果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92CD047-2E10-491F-B453-192FEBBE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381250"/>
            <a:ext cx="11096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70/30与80/20在本次2000高点路径中都完成了生活支出，本金和利息实际偿还均为零；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7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两者在对应10年、20年历史滚动窗口中也均完成。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78BCF0D-30FB-4CE7-A6FC-8352C487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325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rPr>
              <a:t>配置取舍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9A1E1A3-D0EE-4713-A170-A38491C1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38575"/>
            <a:ext cx="11096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70/30的最低普通现金约9.25年开销，80/20约3.57年。80/20在上涨起点的财富积累更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7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强，较多现金则为不利路径提供更长的生活缓冲。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4F69FC75-47D0-4115-A9F3-0E68FA8A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959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325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57C79"/>
                </a:solidFill>
                <a:latin typeface="Microsoft YaHei"/>
                <a:ea typeface="Microsoft YaHei"/>
                <a:cs typeface="Microsoft YaHei"/>
              </a:rPr>
              <a:t>策略边界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3F794868-6980-49FD-A2F3-8C22AE2D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295900"/>
            <a:ext cx="11096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大陆模拟接受部分年份动用普通现金，并进行有条件再平衡。它保留长期持仓和不主动偿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7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4B53"/>
                </a:solidFill>
                <a:latin typeface="Microsoft YaHei"/>
                <a:ea typeface="Microsoft YaHei"/>
                <a:cs typeface="Microsoft YaHei"/>
              </a:rPr>
              <a:t>债目标，但无法覆盖所有市场冲击与未来合同变化。</a:t>
            </a:r>
          </a:p>
        </p:txBody>
      </p:sp>
    </p:spTree>
    <p:extLst>
      <p:ext uri="{BB962C8B-B14F-4D97-AF65-F5344CB8AC3E}">
        <p14:creationId xmlns:p14="http://schemas.microsoft.com/office/powerpoint/2010/main" val="6199592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2026-09-14T13:07:25.2590000Z</dcterms:created>
  <dcterms:modified xsi:type="dcterms:W3CDTF">2026-09-14T13:07:25.2590000Z</dcterms:modified>
</coreProperties>
</file>